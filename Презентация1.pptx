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3B3"/>
    <a:srgbClr val="FF6D6D"/>
    <a:srgbClr val="FF5353"/>
    <a:srgbClr val="9608C8"/>
    <a:srgbClr val="FB5F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9" autoAdjust="0"/>
    <p:restoredTop sz="85100" autoAdjust="0"/>
  </p:normalViewPr>
  <p:slideViewPr>
    <p:cSldViewPr snapToGrid="0">
      <p:cViewPr varScale="1">
        <p:scale>
          <a:sx n="97" d="100"/>
          <a:sy n="97" d="100"/>
        </p:scale>
        <p:origin x="2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5:54:06.63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8958 951 24315,'18'72'0,"-7"1"0,-7 2 0,-7 2 0,-6 1 0,-8 2 0,-6 0 0,-8 2 0,-6 0 0,-6 2 0,-8 0 0,-6 1 0,-7 0 0,-6 0 0,-6 0 0,-7 1 0,-5 0 0,-7-1 0,-5 0 0,-6-1 0,-5 0 0,-6-1 0,-5-1 0,-5-1 0,-4-1 0,-5-1 0,-4-2 0,-5-1 0,-3-2 0,-4-1 0,-3-3 0,-4-1 0,-2-2 0,-3-3 0,-3-2 0,-1-2 0,-3-2 0,-1-3 0,-2-3 0,0-3 0,-2-2 0,0-3 0,-1-3 0,1-3 0,0-3 0,0-3 0,1-3 0,1-3 0,1-4 0,3-3 0,0-3 0,3-3 0,3-4 0,2-3 0,3-4 0,3-3 0,3-3 0,4-4 0,4-3 0,3-3 0,5-3 0,5-4 0,4-3 0,5-3 0,6-4 0,4-2 0,6-4 0,5-3 0,7-2 0,5-4 0,6-2 0,6-3 0,7-3 0,6-2 0,6-3 0,7-2 0,7-2 0,6-3 0,7-1 0,8-3 0,5-2 0,8-1 0,7-2 0,7-2 0,6-1 0,8-1 0,6-2 0,8-1 0,6 0 0,7-2 0,6 0 0,7 0 0,7-1 0,6-1 0,6 1 0,7-1 0,5 1 0,7-1 0,5 2 0,6-1 0,6 1 0,4 1 0,6 1 0,5 1 0,4 1 0,5 2 0,4 0 0,5 2 0,3 2 0,4 2 0,3 1 0,4 2 0,2 3 0,3 1 0,3 3 0,1 2 0,3 3 0,1 2 0,2 2 0,1 4 0,0 2 0,1 3 0,1 3 0,-1 3 0,1 3 0,-2 3 0,0 3 0,-1 3 0,-1 4 0,-2 3 0,-2 3 0,-2 4 0,-3 2 0,-2 5 0,-2 2 0,-4 4 0,-4 3 0,-3 4 0,-3 3 0,-5 3 0,-4 3 0,-5 4 0,-4 3 0,-5 4 0,-5 2 0,-6 4 0,-5 2 0,-5 4 0,-6 2 0,-6 4 0,-7 2 0,-5 3 0,-6 3 0,-7 2 0,-7 3 0,-6 2 0,-7 2 0,-6 3 0,-7 2 0,-7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5:54:23.92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11788 2382 24329,'-5'93'0,"-8"1"0,-10-1 0,-9-1 0,-8 0 0,-10 0 0,-8-2 0,-9 0 0,-9-2 0,-9-1 0,-7-1 0,-9-2 0,-8-2 0,-8-1 0,-8-2 0,-8-2 0,-6-3 0,-8-2 0,-7-2 0,-6-2 0,-7-4 0,-6-1 0,-6-4 0,-5-3 0,-6-2 0,-5-4 0,-5-2 0,-4-4 0,-4-4 0,-4-2 0,-4-4 0,-2-3 0,-4-4 0,-2-4 0,-2-3 0,-1-3 0,-3-4 0,0-4 0,-1-4 0,0-3 0,-1-4 0,1-3 0,1-4 0,1-4 0,1-4 0,2-3 0,2-3 0,2-4 0,4-4 0,2-3 0,4-4 0,4-2 0,4-4 0,4-4 0,5-2 0,5-4 0,6-2 0,5-3 0,6-4 0,6-1 0,7-4 0,6-2 0,7-2 0,8-2 0,6-3 0,9-2 0,7-2 0,7-1 0,9-2 0,9-2 0,7-1 0,10-1 0,7-2 0,10 0 0,8-2 0,10 0 0,8 0 0,9-1 0,10-1 0,8 1 0,10-1 0,8 1 0,10 0 0,9 0 0,8 1 0,10 1 0,8 0 0,10 2 0,7 1 0,10 1 0,7 1 0,9 2 0,9 1 0,7 3 0,7 1 0,9 2 0,6 3 0,8 1 0,7 3 0,6 3 0,7 2 0,6 3 0,6 3 0,5 2 0,6 4 0,5 2 0,5 4 0,4 3 0,4 3 0,4 4 0,4 3 0,2 3 0,4 4 0,2 3 0,2 4 0,2 4 0,1 3 0,1 4 0,1 3 0,1 5 0,-1 2 0,0 5 0,-1 3 0,0 4 0,-3 3 0,-1 4 0,-2 4 0,-2 3 0,-4 4 0,-2 3 0,-4 3 0,-4 4 0,-4 3 0,-4 3 0,-5 4 0,-5 2 0,-6 4 0,-5 2 0,-6 3 0,-6 3 0,-7 2 0,-6 3 0,-7 3 0,-8 1 0,-6 3 0,-8 2 0,-8 1 0,-8 3 0,-8 1 0,-9 2 0,-7 1 0,-9 1 0,-9 1 0,-9 2 0,-8 0 0,-10 1 0,-8 1 0,-9 0 0,-10 0 0,-8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BE0503-281F-4035-949A-0ABFD561AF35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812574-09FD-4842-9431-C003EACE9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330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 моей Научной исследовательской работы — «</a:t>
            </a:r>
            <a:r>
              <a:rPr lang="ru-RU" b="1" dirty="0"/>
              <a:t>Разработка модели DAG-реестра с ограниченным ростом истории и устойчивой финализацией транзакций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4585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Развитие Интернета вещей и систем умного города требует реестров, способных работать с большим числом лёгких устройств и постоянно растущим потоком данных. Классический блокчейн сильно ограничен в пропускной способности. Более перспективным подходом являются DAG-реестры: они позволяют добавлять транзакции параллельно, повышая скорость и масштабируемость. Однако вместе с этим возникают новые проблемы — рост графа, отсутствие естественного линейного порядка и уязвимость к конфликтующим транзакциям. (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30 секунд)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752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Цель – на основе сравнительного анализа существующих DAG-архитектур разработать модель реестра с ограниченным ростом истории и устойчивой финализацией транзакций в условиях атакующей нагрузки. (20 секунд)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8570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Для сравнения использовались важные критерии для инфраструктуры умного города</a:t>
            </a:r>
            <a:r>
              <a:rPr lang="en-US"/>
              <a:t>:</a:t>
            </a:r>
            <a:r>
              <a:rPr lang="ru-RU"/>
              <a:t> скорость подтверждения, требования к памяти, справедливость, масштабируемость, способ финализации и устойчивость к конфликтным атакам. По совокупности этих показателей наиболее подходящей основой стала IOTA 2.0. Среди рассмотренных решений только она сочетает высокую масштабируемость с быстрым подтверждением и справедливым выбором транзакций.</a:t>
            </a:r>
          </a:p>
          <a:p>
            <a:r>
              <a:rPr lang="ru-RU"/>
              <a:t>При этом у IOTA сохраняются две проблемы: вероятностная финализация и постоянный рост истории. Поэтому в разрабатываемой модели механизм консенсуса дополнен детерминированной BFT-финализацией, что позволит безопасно оптимизировать память реестра.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20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Сама Разработанная модель разделена на эпохи со своим личным генезис блоком, а каждая эпоха — на слоты, то есть короткие фиксированные интервалы времени. В течение слота узлы создают и распространяют транзакции, формируя направленный ациклический граф.</a:t>
            </a:r>
          </a:p>
          <a:p>
            <a:r>
              <a:rPr lang="ru-RU" dirty="0"/>
              <a:t>Подтверждающие узлы, или валидаторы, выпускают специальные блоки и передают свой вес выбранным транзакциям и их прошлому подграфу. Транзакция финализируется, когда получает не менее двух третей суммарного веса валидаторов.</a:t>
            </a:r>
          </a:p>
          <a:p>
            <a:r>
              <a:rPr lang="ru-RU" dirty="0"/>
              <a:t>После завершения эпохи состояния счетов объединяются в новый </a:t>
            </a:r>
            <a:r>
              <a:rPr lang="ru-RU" dirty="0" err="1"/>
              <a:t>genesis</a:t>
            </a:r>
            <a:r>
              <a:rPr lang="ru-RU" dirty="0"/>
              <a:t>-блок. Финализированную историю предыдущей эпохи можно удалить, благодаря чему ограничивается рост памяти реестра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6772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Одной из наиболее характерных угроз для DAG-реестров является создание конфликтующих операций, пытающихся потратить одни и те же средства. В результате вокруг них формируются конкурирующие ветви графа. После выбора предпочтительной версии проигравшая часть может быть отброшена вместе с честными операциями, которые успели на неё сослаться.</a:t>
            </a:r>
          </a:p>
          <a:p>
            <a:r>
              <a:rPr lang="ru-RU" dirty="0"/>
              <a:t>В разработанной модели конфликт разрешается с помощью BFT-голосования подтверждающих узлов. При выборе учитываются временной слот, накопленный вес поддержки и </a:t>
            </a:r>
            <a:r>
              <a:rPr lang="ru-RU" dirty="0" err="1"/>
              <a:t>хеш</a:t>
            </a:r>
            <a:r>
              <a:rPr lang="ru-RU" dirty="0"/>
              <a:t> операции. Это позволяет избежать грубого удаления всей проигравшей ветви и сократить потери честных транзакций.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5020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оценки эффективности защиты использовались две метрики: доля отклонённых честных транзакций и доля принятых конфликтующих операций. Эксперименты проводились при трёх уровнях нагрузки, когда конфликты составляли от одной шестой до половины общего потока в слоте.</a:t>
            </a:r>
          </a:p>
          <a:p>
            <a:r>
              <a:rPr lang="ru-RU" dirty="0"/>
              <a:t>С увеличением интенсивности атаки потери честных транзакций выросли примерно с 10 до 25 процентов. При этом показатель остался заметно ниже 50 процентов, наблюдаемых в исходной модели IOTA. Доля ошибочно принятых конфликтов во всех сценариях оставалась небольшой и снизилась с 5 до 3 процентов.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1229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устойчивости к конфликтам, оценивалось, насколько ротация </a:t>
            </a:r>
            <a:r>
              <a:rPr lang="ru-RU" dirty="0" err="1"/>
              <a:t>genesis</a:t>
            </a:r>
            <a:r>
              <a:rPr lang="ru-RU" dirty="0"/>
              <a:t>-состояния ограничивает рост памяти. На графике сравниваются стандартный DAG без удаления истории, разработанная модель со сворачиванием и </a:t>
            </a:r>
            <a:r>
              <a:rPr lang="ru-RU" dirty="0" err="1"/>
              <a:t>PoS</a:t>
            </a:r>
            <a:r>
              <a:rPr lang="ru-RU" dirty="0"/>
              <a:t>-блокчейн. Стандартный DAG растёт быстрее всего, поскольку сохраняет весь граф, а блокчейн также постоянно накапливает блоки и транзакции. В разработанной модели после каждой эпохи история заменяется компактным </a:t>
            </a:r>
            <a:r>
              <a:rPr lang="ru-RU" dirty="0" err="1"/>
              <a:t>genesis</a:t>
            </a:r>
            <a:r>
              <a:rPr lang="ru-RU" dirty="0"/>
              <a:t>-состоянием, поэтому занятая память периодически сокращается и остаётся ограниченной.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487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результате работы на основе сравнительного анализа была выбрана IOTA-подобная архитектура, разработана модель DAG-реестра с BFT-финализацией и ротацией </a:t>
            </a:r>
            <a:r>
              <a:rPr lang="ru-RU" dirty="0" err="1"/>
              <a:t>genesis</a:t>
            </a:r>
            <a:r>
              <a:rPr lang="ru-RU" dirty="0"/>
              <a:t>-состояния, а также реализован программный симулятор для ее экспериментальной оценки.</a:t>
            </a:r>
          </a:p>
          <a:p>
            <a:r>
              <a:rPr lang="ru-RU" dirty="0"/>
              <a:t>Экспериментальная оценка показала, что предложенный механизм позволяет сохранять до десяти раз больше честных транзакций по сравнению с исходным подходом. Сворачивание финализированной истории также ограничивает потребление памяти: вместо постоянного накопления DAG узел хранит текущее состояние и компактные </a:t>
            </a:r>
            <a:r>
              <a:rPr lang="ru-RU" dirty="0" err="1"/>
              <a:t>genesis</a:t>
            </a:r>
            <a:r>
              <a:rPr lang="ru-RU" dirty="0"/>
              <a:t>-блоки эпох.</a:t>
            </a:r>
            <a:br>
              <a:rPr lang="ru-RU" dirty="0"/>
            </a:br>
            <a:r>
              <a:rPr lang="ru-RU" dirty="0"/>
              <a:t>Таким образом, цель работы достигнута: устойчивость DAG-реестра к конфликтной нагрузке повышена за счет BFT-финализации и выбора наиболее значимой ветви, а рост истории ограничен за счет периодического сворачивания состояния.</a:t>
            </a:r>
          </a:p>
          <a:p>
            <a:r>
              <a:rPr lang="ru-RU" dirty="0"/>
              <a:t>Доклад окончен.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68179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4232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7D76DF-C813-61ED-1297-7E3E7A2043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51C45E0-FA8C-063D-0C18-7259E6AE6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8BE20F-B0A0-2740-149B-97D5062C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403B19-1CCF-280F-3187-3D953DE6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3B9ECB-5EC1-F4A8-BDD9-31D86496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085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7CC923-3A65-5E8C-F89E-C728336F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D77477-7495-C903-2BFA-F8F35CBFB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174FB-1A5F-5438-FFDD-95FD35772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F3D1EC-A6B7-E35F-153B-85E620E53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37D97E-A382-F868-EA8F-B89F9CD38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3972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B97129-D9BE-A168-71C8-1C6015AA0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7BDB7F5-7FD7-DB2D-741A-96B1FCB96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D815B0-8F0C-B40C-2B3D-197D49639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D6C741-4A20-29B1-FB7A-CE30DEB7D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2185D-9800-F83A-D9B6-301EA2A3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03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5EA51-7D3A-B0E9-FFB9-21A0BA90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42C6BA-963D-8D5F-1F53-3BD6B9EFA5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7D1FD4-0F09-01EF-5A55-4334689495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7AB2E70-D4A3-AC27-4C1D-8EA5023E3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7D66EE-FC1B-9AC2-9CB2-073825CF1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BBE6B4-4433-9D48-5CAA-EFCF31E5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268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354F5B-A1E2-0446-4875-89112C98E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C41774-E389-B4C8-3440-7ADDB8C5EA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2EBF6E-D6CB-7002-3762-6D5438337D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140B58-5B33-49D0-3067-8BAE774A05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B8BCE0-5E4B-04AC-B86B-6B6DA8F6D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23B1E4A-D866-D96B-EBEF-E3D25E0B3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99E02B3-E61E-D2CF-AD8B-AB00A557B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19030E2-1BAB-46C9-C46A-FBF53EE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6471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7BAE6-6B52-020F-B637-44C09214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99C2F18-7C39-ABA2-ED41-D68859E58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5698202-E7A7-E0B7-9CAC-B74ECDD3D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DC53EB-13AE-4DEA-365A-FDCAB8C44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683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67FD3A-4CA2-4F6C-BE28-460472533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A58AED8-7A02-DC26-A4A1-589211F6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94CDF4-1C85-DFAE-F841-C7336A88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896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F992EC-91F1-7DFE-C8B7-2C21003E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E50E69-BFB8-A98D-3B68-59372EE39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ECE4655-0F9F-C6C4-30C1-2F3037948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681654-60A8-5C68-0817-CBF90EEB4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785581-8F13-C543-BBAB-857337233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8A2745-D25C-2F42-BEF2-35B853B2B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88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DC0FC3-0E78-CF21-969C-F944F55B9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6151A78-B63B-8886-D484-0022A22D9C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470F5C-F758-8764-0FD2-0098AAC8C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6A0DFD-55F5-075B-1D3F-A6B873C27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84DDC3-1252-C558-F9C1-660367AB3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E2E8B97-8E00-F0B8-B56A-B974E9B0D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135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C9C9D-9CA3-49F5-3470-3AFEDD99E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B513B8-807F-61C4-192E-9BB66098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4DE710-9EEC-A8B6-0173-2631B5370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E616F9-90D4-B35F-9F66-BD5ECE4A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7DAFE3-390B-A650-DFA8-D363ECD7E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63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CF736E8-7F6C-2C8F-8777-70D90D390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31AF1ED-1998-1295-07AA-E87DD7F57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7D4EF9-1626-50D2-C96C-74317C69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4C134A-BB80-D574-642A-2552D497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5F8F8F-F20B-1EDC-23C7-D54F87FD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990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BDA5B-4CCB-8C28-167E-6A2459444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47A36C-2E51-CCEA-3946-3ECF7AF9D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B87C3F-9C2F-3F44-3DAA-0D515E73F0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55041D-AFA0-4167-A823-8015A2C8AEB3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D3CB0B-C538-54A7-B17B-DF42FAAB1D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E6886E-55B4-D01B-B097-38EE660D1A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967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76A2051-C97F-4676-9336-67FE7CC87606}"/>
              </a:ext>
            </a:extLst>
          </p:cNvPr>
          <p:cNvSpPr txBox="1">
            <a:spLocks noGrp="1"/>
          </p:cNvSpPr>
          <p:nvPr/>
        </p:nvSpPr>
        <p:spPr>
          <a:xfrm>
            <a:off x="1580028" y="1452418"/>
            <a:ext cx="8521700" cy="135517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ru-RU" b="1" dirty="0"/>
              <a:t>Разработка модели DAG-реестра с ограниченным ростом истории и устойчивой финализацией транзакций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14F96B7A-F9EC-42BE-9F09-831368903C3D}"/>
              </a:ext>
            </a:extLst>
          </p:cNvPr>
          <p:cNvSpPr txBox="1">
            <a:spLocks/>
          </p:cNvSpPr>
          <p:nvPr/>
        </p:nvSpPr>
        <p:spPr>
          <a:xfrm>
            <a:off x="2233128" y="3045168"/>
            <a:ext cx="8203480" cy="20526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студент группы 5151001/20202				Р.А. Гартвиг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Профессор ВШК ИКНК, 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д.т.н., профессор					М.О. Калинин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200" dirty="0">
              <a:cs typeface="Times New Roman" panose="02020603050405020304" pitchFamily="18" charset="0"/>
            </a:endParaRP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1C26A98E-AA32-4CB7-A520-A4602A4266FA}"/>
              </a:ext>
            </a:extLst>
          </p:cNvPr>
          <p:cNvSpPr txBox="1"/>
          <p:nvPr/>
        </p:nvSpPr>
        <p:spPr>
          <a:xfrm>
            <a:off x="4766009" y="5335379"/>
            <a:ext cx="2516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Санкт-Петербург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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792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4DCE589-FA01-4E26-202C-695A35FFE6AE}"/>
              </a:ext>
            </a:extLst>
          </p:cNvPr>
          <p:cNvSpPr txBox="1"/>
          <p:nvPr/>
        </p:nvSpPr>
        <p:spPr>
          <a:xfrm>
            <a:off x="1520482" y="369611"/>
            <a:ext cx="6097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C865165-8DF6-BE17-45D2-E8D60C8CA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836" y="1186692"/>
            <a:ext cx="5056338" cy="18339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8CE028F-2B7F-5FEB-7EC5-FE4CBC2E153D}"/>
              </a:ext>
            </a:extLst>
          </p:cNvPr>
          <p:cNvSpPr txBox="1"/>
          <p:nvPr/>
        </p:nvSpPr>
        <p:spPr>
          <a:xfrm>
            <a:off x="5716701" y="1451686"/>
            <a:ext cx="6097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Технология Блокчейн ограничена пропускной способностью транзакций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Справедливость (порядок транзакций) определяют майнеры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47E354-6B3F-79C7-F0FD-4E0FE57AE36D}"/>
              </a:ext>
            </a:extLst>
          </p:cNvPr>
          <p:cNvSpPr txBox="1"/>
          <p:nvPr/>
        </p:nvSpPr>
        <p:spPr>
          <a:xfrm>
            <a:off x="2246389" y="267117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Блокчейн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ED29E0-57E7-1EEC-6F46-780EE8239EC0}"/>
              </a:ext>
            </a:extLst>
          </p:cNvPr>
          <p:cNvSpPr txBox="1"/>
          <p:nvPr/>
        </p:nvSpPr>
        <p:spPr>
          <a:xfrm>
            <a:off x="6176282" y="3480338"/>
            <a:ext cx="609731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Неконтролируемый рост реестра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Отсутствия линейного порядка транзакций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Уязвимость к атакам конфликтующими транзакциями, при которой теряется часть честных транзакций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5D7EAC2-7F1F-5FDF-2DE3-9FC2994AD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36" y="3376067"/>
            <a:ext cx="5733884" cy="17354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D62F59E-7A22-8AAF-45F2-7A5FA47EE1E9}"/>
              </a:ext>
            </a:extLst>
          </p:cNvPr>
          <p:cNvSpPr txBox="1"/>
          <p:nvPr/>
        </p:nvSpPr>
        <p:spPr>
          <a:xfrm>
            <a:off x="2848183" y="4742222"/>
            <a:ext cx="6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978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EFCE257-B9E4-3CF2-8767-9BDA3ECCC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926" y="0"/>
            <a:ext cx="4722525" cy="572700"/>
          </a:xfrm>
        </p:spPr>
        <p:txBody>
          <a:bodyPr>
            <a:noAutofit/>
          </a:bodyPr>
          <a:lstStyle/>
          <a:p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Цель и задачи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FF14B2-8DCE-584A-288A-EE71186B14F2}"/>
              </a:ext>
            </a:extLst>
          </p:cNvPr>
          <p:cNvSpPr txBox="1"/>
          <p:nvPr/>
        </p:nvSpPr>
        <p:spPr>
          <a:xfrm>
            <a:off x="459452" y="572700"/>
            <a:ext cx="90540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Цель – на основе сравнительного анализа существующих DAG-архитектур разработать модель реестра с ограниченным ростом истории и устойчивой финализацией транзакций в условиях конфликтной нагрузки.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2575D-CB07-2176-5B20-7D57A00CF153}"/>
              </a:ext>
            </a:extLst>
          </p:cNvPr>
          <p:cNvSpPr txBox="1"/>
          <p:nvPr/>
        </p:nvSpPr>
        <p:spPr>
          <a:xfrm>
            <a:off x="459452" y="1704232"/>
            <a:ext cx="1139599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Задачи:</a:t>
            </a:r>
          </a:p>
          <a:p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Определить требования к DAG-реестру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масштабируемость, требование к памяти, финализации и устойчивости к конфликтующим транзакциям.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Провести сравнительный анализ существующих DAG-архитектур и выбрать наиболее подходящую основу для дальнейшей разработки и также определить ограничения выбранной архитектуры.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модель DAG-реестра с ротацией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genesis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-состояния, BFT-финализацией и механизмом разрешения конфликтов.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эмулятор и провести экспериментальную оценку разработанной модели при различной интенсивности конфликтной нагрузки.</a:t>
            </a:r>
          </a:p>
        </p:txBody>
      </p:sp>
    </p:spTree>
    <p:extLst>
      <p:ext uri="{BB962C8B-B14F-4D97-AF65-F5344CB8AC3E}">
        <p14:creationId xmlns:p14="http://schemas.microsoft.com/office/powerpoint/2010/main" val="100068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389BF2-75A2-E52A-317F-9F28CA74EBB2}"/>
              </a:ext>
            </a:extLst>
          </p:cNvPr>
          <p:cNvSpPr txBox="1"/>
          <p:nvPr/>
        </p:nvSpPr>
        <p:spPr>
          <a:xfrm>
            <a:off x="2368550" y="209034"/>
            <a:ext cx="6934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00000"/>
                </a:solidFill>
                <a:latin typeface="Arial"/>
                <a:cs typeface="Arial"/>
              </a:rPr>
              <a:t>Сравнительный анализ механизмов консенсуса</a:t>
            </a:r>
            <a:endParaRPr lang="ru-RU" sz="2000" dirty="0"/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4305F5D6-62E6-CDC7-3843-9FD06979C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11661"/>
              </p:ext>
            </p:extLst>
          </p:nvPr>
        </p:nvGraphicFramePr>
        <p:xfrm>
          <a:off x="336550" y="1141380"/>
          <a:ext cx="11252199" cy="37798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1325">
                  <a:extLst>
                    <a:ext uri="{9D8B030D-6E8A-4147-A177-3AD203B41FA5}">
                      <a16:colId xmlns:a16="http://schemas.microsoft.com/office/drawing/2014/main" val="742047641"/>
                    </a:ext>
                  </a:extLst>
                </a:gridCol>
                <a:gridCol w="1329109">
                  <a:extLst>
                    <a:ext uri="{9D8B030D-6E8A-4147-A177-3AD203B41FA5}">
                      <a16:colId xmlns:a16="http://schemas.microsoft.com/office/drawing/2014/main" val="3473091614"/>
                    </a:ext>
                  </a:extLst>
                </a:gridCol>
                <a:gridCol w="1301276">
                  <a:extLst>
                    <a:ext uri="{9D8B030D-6E8A-4147-A177-3AD203B41FA5}">
                      <a16:colId xmlns:a16="http://schemas.microsoft.com/office/drawing/2014/main" val="1264935123"/>
                    </a:ext>
                  </a:extLst>
                </a:gridCol>
                <a:gridCol w="1551788">
                  <a:extLst>
                    <a:ext uri="{9D8B030D-6E8A-4147-A177-3AD203B41FA5}">
                      <a16:colId xmlns:a16="http://schemas.microsoft.com/office/drawing/2014/main" val="626882272"/>
                    </a:ext>
                  </a:extLst>
                </a:gridCol>
                <a:gridCol w="1537870">
                  <a:extLst>
                    <a:ext uri="{9D8B030D-6E8A-4147-A177-3AD203B41FA5}">
                      <a16:colId xmlns:a16="http://schemas.microsoft.com/office/drawing/2014/main" val="602310863"/>
                    </a:ext>
                  </a:extLst>
                </a:gridCol>
                <a:gridCol w="1349788">
                  <a:extLst>
                    <a:ext uri="{9D8B030D-6E8A-4147-A177-3AD203B41FA5}">
                      <a16:colId xmlns:a16="http://schemas.microsoft.com/office/drawing/2014/main" val="967050573"/>
                    </a:ext>
                  </a:extLst>
                </a:gridCol>
                <a:gridCol w="1211008">
                  <a:extLst>
                    <a:ext uri="{9D8B030D-6E8A-4147-A177-3AD203B41FA5}">
                      <a16:colId xmlns:a16="http://schemas.microsoft.com/office/drawing/2014/main" val="2026323202"/>
                    </a:ext>
                  </a:extLst>
                </a:gridCol>
                <a:gridCol w="1510035">
                  <a:extLst>
                    <a:ext uri="{9D8B030D-6E8A-4147-A177-3AD203B41FA5}">
                      <a16:colId xmlns:a16="http://schemas.microsoft.com/office/drawing/2014/main" val="928738771"/>
                    </a:ext>
                  </a:extLst>
                </a:gridCol>
              </a:tblGrid>
              <a:tr h="13224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Модель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Скорость подтверждения транзакции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Требование к памяти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Справедливость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Масштабируемость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Консенсус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Можно ли безопасно удалять историю?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Защита от атаки спам конфликтами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37036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Высокие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  <a:b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</a:b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(вероятностное)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04812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Hashgraph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BFT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59429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BlockDAG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Средние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Среднее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484264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Avalanche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Средние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Среднее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Нет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746072"/>
                  </a:ext>
                </a:extLst>
              </a:tr>
            </a:tbl>
          </a:graphicData>
        </a:graphic>
      </p:graphicFrame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811BB6-11B4-BFAF-1C70-794AF70393EA}"/>
              </a:ext>
            </a:extLst>
          </p:cNvPr>
          <p:cNvSpPr/>
          <p:nvPr/>
        </p:nvSpPr>
        <p:spPr>
          <a:xfrm>
            <a:off x="222250" y="2444750"/>
            <a:ext cx="11645900" cy="62230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6CB109-17F6-E6CE-2902-FC250514C58C}"/>
              </a:ext>
            </a:extLst>
          </p:cNvPr>
          <p:cNvSpPr txBox="1"/>
          <p:nvPr/>
        </p:nvSpPr>
        <p:spPr>
          <a:xfrm>
            <a:off x="444500" y="5116455"/>
            <a:ext cx="6096000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dirty="0"/>
              <a:t>Итог анализа</a:t>
            </a:r>
            <a:r>
              <a:rPr lang="en-US" dirty="0"/>
              <a:t>: </a:t>
            </a:r>
            <a:r>
              <a:rPr lang="ru-RU" dirty="0"/>
              <a:t>за основу модели был выбран IOTA-подобный DAG, но финализация транзакций будет выполняться на основе гибридного механизма BFT-голосования, что позволит безопасно сворачивать историю и выполнять ротацию </a:t>
            </a:r>
            <a:r>
              <a:rPr lang="ru-RU" dirty="0" err="1"/>
              <a:t>genesis</a:t>
            </a:r>
            <a:r>
              <a:rPr lang="ru-RU" dirty="0"/>
              <a:t>-состояния.</a:t>
            </a:r>
          </a:p>
        </p:txBody>
      </p:sp>
    </p:spTree>
    <p:extLst>
      <p:ext uri="{BB962C8B-B14F-4D97-AF65-F5344CB8AC3E}">
        <p14:creationId xmlns:p14="http://schemas.microsoft.com/office/powerpoint/2010/main" val="1624106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1FBFF-8785-7DC4-A7B8-9E07990A0EAC}"/>
              </a:ext>
            </a:extLst>
          </p:cNvPr>
          <p:cNvSpPr txBox="1"/>
          <p:nvPr/>
        </p:nvSpPr>
        <p:spPr>
          <a:xfrm>
            <a:off x="1005504" y="423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Разработанная модель </a:t>
            </a:r>
            <a:r>
              <a:rPr lang="en-US" b="1" dirty="0">
                <a:solidFill>
                  <a:srgbClr val="000000"/>
                </a:solidFill>
                <a:latin typeface="Arial"/>
                <a:cs typeface="Arial"/>
              </a:rPr>
              <a:t>DAG </a:t>
            </a:r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реестра</a:t>
            </a:r>
            <a:endParaRPr lang="ru-RU" sz="1800" dirty="0"/>
          </a:p>
        </p:txBody>
      </p:sp>
      <p:sp>
        <p:nvSpPr>
          <p:cNvPr id="6" name="Стрелка: вправо 5">
            <a:extLst>
              <a:ext uri="{FF2B5EF4-FFF2-40B4-BE49-F238E27FC236}">
                <a16:creationId xmlns:a16="http://schemas.microsoft.com/office/drawing/2014/main" id="{CAEA0E8B-0ADB-0CFA-B8AC-CAB48529786A}"/>
              </a:ext>
            </a:extLst>
          </p:cNvPr>
          <p:cNvSpPr/>
          <p:nvPr/>
        </p:nvSpPr>
        <p:spPr>
          <a:xfrm>
            <a:off x="5076279" y="2755900"/>
            <a:ext cx="821159" cy="463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FECB5DDB-31AE-95B2-7F41-F1E47C89BA6B}"/>
              </a:ext>
            </a:extLst>
          </p:cNvPr>
          <p:cNvGrpSpPr/>
          <p:nvPr/>
        </p:nvGrpSpPr>
        <p:grpSpPr>
          <a:xfrm>
            <a:off x="6036180" y="1873851"/>
            <a:ext cx="6095999" cy="2396000"/>
            <a:chOff x="5928888" y="1238050"/>
            <a:chExt cx="5959979" cy="2286200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36414F29-3917-43AE-AF60-D8FF78F76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28888" y="1238050"/>
              <a:ext cx="5959979" cy="228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54FC9D57-D437-A12E-08EE-4B4D58537087}"/>
                </a:ext>
              </a:extLst>
            </p:cNvPr>
            <p:cNvSpPr/>
            <p:nvPr/>
          </p:nvSpPr>
          <p:spPr>
            <a:xfrm>
              <a:off x="6170188" y="2895500"/>
              <a:ext cx="1016000" cy="51435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Генезис блок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AC5CABE8-D41A-BD92-D966-5A9F23C9802B}"/>
                </a:ext>
              </a:extLst>
            </p:cNvPr>
            <p:cNvSpPr/>
            <p:nvPr/>
          </p:nvSpPr>
          <p:spPr>
            <a:xfrm>
              <a:off x="7598938" y="2895500"/>
              <a:ext cx="1016000" cy="51435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Генезис блок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55FB7326-2D6D-5041-BEA9-13D8055A73CD}"/>
                </a:ext>
              </a:extLst>
            </p:cNvPr>
            <p:cNvSpPr/>
            <p:nvPr/>
          </p:nvSpPr>
          <p:spPr>
            <a:xfrm>
              <a:off x="9091188" y="2895500"/>
              <a:ext cx="1016000" cy="51435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Генезис блок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F582DD22-49ED-1E53-6091-763D4F578FCA}"/>
                </a:ext>
              </a:extLst>
            </p:cNvPr>
            <p:cNvSpPr/>
            <p:nvPr/>
          </p:nvSpPr>
          <p:spPr>
            <a:xfrm>
              <a:off x="10602992" y="2895500"/>
              <a:ext cx="1016000" cy="51435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Генезис блок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CE325A74-0FFD-4D81-9DC3-273CF8CC7F58}"/>
                </a:ext>
              </a:extLst>
            </p:cNvPr>
            <p:cNvSpPr/>
            <p:nvPr/>
          </p:nvSpPr>
          <p:spPr>
            <a:xfrm>
              <a:off x="61130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0</a:t>
              </a:r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9DF0981E-59E4-992C-9D9F-9852C37FB97D}"/>
                </a:ext>
              </a:extLst>
            </p:cNvPr>
            <p:cNvSpPr/>
            <p:nvPr/>
          </p:nvSpPr>
          <p:spPr>
            <a:xfrm>
              <a:off x="75989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1</a:t>
              </a: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6E84FC4F-D5E2-E56D-4F88-D79680140395}"/>
                </a:ext>
              </a:extLst>
            </p:cNvPr>
            <p:cNvSpPr/>
            <p:nvPr/>
          </p:nvSpPr>
          <p:spPr>
            <a:xfrm>
              <a:off x="90213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2</a:t>
              </a:r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BCF04D95-6E08-7B0F-39BB-C2A45CFE417E}"/>
                </a:ext>
              </a:extLst>
            </p:cNvPr>
            <p:cNvSpPr/>
            <p:nvPr/>
          </p:nvSpPr>
          <p:spPr>
            <a:xfrm>
              <a:off x="10568067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3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9B1A34F-5370-BA60-845A-D4ED4D596590}"/>
              </a:ext>
            </a:extLst>
          </p:cNvPr>
          <p:cNvSpPr txBox="1"/>
          <p:nvPr/>
        </p:nvSpPr>
        <p:spPr>
          <a:xfrm>
            <a:off x="59821" y="4424033"/>
            <a:ext cx="57059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1800" dirty="0"/>
              <a:t>Т</a:t>
            </a:r>
            <a:r>
              <a:rPr lang="ru-RU" dirty="0"/>
              <a:t>ранзакция считается подтвержденной, когда на нее сослалось </a:t>
            </a:r>
            <a:r>
              <a:rPr lang="en-US" dirty="0"/>
              <a:t>&gt;</a:t>
            </a:r>
            <a:r>
              <a:rPr lang="ru-RU" dirty="0"/>
              <a:t> </a:t>
            </a:r>
            <a:r>
              <a:rPr lang="en-US" dirty="0"/>
              <a:t>2/3 </a:t>
            </a:r>
            <a:r>
              <a:rPr lang="ru-RU" dirty="0"/>
              <a:t>блоков подтверждения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После финализации транзакция может  быть либо в статусе </a:t>
            </a:r>
            <a:r>
              <a:rPr lang="en-US" dirty="0"/>
              <a:t>“</a:t>
            </a:r>
            <a:r>
              <a:rPr lang="ru-RU" dirty="0"/>
              <a:t>принята</a:t>
            </a:r>
            <a:r>
              <a:rPr lang="en-US" dirty="0"/>
              <a:t>” </a:t>
            </a:r>
            <a:r>
              <a:rPr lang="ru-RU" dirty="0"/>
              <a:t>либо в статусе </a:t>
            </a:r>
            <a:r>
              <a:rPr lang="en-US" dirty="0"/>
              <a:t>“</a:t>
            </a:r>
            <a:r>
              <a:rPr lang="ru-RU" dirty="0"/>
              <a:t>отвергнута</a:t>
            </a:r>
            <a:r>
              <a:rPr lang="en-US" dirty="0"/>
              <a:t>”</a:t>
            </a:r>
            <a:endParaRPr lang="ru-RU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В случае, если в одному слоту две транзакции используют один и тот же выход, конфликт решается через </a:t>
            </a:r>
            <a:r>
              <a:rPr lang="en-US" dirty="0"/>
              <a:t>BFT</a:t>
            </a:r>
            <a:endParaRPr lang="ru-RU" dirty="0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972741A1-72D2-5C00-814C-ADB3B878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821" y="1874025"/>
            <a:ext cx="4822716" cy="239582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245F06-23C8-C9FD-9B01-C169D3EE3370}"/>
              </a:ext>
            </a:extLst>
          </p:cNvPr>
          <p:cNvSpPr txBox="1"/>
          <p:nvPr/>
        </p:nvSpPr>
        <p:spPr>
          <a:xfrm>
            <a:off x="5930541" y="4440342"/>
            <a:ext cx="5705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en-US" dirty="0"/>
              <a:t>DAG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привязанный к старому генезис блоку, можно удалить после перехода на новый генезис блок </a:t>
            </a:r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1A8306DD-D2F0-689D-8960-E48B5E0C04A9}"/>
              </a:ext>
            </a:extLst>
          </p:cNvPr>
          <p:cNvSpPr/>
          <p:nvPr/>
        </p:nvSpPr>
        <p:spPr>
          <a:xfrm>
            <a:off x="4192894" y="1012064"/>
            <a:ext cx="2514838" cy="823336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Сворачивания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DAG 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068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E694DD5-D89D-2D26-EBC4-9B51870D3D7E}"/>
              </a:ext>
            </a:extLst>
          </p:cNvPr>
          <p:cNvSpPr txBox="1"/>
          <p:nvPr/>
        </p:nvSpPr>
        <p:spPr>
          <a:xfrm>
            <a:off x="3215740" y="2107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Атака конфликтующими транзакциями</a:t>
            </a:r>
            <a:endParaRPr lang="ru-RU" sz="1800" dirty="0"/>
          </a:p>
        </p:txBody>
      </p:sp>
      <p:grpSp>
        <p:nvGrpSpPr>
          <p:cNvPr id="124" name="Группа 123">
            <a:extLst>
              <a:ext uri="{FF2B5EF4-FFF2-40B4-BE49-F238E27FC236}">
                <a16:creationId xmlns:a16="http://schemas.microsoft.com/office/drawing/2014/main" id="{E901F0AD-6FDB-1B6E-E94B-564D943CA61E}"/>
              </a:ext>
            </a:extLst>
          </p:cNvPr>
          <p:cNvGrpSpPr/>
          <p:nvPr/>
        </p:nvGrpSpPr>
        <p:grpSpPr>
          <a:xfrm>
            <a:off x="1900457" y="994194"/>
            <a:ext cx="7763123" cy="4014229"/>
            <a:chOff x="167393" y="939433"/>
            <a:chExt cx="7267492" cy="4238045"/>
          </a:xfrm>
        </p:grpSpPr>
        <p:grpSp>
          <p:nvGrpSpPr>
            <p:cNvPr id="114" name="Группа 113">
              <a:extLst>
                <a:ext uri="{FF2B5EF4-FFF2-40B4-BE49-F238E27FC236}">
                  <a16:creationId xmlns:a16="http://schemas.microsoft.com/office/drawing/2014/main" id="{63B02B32-9510-3415-52A3-BA1F212A5DD9}"/>
                </a:ext>
              </a:extLst>
            </p:cNvPr>
            <p:cNvGrpSpPr/>
            <p:nvPr/>
          </p:nvGrpSpPr>
          <p:grpSpPr>
            <a:xfrm>
              <a:off x="167393" y="939433"/>
              <a:ext cx="7267492" cy="4238045"/>
              <a:chOff x="143539" y="1082557"/>
              <a:chExt cx="7267492" cy="4238045"/>
            </a:xfrm>
          </p:grpSpPr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F273CDF1-FD9F-DBA7-98F2-965842C04473}"/>
                  </a:ext>
                </a:extLst>
              </p:cNvPr>
              <p:cNvSpPr/>
              <p:nvPr/>
            </p:nvSpPr>
            <p:spPr>
              <a:xfrm>
                <a:off x="143539" y="1082557"/>
                <a:ext cx="7267492" cy="423804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112" name="Группа 111">
                <a:extLst>
                  <a:ext uri="{FF2B5EF4-FFF2-40B4-BE49-F238E27FC236}">
                    <a16:creationId xmlns:a16="http://schemas.microsoft.com/office/drawing/2014/main" id="{3678F2F0-F7C5-8B9D-25BB-85657A0A72DE}"/>
                  </a:ext>
                </a:extLst>
              </p:cNvPr>
              <p:cNvGrpSpPr/>
              <p:nvPr/>
            </p:nvGrpSpPr>
            <p:grpSpPr>
              <a:xfrm>
                <a:off x="553564" y="1277983"/>
                <a:ext cx="6096000" cy="3389432"/>
                <a:chOff x="720541" y="1635792"/>
                <a:chExt cx="8292977" cy="4298088"/>
              </a:xfrm>
            </p:grpSpPr>
            <p:sp>
              <p:nvSpPr>
                <p:cNvPr id="5" name="Овал 4">
                  <a:extLst>
                    <a:ext uri="{FF2B5EF4-FFF2-40B4-BE49-F238E27FC236}">
                      <a16:creationId xmlns:a16="http://schemas.microsoft.com/office/drawing/2014/main" id="{C5B5BDFA-34F0-91D6-3E76-CB3C977B7F04}"/>
                    </a:ext>
                  </a:extLst>
                </p:cNvPr>
                <p:cNvSpPr/>
                <p:nvPr/>
              </p:nvSpPr>
              <p:spPr>
                <a:xfrm>
                  <a:off x="720541" y="4156866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6" name="Овал 5">
                  <a:extLst>
                    <a:ext uri="{FF2B5EF4-FFF2-40B4-BE49-F238E27FC236}">
                      <a16:creationId xmlns:a16="http://schemas.microsoft.com/office/drawing/2014/main" id="{C6956DF5-D8A9-0D2F-FE58-FAB916EC3812}"/>
                    </a:ext>
                  </a:extLst>
                </p:cNvPr>
                <p:cNvSpPr/>
                <p:nvPr/>
              </p:nvSpPr>
              <p:spPr>
                <a:xfrm>
                  <a:off x="1633964" y="3180021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7" name="Овал 6">
                  <a:extLst>
                    <a:ext uri="{FF2B5EF4-FFF2-40B4-BE49-F238E27FC236}">
                      <a16:creationId xmlns:a16="http://schemas.microsoft.com/office/drawing/2014/main" id="{7D200310-9E0B-2379-5E00-52C91ADC0F2F}"/>
                    </a:ext>
                  </a:extLst>
                </p:cNvPr>
                <p:cNvSpPr/>
                <p:nvPr/>
              </p:nvSpPr>
              <p:spPr>
                <a:xfrm>
                  <a:off x="1787711" y="404100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" name="Овал 7">
                  <a:extLst>
                    <a:ext uri="{FF2B5EF4-FFF2-40B4-BE49-F238E27FC236}">
                      <a16:creationId xmlns:a16="http://schemas.microsoft.com/office/drawing/2014/main" id="{A0B7FF38-E428-2BDE-CA50-87E327ABE3F9}"/>
                    </a:ext>
                  </a:extLst>
                </p:cNvPr>
                <p:cNvSpPr/>
                <p:nvPr/>
              </p:nvSpPr>
              <p:spPr>
                <a:xfrm>
                  <a:off x="2598696" y="2936495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9" name="Овал 8">
                  <a:extLst>
                    <a:ext uri="{FF2B5EF4-FFF2-40B4-BE49-F238E27FC236}">
                      <a16:creationId xmlns:a16="http://schemas.microsoft.com/office/drawing/2014/main" id="{777147BA-08EA-8D92-EA0D-CF5A3563F700}"/>
                    </a:ext>
                  </a:extLst>
                </p:cNvPr>
                <p:cNvSpPr/>
                <p:nvPr/>
              </p:nvSpPr>
              <p:spPr>
                <a:xfrm>
                  <a:off x="1662636" y="5077158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" name="Овал 9">
                  <a:extLst>
                    <a:ext uri="{FF2B5EF4-FFF2-40B4-BE49-F238E27FC236}">
                      <a16:creationId xmlns:a16="http://schemas.microsoft.com/office/drawing/2014/main" id="{3DB066AA-8CCC-2CDB-D612-4235DB47AF04}"/>
                    </a:ext>
                  </a:extLst>
                </p:cNvPr>
                <p:cNvSpPr/>
                <p:nvPr/>
              </p:nvSpPr>
              <p:spPr>
                <a:xfrm>
                  <a:off x="2679702" y="377602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12" name="Прямая со стрелкой 11">
                  <a:extLst>
                    <a:ext uri="{FF2B5EF4-FFF2-40B4-BE49-F238E27FC236}">
                      <a16:creationId xmlns:a16="http://schemas.microsoft.com/office/drawing/2014/main" id="{309EA75E-B320-40BB-9A40-D087350247AB}"/>
                    </a:ext>
                  </a:extLst>
                </p:cNvPr>
                <p:cNvCxnSpPr>
                  <a:stCxn id="6" idx="2"/>
                  <a:endCxn id="5" idx="7"/>
                </p:cNvCxnSpPr>
                <p:nvPr/>
              </p:nvCxnSpPr>
              <p:spPr>
                <a:xfrm flipH="1">
                  <a:off x="1019590" y="3355200"/>
                  <a:ext cx="614374" cy="85297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Прямая со стрелкой 13">
                  <a:extLst>
                    <a:ext uri="{FF2B5EF4-FFF2-40B4-BE49-F238E27FC236}">
                      <a16:creationId xmlns:a16="http://schemas.microsoft.com/office/drawing/2014/main" id="{B0F2DC5A-427C-F369-1435-9C636A3B9EC8}"/>
                    </a:ext>
                  </a:extLst>
                </p:cNvPr>
                <p:cNvCxnSpPr>
                  <a:stCxn id="7" idx="3"/>
                  <a:endCxn id="5" idx="6"/>
                </p:cNvCxnSpPr>
                <p:nvPr/>
              </p:nvCxnSpPr>
              <p:spPr>
                <a:xfrm flipH="1" flipV="1">
                  <a:off x="1070899" y="4332045"/>
                  <a:ext cx="768121" cy="80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Прямая со стрелкой 15">
                  <a:extLst>
                    <a:ext uri="{FF2B5EF4-FFF2-40B4-BE49-F238E27FC236}">
                      <a16:creationId xmlns:a16="http://schemas.microsoft.com/office/drawing/2014/main" id="{0B3EBF5E-CAA8-8C96-9530-30326AA65462}"/>
                    </a:ext>
                  </a:extLst>
                </p:cNvPr>
                <p:cNvCxnSpPr>
                  <a:stCxn id="9" idx="1"/>
                  <a:endCxn id="5" idx="5"/>
                </p:cNvCxnSpPr>
                <p:nvPr/>
              </p:nvCxnSpPr>
              <p:spPr>
                <a:xfrm flipH="1" flipV="1">
                  <a:off x="1019590" y="4455915"/>
                  <a:ext cx="694355" cy="672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Прямая со стрелкой 17">
                  <a:extLst>
                    <a:ext uri="{FF2B5EF4-FFF2-40B4-BE49-F238E27FC236}">
                      <a16:creationId xmlns:a16="http://schemas.microsoft.com/office/drawing/2014/main" id="{CB810BB1-5196-F943-E07A-68581C01474C}"/>
                    </a:ext>
                  </a:extLst>
                </p:cNvPr>
                <p:cNvCxnSpPr>
                  <a:stCxn id="8" idx="2"/>
                  <a:endCxn id="6" idx="7"/>
                </p:cNvCxnSpPr>
                <p:nvPr/>
              </p:nvCxnSpPr>
              <p:spPr>
                <a:xfrm flipH="1">
                  <a:off x="1933013" y="3111674"/>
                  <a:ext cx="665683" cy="1196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Прямая со стрелкой 19">
                  <a:extLst>
                    <a:ext uri="{FF2B5EF4-FFF2-40B4-BE49-F238E27FC236}">
                      <a16:creationId xmlns:a16="http://schemas.microsoft.com/office/drawing/2014/main" id="{0E94259C-3C6E-D5C2-ED75-19FF11A8FE8A}"/>
                    </a:ext>
                  </a:extLst>
                </p:cNvPr>
                <p:cNvCxnSpPr>
                  <a:stCxn id="10" idx="2"/>
                  <a:endCxn id="6" idx="5"/>
                </p:cNvCxnSpPr>
                <p:nvPr/>
              </p:nvCxnSpPr>
              <p:spPr>
                <a:xfrm flipH="1" flipV="1">
                  <a:off x="1933013" y="3479070"/>
                  <a:ext cx="746689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Прямая со стрелкой 21">
                  <a:extLst>
                    <a:ext uri="{FF2B5EF4-FFF2-40B4-BE49-F238E27FC236}">
                      <a16:creationId xmlns:a16="http://schemas.microsoft.com/office/drawing/2014/main" id="{EABEC1EC-C19E-3615-E4D1-AD94A7C4B60C}"/>
                    </a:ext>
                  </a:extLst>
                </p:cNvPr>
                <p:cNvCxnSpPr>
                  <a:stCxn id="10" idx="3"/>
                  <a:endCxn id="7" idx="6"/>
                </p:cNvCxnSpPr>
                <p:nvPr/>
              </p:nvCxnSpPr>
              <p:spPr>
                <a:xfrm flipH="1">
                  <a:off x="2138069" y="4075076"/>
                  <a:ext cx="592942" cy="14110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Прямая со стрелкой 23">
                  <a:extLst>
                    <a:ext uri="{FF2B5EF4-FFF2-40B4-BE49-F238E27FC236}">
                      <a16:creationId xmlns:a16="http://schemas.microsoft.com/office/drawing/2014/main" id="{016AB16E-8C88-1C5F-1AF1-4E1E7695ADBA}"/>
                    </a:ext>
                  </a:extLst>
                </p:cNvPr>
                <p:cNvCxnSpPr>
                  <a:stCxn id="8" idx="4"/>
                  <a:endCxn id="7" idx="7"/>
                </p:cNvCxnSpPr>
                <p:nvPr/>
              </p:nvCxnSpPr>
              <p:spPr>
                <a:xfrm flipH="1">
                  <a:off x="2086760" y="3286853"/>
                  <a:ext cx="687115" cy="8054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Прямая со стрелкой 29">
                  <a:extLst>
                    <a:ext uri="{FF2B5EF4-FFF2-40B4-BE49-F238E27FC236}">
                      <a16:creationId xmlns:a16="http://schemas.microsoft.com/office/drawing/2014/main" id="{91110942-E5FE-C6F4-1ED2-17DDF09B1800}"/>
                    </a:ext>
                  </a:extLst>
                </p:cNvPr>
                <p:cNvCxnSpPr>
                  <a:stCxn id="10" idx="4"/>
                  <a:endCxn id="9" idx="7"/>
                </p:cNvCxnSpPr>
                <p:nvPr/>
              </p:nvCxnSpPr>
              <p:spPr>
                <a:xfrm flipH="1">
                  <a:off x="1961685" y="4126385"/>
                  <a:ext cx="893196" cy="100208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Овал 33">
                  <a:extLst>
                    <a:ext uri="{FF2B5EF4-FFF2-40B4-BE49-F238E27FC236}">
                      <a16:creationId xmlns:a16="http://schemas.microsoft.com/office/drawing/2014/main" id="{FBC48418-E912-8377-3500-2C176DE3140B}"/>
                    </a:ext>
                  </a:extLst>
                </p:cNvPr>
                <p:cNvSpPr/>
                <p:nvPr/>
              </p:nvSpPr>
              <p:spPr>
                <a:xfrm>
                  <a:off x="4063969" y="3180021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rgbClr val="9608C8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5" name="Овал 34">
                  <a:extLst>
                    <a:ext uri="{FF2B5EF4-FFF2-40B4-BE49-F238E27FC236}">
                      <a16:creationId xmlns:a16="http://schemas.microsoft.com/office/drawing/2014/main" id="{A494997A-6BC8-572F-11B6-FF241A9CAD22}"/>
                    </a:ext>
                  </a:extLst>
                </p:cNvPr>
                <p:cNvSpPr/>
                <p:nvPr/>
              </p:nvSpPr>
              <p:spPr>
                <a:xfrm>
                  <a:off x="3888790" y="4481153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chemeClr val="accent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37" name="Прямая со стрелкой 36">
                  <a:extLst>
                    <a:ext uri="{FF2B5EF4-FFF2-40B4-BE49-F238E27FC236}">
                      <a16:creationId xmlns:a16="http://schemas.microsoft.com/office/drawing/2014/main" id="{CCD84838-9DD7-A5FC-7AE5-D432FAEEF3E2}"/>
                    </a:ext>
                  </a:extLst>
                </p:cNvPr>
                <p:cNvCxnSpPr>
                  <a:stCxn id="34" idx="2"/>
                  <a:endCxn id="8" idx="6"/>
                </p:cNvCxnSpPr>
                <p:nvPr/>
              </p:nvCxnSpPr>
              <p:spPr>
                <a:xfrm flipH="1" flipV="1">
                  <a:off x="2949054" y="3111674"/>
                  <a:ext cx="1114915" cy="24352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Прямая со стрелкой 38">
                  <a:extLst>
                    <a:ext uri="{FF2B5EF4-FFF2-40B4-BE49-F238E27FC236}">
                      <a16:creationId xmlns:a16="http://schemas.microsoft.com/office/drawing/2014/main" id="{51ECCE4B-9CC4-1256-F334-E9BB066D2CB5}"/>
                    </a:ext>
                  </a:extLst>
                </p:cNvPr>
                <p:cNvCxnSpPr>
                  <a:stCxn id="34" idx="3"/>
                  <a:endCxn id="10" idx="6"/>
                </p:cNvCxnSpPr>
                <p:nvPr/>
              </p:nvCxnSpPr>
              <p:spPr>
                <a:xfrm flipH="1">
                  <a:off x="3030060" y="3479070"/>
                  <a:ext cx="1085218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Прямая со стрелкой 40">
                  <a:extLst>
                    <a:ext uri="{FF2B5EF4-FFF2-40B4-BE49-F238E27FC236}">
                      <a16:creationId xmlns:a16="http://schemas.microsoft.com/office/drawing/2014/main" id="{2F94CFDA-6F32-38AA-C29B-D9A75D9BDDEB}"/>
                    </a:ext>
                  </a:extLst>
                </p:cNvPr>
                <p:cNvCxnSpPr>
                  <a:stCxn id="35" idx="1"/>
                  <a:endCxn id="10" idx="6"/>
                </p:cNvCxnSpPr>
                <p:nvPr/>
              </p:nvCxnSpPr>
              <p:spPr>
                <a:xfrm flipH="1" flipV="1">
                  <a:off x="3030060" y="3951206"/>
                  <a:ext cx="910039" cy="5812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Прямая со стрелкой 42">
                  <a:extLst>
                    <a:ext uri="{FF2B5EF4-FFF2-40B4-BE49-F238E27FC236}">
                      <a16:creationId xmlns:a16="http://schemas.microsoft.com/office/drawing/2014/main" id="{1E83AF53-4F35-D207-4BAA-BC4259FE5633}"/>
                    </a:ext>
                  </a:extLst>
                </p:cNvPr>
                <p:cNvCxnSpPr>
                  <a:stCxn id="35" idx="2"/>
                  <a:endCxn id="9" idx="6"/>
                </p:cNvCxnSpPr>
                <p:nvPr/>
              </p:nvCxnSpPr>
              <p:spPr>
                <a:xfrm flipH="1">
                  <a:off x="2012994" y="4656332"/>
                  <a:ext cx="1875796" cy="5960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Овал 51">
                  <a:extLst>
                    <a:ext uri="{FF2B5EF4-FFF2-40B4-BE49-F238E27FC236}">
                      <a16:creationId xmlns:a16="http://schemas.microsoft.com/office/drawing/2014/main" id="{312B6FEA-36B7-22C1-E6C7-38B2A63A79D2}"/>
                    </a:ext>
                  </a:extLst>
                </p:cNvPr>
                <p:cNvSpPr/>
                <p:nvPr/>
              </p:nvSpPr>
              <p:spPr>
                <a:xfrm>
                  <a:off x="5040966" y="426462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3" name="Овал 52">
                  <a:extLst>
                    <a:ext uri="{FF2B5EF4-FFF2-40B4-BE49-F238E27FC236}">
                      <a16:creationId xmlns:a16="http://schemas.microsoft.com/office/drawing/2014/main" id="{78DA93E3-A4CD-3455-74F3-C7ECBB16D3EE}"/>
                    </a:ext>
                  </a:extLst>
                </p:cNvPr>
                <p:cNvSpPr/>
                <p:nvPr/>
              </p:nvSpPr>
              <p:spPr>
                <a:xfrm>
                  <a:off x="5966654" y="449589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4" name="Овал 53">
                  <a:extLst>
                    <a:ext uri="{FF2B5EF4-FFF2-40B4-BE49-F238E27FC236}">
                      <a16:creationId xmlns:a16="http://schemas.microsoft.com/office/drawing/2014/main" id="{7226A979-F707-2680-6DF7-FEA98D8B58B4}"/>
                    </a:ext>
                  </a:extLst>
                </p:cNvPr>
                <p:cNvSpPr/>
                <p:nvPr/>
              </p:nvSpPr>
              <p:spPr>
                <a:xfrm>
                  <a:off x="4930901" y="512846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56" name="Прямая со стрелкой 55">
                  <a:extLst>
                    <a:ext uri="{FF2B5EF4-FFF2-40B4-BE49-F238E27FC236}">
                      <a16:creationId xmlns:a16="http://schemas.microsoft.com/office/drawing/2014/main" id="{C4F1F744-BE1B-D843-089C-7BFC53D7CD9D}"/>
                    </a:ext>
                  </a:extLst>
                </p:cNvPr>
                <p:cNvCxnSpPr>
                  <a:stCxn id="54" idx="1"/>
                  <a:endCxn id="35" idx="6"/>
                </p:cNvCxnSpPr>
                <p:nvPr/>
              </p:nvCxnSpPr>
              <p:spPr>
                <a:xfrm flipH="1" flipV="1">
                  <a:off x="4239148" y="4656332"/>
                  <a:ext cx="743062" cy="5234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Прямая со стрелкой 57">
                  <a:extLst>
                    <a:ext uri="{FF2B5EF4-FFF2-40B4-BE49-F238E27FC236}">
                      <a16:creationId xmlns:a16="http://schemas.microsoft.com/office/drawing/2014/main" id="{8AC8D584-4417-337F-8F55-1506DADF89A4}"/>
                    </a:ext>
                  </a:extLst>
                </p:cNvPr>
                <p:cNvCxnSpPr>
                  <a:stCxn id="54" idx="3"/>
                  <a:endCxn id="9" idx="5"/>
                </p:cNvCxnSpPr>
                <p:nvPr/>
              </p:nvCxnSpPr>
              <p:spPr>
                <a:xfrm flipH="1" flipV="1">
                  <a:off x="1961685" y="5376207"/>
                  <a:ext cx="3020525" cy="513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Прямая со стрелкой 59">
                  <a:extLst>
                    <a:ext uri="{FF2B5EF4-FFF2-40B4-BE49-F238E27FC236}">
                      <a16:creationId xmlns:a16="http://schemas.microsoft.com/office/drawing/2014/main" id="{548F028E-7C3C-3458-F0FC-6B77363F0473}"/>
                    </a:ext>
                  </a:extLst>
                </p:cNvPr>
                <p:cNvCxnSpPr>
                  <a:stCxn id="52" idx="2"/>
                  <a:endCxn id="35" idx="6"/>
                </p:cNvCxnSpPr>
                <p:nvPr/>
              </p:nvCxnSpPr>
              <p:spPr>
                <a:xfrm flipH="1">
                  <a:off x="4239148" y="4439799"/>
                  <a:ext cx="801818" cy="21653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Прямая со стрелкой 61">
                  <a:extLst>
                    <a:ext uri="{FF2B5EF4-FFF2-40B4-BE49-F238E27FC236}">
                      <a16:creationId xmlns:a16="http://schemas.microsoft.com/office/drawing/2014/main" id="{BD4B8E70-0B2E-9F93-C5BE-199978015AD7}"/>
                    </a:ext>
                  </a:extLst>
                </p:cNvPr>
                <p:cNvCxnSpPr>
                  <a:cxnSpLocks/>
                  <a:stCxn id="53" idx="2"/>
                  <a:endCxn id="52" idx="6"/>
                </p:cNvCxnSpPr>
                <p:nvPr/>
              </p:nvCxnSpPr>
              <p:spPr>
                <a:xfrm flipH="1" flipV="1">
                  <a:off x="5391324" y="4439799"/>
                  <a:ext cx="575330" cy="23127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Прямая со стрелкой 63">
                  <a:extLst>
                    <a:ext uri="{FF2B5EF4-FFF2-40B4-BE49-F238E27FC236}">
                      <a16:creationId xmlns:a16="http://schemas.microsoft.com/office/drawing/2014/main" id="{75E074D2-7FBE-95EA-6D48-9EAA0DBC1B6A}"/>
                    </a:ext>
                  </a:extLst>
                </p:cNvPr>
                <p:cNvCxnSpPr>
                  <a:stCxn id="53" idx="3"/>
                  <a:endCxn id="54" idx="7"/>
                </p:cNvCxnSpPr>
                <p:nvPr/>
              </p:nvCxnSpPr>
              <p:spPr>
                <a:xfrm flipH="1">
                  <a:off x="5229950" y="4794939"/>
                  <a:ext cx="788013" cy="38483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8" name="Овал 67">
                  <a:extLst>
                    <a:ext uri="{FF2B5EF4-FFF2-40B4-BE49-F238E27FC236}">
                      <a16:creationId xmlns:a16="http://schemas.microsoft.com/office/drawing/2014/main" id="{94E82BE3-BF0A-E255-35AD-98467B4E444D}"/>
                    </a:ext>
                  </a:extLst>
                </p:cNvPr>
                <p:cNvSpPr/>
                <p:nvPr/>
              </p:nvSpPr>
              <p:spPr>
                <a:xfrm>
                  <a:off x="7339793" y="4555434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69" name="Овал 68">
                  <a:extLst>
                    <a:ext uri="{FF2B5EF4-FFF2-40B4-BE49-F238E27FC236}">
                      <a16:creationId xmlns:a16="http://schemas.microsoft.com/office/drawing/2014/main" id="{589F371E-DDC5-F048-353D-5FBD8704C88E}"/>
                    </a:ext>
                  </a:extLst>
                </p:cNvPr>
                <p:cNvSpPr/>
                <p:nvPr/>
              </p:nvSpPr>
              <p:spPr>
                <a:xfrm>
                  <a:off x="6989435" y="3761289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71" name="Прямая со стрелкой 70">
                  <a:extLst>
                    <a:ext uri="{FF2B5EF4-FFF2-40B4-BE49-F238E27FC236}">
                      <a16:creationId xmlns:a16="http://schemas.microsoft.com/office/drawing/2014/main" id="{5635482B-A483-FCC5-BC82-A2FA9C443E41}"/>
                    </a:ext>
                  </a:extLst>
                </p:cNvPr>
                <p:cNvCxnSpPr>
                  <a:stCxn id="69" idx="2"/>
                  <a:endCxn id="52" idx="7"/>
                </p:cNvCxnSpPr>
                <p:nvPr/>
              </p:nvCxnSpPr>
              <p:spPr>
                <a:xfrm flipH="1">
                  <a:off x="5340015" y="3936468"/>
                  <a:ext cx="1649420" cy="37946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Прямая со стрелкой 72">
                  <a:extLst>
                    <a:ext uri="{FF2B5EF4-FFF2-40B4-BE49-F238E27FC236}">
                      <a16:creationId xmlns:a16="http://schemas.microsoft.com/office/drawing/2014/main" id="{0C108520-7D96-9BF4-B3CA-C7C439A3EC67}"/>
                    </a:ext>
                  </a:extLst>
                </p:cNvPr>
                <p:cNvCxnSpPr>
                  <a:stCxn id="69" idx="4"/>
                  <a:endCxn id="53" idx="7"/>
                </p:cNvCxnSpPr>
                <p:nvPr/>
              </p:nvCxnSpPr>
              <p:spPr>
                <a:xfrm flipH="1">
                  <a:off x="6265703" y="4111647"/>
                  <a:ext cx="898911" cy="435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Прямая со стрелкой 74">
                  <a:extLst>
                    <a:ext uri="{FF2B5EF4-FFF2-40B4-BE49-F238E27FC236}">
                      <a16:creationId xmlns:a16="http://schemas.microsoft.com/office/drawing/2014/main" id="{92CC9F90-EA88-18E9-17DF-AF65268B323D}"/>
                    </a:ext>
                  </a:extLst>
                </p:cNvPr>
                <p:cNvCxnSpPr>
                  <a:stCxn id="68" idx="4"/>
                  <a:endCxn id="54" idx="6"/>
                </p:cNvCxnSpPr>
                <p:nvPr/>
              </p:nvCxnSpPr>
              <p:spPr>
                <a:xfrm flipH="1">
                  <a:off x="5281259" y="4905792"/>
                  <a:ext cx="2233713" cy="39785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Прямая со стрелкой 77">
                  <a:extLst>
                    <a:ext uri="{FF2B5EF4-FFF2-40B4-BE49-F238E27FC236}">
                      <a16:creationId xmlns:a16="http://schemas.microsoft.com/office/drawing/2014/main" id="{18E61AD1-3EB1-3863-302B-B771C5061406}"/>
                    </a:ext>
                  </a:extLst>
                </p:cNvPr>
                <p:cNvCxnSpPr>
                  <a:stCxn id="68" idx="2"/>
                  <a:endCxn id="53" idx="6"/>
                </p:cNvCxnSpPr>
                <p:nvPr/>
              </p:nvCxnSpPr>
              <p:spPr>
                <a:xfrm flipH="1" flipV="1">
                  <a:off x="6317012" y="4671069"/>
                  <a:ext cx="1022781" cy="595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3" name="Овал 82">
                  <a:extLst>
                    <a:ext uri="{FF2B5EF4-FFF2-40B4-BE49-F238E27FC236}">
                      <a16:creationId xmlns:a16="http://schemas.microsoft.com/office/drawing/2014/main" id="{6C93D6C4-FFF4-3823-741C-C80F4AD8E31A}"/>
                    </a:ext>
                  </a:extLst>
                </p:cNvPr>
                <p:cNvSpPr/>
                <p:nvPr/>
              </p:nvSpPr>
              <p:spPr>
                <a:xfrm>
                  <a:off x="5702167" y="2512259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4" name="Овал 83">
                  <a:extLst>
                    <a:ext uri="{FF2B5EF4-FFF2-40B4-BE49-F238E27FC236}">
                      <a16:creationId xmlns:a16="http://schemas.microsoft.com/office/drawing/2014/main" id="{C80C9B5B-E596-B620-2D4B-581959F66A38}"/>
                    </a:ext>
                  </a:extLst>
                </p:cNvPr>
                <p:cNvSpPr/>
                <p:nvPr/>
              </p:nvSpPr>
              <p:spPr>
                <a:xfrm>
                  <a:off x="6745195" y="250187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5" name="Овал 84">
                  <a:extLst>
                    <a:ext uri="{FF2B5EF4-FFF2-40B4-BE49-F238E27FC236}">
                      <a16:creationId xmlns:a16="http://schemas.microsoft.com/office/drawing/2014/main" id="{31DB6D40-647C-57A2-243D-31268ED9DAC5}"/>
                    </a:ext>
                  </a:extLst>
                </p:cNvPr>
                <p:cNvSpPr/>
                <p:nvPr/>
              </p:nvSpPr>
              <p:spPr>
                <a:xfrm>
                  <a:off x="6090524" y="1635792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6" name="Овал 85">
                  <a:extLst>
                    <a:ext uri="{FF2B5EF4-FFF2-40B4-BE49-F238E27FC236}">
                      <a16:creationId xmlns:a16="http://schemas.microsoft.com/office/drawing/2014/main" id="{DD77F343-25D9-11D0-121A-D670E5B2DB65}"/>
                    </a:ext>
                  </a:extLst>
                </p:cNvPr>
                <p:cNvSpPr/>
                <p:nvPr/>
              </p:nvSpPr>
              <p:spPr>
                <a:xfrm>
                  <a:off x="5229950" y="314559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7" name="Овал 86">
                  <a:extLst>
                    <a:ext uri="{FF2B5EF4-FFF2-40B4-BE49-F238E27FC236}">
                      <a16:creationId xmlns:a16="http://schemas.microsoft.com/office/drawing/2014/main" id="{96D2D2A3-AB61-D375-442E-57EB79FC8F48}"/>
                    </a:ext>
                  </a:extLst>
                </p:cNvPr>
                <p:cNvSpPr/>
                <p:nvPr/>
              </p:nvSpPr>
              <p:spPr>
                <a:xfrm>
                  <a:off x="4631852" y="2320137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89" name="Прямая со стрелкой 88">
                  <a:extLst>
                    <a:ext uri="{FF2B5EF4-FFF2-40B4-BE49-F238E27FC236}">
                      <a16:creationId xmlns:a16="http://schemas.microsoft.com/office/drawing/2014/main" id="{3FD7415A-0BC4-70A1-8DC6-32870ECAF51C}"/>
                    </a:ext>
                  </a:extLst>
                </p:cNvPr>
                <p:cNvCxnSpPr>
                  <a:stCxn id="87" idx="2"/>
                  <a:endCxn id="8" idx="7"/>
                </p:cNvCxnSpPr>
                <p:nvPr/>
              </p:nvCxnSpPr>
              <p:spPr>
                <a:xfrm flipH="1">
                  <a:off x="2897745" y="2495316"/>
                  <a:ext cx="1734107" cy="49248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Прямая со стрелкой 90">
                  <a:extLst>
                    <a:ext uri="{FF2B5EF4-FFF2-40B4-BE49-F238E27FC236}">
                      <a16:creationId xmlns:a16="http://schemas.microsoft.com/office/drawing/2014/main" id="{59D9FF05-C78E-6936-B197-3103220F83F2}"/>
                    </a:ext>
                  </a:extLst>
                </p:cNvPr>
                <p:cNvCxnSpPr>
                  <a:stCxn id="87" idx="4"/>
                  <a:endCxn id="34" idx="7"/>
                </p:cNvCxnSpPr>
                <p:nvPr/>
              </p:nvCxnSpPr>
              <p:spPr>
                <a:xfrm flipH="1">
                  <a:off x="4363018" y="2670495"/>
                  <a:ext cx="444013" cy="56083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Прямая со стрелкой 92">
                  <a:extLst>
                    <a:ext uri="{FF2B5EF4-FFF2-40B4-BE49-F238E27FC236}">
                      <a16:creationId xmlns:a16="http://schemas.microsoft.com/office/drawing/2014/main" id="{75E30C64-4E4E-EFA3-9241-DCD4FF98F333}"/>
                    </a:ext>
                  </a:extLst>
                </p:cNvPr>
                <p:cNvCxnSpPr>
                  <a:stCxn id="86" idx="2"/>
                  <a:endCxn id="34" idx="6"/>
                </p:cNvCxnSpPr>
                <p:nvPr/>
              </p:nvCxnSpPr>
              <p:spPr>
                <a:xfrm flipH="1">
                  <a:off x="4414327" y="3320773"/>
                  <a:ext cx="815623" cy="344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Прямая со стрелкой 94">
                  <a:extLst>
                    <a:ext uri="{FF2B5EF4-FFF2-40B4-BE49-F238E27FC236}">
                      <a16:creationId xmlns:a16="http://schemas.microsoft.com/office/drawing/2014/main" id="{04296A65-91EC-99C9-2384-7514C34B3AD2}"/>
                    </a:ext>
                  </a:extLst>
                </p:cNvPr>
                <p:cNvCxnSpPr>
                  <a:stCxn id="83" idx="2"/>
                  <a:endCxn id="87" idx="6"/>
                </p:cNvCxnSpPr>
                <p:nvPr/>
              </p:nvCxnSpPr>
              <p:spPr>
                <a:xfrm flipH="1" flipV="1">
                  <a:off x="4982210" y="2495316"/>
                  <a:ext cx="719957" cy="1921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Прямая со стрелкой 96">
                  <a:extLst>
                    <a:ext uri="{FF2B5EF4-FFF2-40B4-BE49-F238E27FC236}">
                      <a16:creationId xmlns:a16="http://schemas.microsoft.com/office/drawing/2014/main" id="{BE5CD1AB-2952-D955-D461-5417988B9E8B}"/>
                    </a:ext>
                  </a:extLst>
                </p:cNvPr>
                <p:cNvCxnSpPr>
                  <a:stCxn id="83" idx="5"/>
                  <a:endCxn id="86" idx="7"/>
                </p:cNvCxnSpPr>
                <p:nvPr/>
              </p:nvCxnSpPr>
              <p:spPr>
                <a:xfrm flipH="1">
                  <a:off x="5528999" y="2811308"/>
                  <a:ext cx="472217" cy="3855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Прямая со стрелкой 98">
                  <a:extLst>
                    <a:ext uri="{FF2B5EF4-FFF2-40B4-BE49-F238E27FC236}">
                      <a16:creationId xmlns:a16="http://schemas.microsoft.com/office/drawing/2014/main" id="{66E3EEE8-2002-0E07-E62D-35808FDCE78F}"/>
                    </a:ext>
                  </a:extLst>
                </p:cNvPr>
                <p:cNvCxnSpPr>
                  <a:stCxn id="85" idx="2"/>
                  <a:endCxn id="87" idx="6"/>
                </p:cNvCxnSpPr>
                <p:nvPr/>
              </p:nvCxnSpPr>
              <p:spPr>
                <a:xfrm flipH="1">
                  <a:off x="4982210" y="1810971"/>
                  <a:ext cx="1108314" cy="6843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Прямая со стрелкой 100">
                  <a:extLst>
                    <a:ext uri="{FF2B5EF4-FFF2-40B4-BE49-F238E27FC236}">
                      <a16:creationId xmlns:a16="http://schemas.microsoft.com/office/drawing/2014/main" id="{913B5846-363A-19D8-D62C-17B9D69EADC6}"/>
                    </a:ext>
                  </a:extLst>
                </p:cNvPr>
                <p:cNvCxnSpPr>
                  <a:stCxn id="85" idx="4"/>
                  <a:endCxn id="83" idx="7"/>
                </p:cNvCxnSpPr>
                <p:nvPr/>
              </p:nvCxnSpPr>
              <p:spPr>
                <a:xfrm flipH="1">
                  <a:off x="6001216" y="1986150"/>
                  <a:ext cx="264487" cy="57741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Прямая со стрелкой 102">
                  <a:extLst>
                    <a:ext uri="{FF2B5EF4-FFF2-40B4-BE49-F238E27FC236}">
                      <a16:creationId xmlns:a16="http://schemas.microsoft.com/office/drawing/2014/main" id="{1BEB6784-DF8E-3F56-520F-75CC0109F8E6}"/>
                    </a:ext>
                  </a:extLst>
                </p:cNvPr>
                <p:cNvCxnSpPr>
                  <a:stCxn id="84" idx="2"/>
                  <a:endCxn id="83" idx="6"/>
                </p:cNvCxnSpPr>
                <p:nvPr/>
              </p:nvCxnSpPr>
              <p:spPr>
                <a:xfrm flipH="1">
                  <a:off x="6052525" y="2677053"/>
                  <a:ext cx="692670" cy="103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Прямая со стрелкой 104">
                  <a:extLst>
                    <a:ext uri="{FF2B5EF4-FFF2-40B4-BE49-F238E27FC236}">
                      <a16:creationId xmlns:a16="http://schemas.microsoft.com/office/drawing/2014/main" id="{D393809D-798D-C8B9-2836-DCF1CCFB8BDF}"/>
                    </a:ext>
                  </a:extLst>
                </p:cNvPr>
                <p:cNvCxnSpPr>
                  <a:stCxn id="84" idx="4"/>
                  <a:endCxn id="86" idx="6"/>
                </p:cNvCxnSpPr>
                <p:nvPr/>
              </p:nvCxnSpPr>
              <p:spPr>
                <a:xfrm flipH="1">
                  <a:off x="5580308" y="2852232"/>
                  <a:ext cx="1340066" cy="4685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109" name="Рукописный ввод 108">
                      <a:extLst>
                        <a:ext uri="{FF2B5EF4-FFF2-40B4-BE49-F238E27FC236}">
                          <a16:creationId xmlns:a16="http://schemas.microsoft.com/office/drawing/2014/main" id="{14D6A5B6-3C68-9805-379E-8F190F811572}"/>
                        </a:ext>
                      </a:extLst>
                    </p14:cNvPr>
                    <p14:cNvContentPartPr/>
                    <p14:nvPr/>
                  </p14:nvContentPartPr>
                  <p14:xfrm rot="-78944">
                    <a:off x="3322819" y="1674323"/>
                    <a:ext cx="4123558" cy="2101394"/>
                  </p14:xfrm>
                </p:contentPart>
              </mc:Choice>
              <mc:Fallback xmlns="">
                <p:pic>
                  <p:nvPicPr>
                    <p:cNvPr id="109" name="Рукописный ввод 108">
                      <a:extLst>
                        <a:ext uri="{FF2B5EF4-FFF2-40B4-BE49-F238E27FC236}">
                          <a16:creationId xmlns:a16="http://schemas.microsoft.com/office/drawing/2014/main" id="{14D6A5B6-3C68-9805-379E-8F190F811572}"/>
                        </a:ext>
                      </a:extLst>
                    </p:cNvPr>
                    <p:cNvPicPr/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 rot="-78944">
                      <a:off x="3315022" y="1666128"/>
                      <a:ext cx="4139151" cy="211778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11" name="Рукописный ввод 110">
                      <a:extLst>
                        <a:ext uri="{FF2B5EF4-FFF2-40B4-BE49-F238E27FC236}">
                          <a16:creationId xmlns:a16="http://schemas.microsoft.com/office/drawing/2014/main" id="{3AAEE1C4-4E2A-4D5F-4E71-354529B23EC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3609078" y="3638082"/>
                    <a:ext cx="5404440" cy="2295798"/>
                  </p14:xfrm>
                </p:contentPart>
              </mc:Choice>
              <mc:Fallback xmlns="">
                <p:pic>
                  <p:nvPicPr>
                    <p:cNvPr id="111" name="Рукописный ввод 110">
                      <a:extLst>
                        <a:ext uri="{FF2B5EF4-FFF2-40B4-BE49-F238E27FC236}">
                          <a16:creationId xmlns:a16="http://schemas.microsoft.com/office/drawing/2014/main" id="{3AAEE1C4-4E2A-4D5F-4E71-354529B23EC4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3601284" y="3629890"/>
                      <a:ext cx="5420028" cy="2312183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sp>
          <p:nvSpPr>
            <p:cNvPr id="115" name="Овал 114">
              <a:extLst>
                <a:ext uri="{FF2B5EF4-FFF2-40B4-BE49-F238E27FC236}">
                  <a16:creationId xmlns:a16="http://schemas.microsoft.com/office/drawing/2014/main" id="{F0C04F02-454F-B4C8-9DB5-32F48FF15CBC}"/>
                </a:ext>
              </a:extLst>
            </p:cNvPr>
            <p:cNvSpPr/>
            <p:nvPr/>
          </p:nvSpPr>
          <p:spPr>
            <a:xfrm>
              <a:off x="464835" y="4719657"/>
              <a:ext cx="257541" cy="276289"/>
            </a:xfrm>
            <a:prstGeom prst="ellipse">
              <a:avLst/>
            </a:prstGeom>
            <a:pattFill prst="ltUpDiag">
              <a:fgClr>
                <a:srgbClr val="9608C8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Овал 115">
              <a:extLst>
                <a:ext uri="{FF2B5EF4-FFF2-40B4-BE49-F238E27FC236}">
                  <a16:creationId xmlns:a16="http://schemas.microsoft.com/office/drawing/2014/main" id="{015A774A-F265-1A4F-8247-8066A13BCD6E}"/>
                </a:ext>
              </a:extLst>
            </p:cNvPr>
            <p:cNvSpPr/>
            <p:nvPr/>
          </p:nvSpPr>
          <p:spPr>
            <a:xfrm>
              <a:off x="1000581" y="4720367"/>
              <a:ext cx="257541" cy="276289"/>
            </a:xfrm>
            <a:prstGeom prst="ellipse">
              <a:avLst/>
            </a:prstGeom>
            <a:pattFill prst="ltUpDiag">
              <a:fgClr>
                <a:schemeClr val="accent1">
                  <a:lumMod val="75000"/>
                </a:schemeClr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FBC8039-D676-8235-F00B-21BB3458E962}"/>
                </a:ext>
              </a:extLst>
            </p:cNvPr>
            <p:cNvSpPr txBox="1"/>
            <p:nvPr/>
          </p:nvSpPr>
          <p:spPr>
            <a:xfrm>
              <a:off x="1277360" y="4719657"/>
              <a:ext cx="4050163" cy="2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- конфликтные транзакции использующие один и тот же выход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30582DB-14FC-E2AF-EE04-D726D2D57747}"/>
                </a:ext>
              </a:extLst>
            </p:cNvPr>
            <p:cNvSpPr txBox="1"/>
            <p:nvPr/>
          </p:nvSpPr>
          <p:spPr>
            <a:xfrm>
              <a:off x="5440535" y="2227084"/>
              <a:ext cx="1800509" cy="27619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ru-RU" sz="1100" b="1" dirty="0">
                  <a:latin typeface="Arial" panose="020B0604020202020204" pitchFamily="34" charset="0"/>
                  <a:cs typeface="Arial" panose="020B0604020202020204" pitchFamily="34" charset="0"/>
                </a:rPr>
                <a:t>Конфликтующие ветви</a:t>
              </a:r>
            </a:p>
          </p:txBody>
        </p:sp>
        <p:cxnSp>
          <p:nvCxnSpPr>
            <p:cNvPr id="121" name="Прямая со стрелкой 120">
              <a:extLst>
                <a:ext uri="{FF2B5EF4-FFF2-40B4-BE49-F238E27FC236}">
                  <a16:creationId xmlns:a16="http://schemas.microsoft.com/office/drawing/2014/main" id="{D067E227-F5AD-9227-A9A5-B8993B75108A}"/>
                </a:ext>
              </a:extLst>
            </p:cNvPr>
            <p:cNvCxnSpPr>
              <a:cxnSpLocks/>
              <a:stCxn id="119" idx="0"/>
            </p:cNvCxnSpPr>
            <p:nvPr/>
          </p:nvCxnSpPr>
          <p:spPr>
            <a:xfrm flipH="1" flipV="1">
              <a:off x="5440536" y="1826034"/>
              <a:ext cx="900254" cy="4010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Прямая со стрелкой 122">
              <a:extLst>
                <a:ext uri="{FF2B5EF4-FFF2-40B4-BE49-F238E27FC236}">
                  <a16:creationId xmlns:a16="http://schemas.microsoft.com/office/drawing/2014/main" id="{1F177D9C-D275-F9C9-16A6-2A0E603B3700}"/>
                </a:ext>
              </a:extLst>
            </p:cNvPr>
            <p:cNvCxnSpPr>
              <a:cxnSpLocks/>
              <a:stCxn id="119" idx="2"/>
            </p:cNvCxnSpPr>
            <p:nvPr/>
          </p:nvCxnSpPr>
          <p:spPr>
            <a:xfrm flipH="1">
              <a:off x="5979380" y="2503281"/>
              <a:ext cx="361410" cy="383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354E3A5C-C4A7-E928-CE91-3B879AA65020}"/>
              </a:ext>
            </a:extLst>
          </p:cNvPr>
          <p:cNvSpPr txBox="1"/>
          <p:nvPr/>
        </p:nvSpPr>
        <p:spPr>
          <a:xfrm>
            <a:off x="2734681" y="5231969"/>
            <a:ext cx="60946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В реализованной модели конфликты разрешаются через </a:t>
            </a:r>
            <a:r>
              <a:rPr lang="en-US" dirty="0"/>
              <a:t>BFT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1800" dirty="0"/>
              <a:t>Конфликты упорядочиваются по (слот, поддержка и хэш)</a:t>
            </a:r>
          </a:p>
        </p:txBody>
      </p:sp>
    </p:spTree>
    <p:extLst>
      <p:ext uri="{BB962C8B-B14F-4D97-AF65-F5344CB8AC3E}">
        <p14:creationId xmlns:p14="http://schemas.microsoft.com/office/powerpoint/2010/main" val="1425391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D5EA34A5-A74B-7487-A38E-320EE0C1D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477865"/>
              </p:ext>
            </p:extLst>
          </p:nvPr>
        </p:nvGraphicFramePr>
        <p:xfrm>
          <a:off x="1637968" y="1101153"/>
          <a:ext cx="8310102" cy="53018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69774">
                  <a:extLst>
                    <a:ext uri="{9D8B030D-6E8A-4147-A177-3AD203B41FA5}">
                      <a16:colId xmlns:a16="http://schemas.microsoft.com/office/drawing/2014/main" val="2880667787"/>
                    </a:ext>
                  </a:extLst>
                </a:gridCol>
                <a:gridCol w="1606164">
                  <a:extLst>
                    <a:ext uri="{9D8B030D-6E8A-4147-A177-3AD203B41FA5}">
                      <a16:colId xmlns:a16="http://schemas.microsoft.com/office/drawing/2014/main" val="4095022159"/>
                    </a:ext>
                  </a:extLst>
                </a:gridCol>
                <a:gridCol w="1391878">
                  <a:extLst>
                    <a:ext uri="{9D8B030D-6E8A-4147-A177-3AD203B41FA5}">
                      <a16:colId xmlns:a16="http://schemas.microsoft.com/office/drawing/2014/main" val="4076909439"/>
                    </a:ext>
                  </a:extLst>
                </a:gridCol>
                <a:gridCol w="1079276">
                  <a:extLst>
                    <a:ext uri="{9D8B030D-6E8A-4147-A177-3AD203B41FA5}">
                      <a16:colId xmlns:a16="http://schemas.microsoft.com/office/drawing/2014/main" val="2495310621"/>
                    </a:ext>
                  </a:extLst>
                </a:gridCol>
                <a:gridCol w="1287278">
                  <a:extLst>
                    <a:ext uri="{9D8B030D-6E8A-4147-A177-3AD203B41FA5}">
                      <a16:colId xmlns:a16="http://schemas.microsoft.com/office/drawing/2014/main" val="139992874"/>
                    </a:ext>
                  </a:extLst>
                </a:gridCol>
                <a:gridCol w="1275732">
                  <a:extLst>
                    <a:ext uri="{9D8B030D-6E8A-4147-A177-3AD203B41FA5}">
                      <a16:colId xmlns:a16="http://schemas.microsoft.com/office/drawing/2014/main" val="1567948442"/>
                    </a:ext>
                  </a:extLst>
                </a:gridCol>
              </a:tblGrid>
              <a:tr h="66121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Модели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DAG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Атака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Метрики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 конфликтов в слоте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549937"/>
                  </a:ext>
                </a:extLst>
              </a:tr>
              <a:tr h="661216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/6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2/5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1/2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792455"/>
                  </a:ext>
                </a:extLst>
              </a:tr>
              <a:tr h="614360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Предлагаемая модель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Конфликтные транзакции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транзакций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~17%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~25%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286305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конфликтов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~4%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~3%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784795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транзакций</a:t>
                      </a: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521583"/>
                  </a:ext>
                </a:extLst>
              </a:tr>
              <a:tr h="1200595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093754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конфликтов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90718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6EBA796-F459-C94D-FDB8-EA20877517C4}"/>
              </a:ext>
            </a:extLst>
          </p:cNvPr>
          <p:cNvSpPr txBox="1"/>
          <p:nvPr/>
        </p:nvSpPr>
        <p:spPr>
          <a:xfrm>
            <a:off x="3526067" y="4549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solidFill>
                  <a:srgbClr val="000000"/>
                </a:solidFill>
                <a:latin typeface="Arial"/>
                <a:cs typeface="Arial"/>
              </a:rPr>
              <a:t>Атака конфликтующими транзакциями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4196797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51651D7-0E5F-10DB-8F3C-BDC1F2261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480" y="852333"/>
            <a:ext cx="7797549" cy="46897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35061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A0CD7F6-89F6-3C75-DE09-6C66EE633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3565" y="378137"/>
            <a:ext cx="7600000" cy="560000"/>
          </a:xfrm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ru-RU" sz="2700" b="1" dirty="0">
                <a:latin typeface="Arial"/>
              </a:rPr>
              <a:t>Результаты работы</a:t>
            </a:r>
            <a:endParaRPr lang="ru-RU" sz="27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AB79D-E079-2F27-FF3C-0C414E838A86}"/>
              </a:ext>
            </a:extLst>
          </p:cNvPr>
          <p:cNvSpPr txBox="1"/>
          <p:nvPr/>
        </p:nvSpPr>
        <p:spPr>
          <a:xfrm>
            <a:off x="850760" y="1497248"/>
            <a:ext cx="1088513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сравнительный анализ существующих DAG-архитектур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в качестве основы выбрана IOTA-подобная модель с BFT-финализацией.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 DAG-реестр с разделением на слоты и эпохи, разрешением конфликтов и сворачиванием состояния в новый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genesis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-блок.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симулятор P2P-сети с локальным DAG каждого узла, сетевыми задержками, подтверждающими блоками и модулем конфликтных атак.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Проведена экспериментальная оценка: механизм сохраняет до десяти раз больше честных транзакций, а сворачивание истории ограничивает рост памяти реестра.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59228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053FA87-E8AF-422D-5402-A81DCA8014DC}"/>
              </a:ext>
            </a:extLst>
          </p:cNvPr>
          <p:cNvSpPr txBox="1"/>
          <p:nvPr/>
        </p:nvSpPr>
        <p:spPr>
          <a:xfrm>
            <a:off x="1126154" y="2375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Разработанная модель </a:t>
            </a:r>
            <a:r>
              <a:rPr lang="en-US" b="1" dirty="0">
                <a:solidFill>
                  <a:srgbClr val="000000"/>
                </a:solidFill>
                <a:latin typeface="Arial"/>
                <a:cs typeface="Arial"/>
              </a:rPr>
              <a:t>DAG </a:t>
            </a:r>
            <a:r>
              <a:rPr lang="ru-RU" b="1" dirty="0">
                <a:solidFill>
                  <a:srgbClr val="000000"/>
                </a:solidFill>
                <a:latin typeface="Arial"/>
                <a:cs typeface="Arial"/>
              </a:rPr>
              <a:t>реестра</a:t>
            </a:r>
            <a:endParaRPr lang="ru-RU" sz="1800" dirty="0"/>
          </a:p>
        </p:txBody>
      </p:sp>
      <p:grpSp>
        <p:nvGrpSpPr>
          <p:cNvPr id="219" name="Группа 218">
            <a:extLst>
              <a:ext uri="{FF2B5EF4-FFF2-40B4-BE49-F238E27FC236}">
                <a16:creationId xmlns:a16="http://schemas.microsoft.com/office/drawing/2014/main" id="{DADEBC68-0114-B282-5E32-B2E1C2E63EDA}"/>
              </a:ext>
            </a:extLst>
          </p:cNvPr>
          <p:cNvGrpSpPr/>
          <p:nvPr/>
        </p:nvGrpSpPr>
        <p:grpSpPr>
          <a:xfrm>
            <a:off x="823272" y="1021080"/>
            <a:ext cx="6305550" cy="3117850"/>
            <a:chOff x="596900" y="1238250"/>
            <a:chExt cx="6305550" cy="3117850"/>
          </a:xfrm>
        </p:grpSpPr>
        <p:sp>
          <p:nvSpPr>
            <p:cNvPr id="217" name="Прямоугольник 216">
              <a:extLst>
                <a:ext uri="{FF2B5EF4-FFF2-40B4-BE49-F238E27FC236}">
                  <a16:creationId xmlns:a16="http://schemas.microsoft.com/office/drawing/2014/main" id="{DFDE5CB5-0BE4-0B4D-39E5-B7DD71CE3269}"/>
                </a:ext>
              </a:extLst>
            </p:cNvPr>
            <p:cNvSpPr/>
            <p:nvPr/>
          </p:nvSpPr>
          <p:spPr>
            <a:xfrm>
              <a:off x="596900" y="1238250"/>
              <a:ext cx="6305550" cy="31178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215" name="Группа 214">
              <a:extLst>
                <a:ext uri="{FF2B5EF4-FFF2-40B4-BE49-F238E27FC236}">
                  <a16:creationId xmlns:a16="http://schemas.microsoft.com/office/drawing/2014/main" id="{E4431FB4-7A19-924F-4C43-E2D2F95699FC}"/>
                </a:ext>
              </a:extLst>
            </p:cNvPr>
            <p:cNvGrpSpPr/>
            <p:nvPr/>
          </p:nvGrpSpPr>
          <p:grpSpPr>
            <a:xfrm>
              <a:off x="876400" y="1433004"/>
              <a:ext cx="5400111" cy="2820583"/>
              <a:chOff x="171550" y="1242504"/>
              <a:chExt cx="5400111" cy="2820583"/>
            </a:xfrm>
          </p:grpSpPr>
          <p:grpSp>
            <p:nvGrpSpPr>
              <p:cNvPr id="205" name="Группа 204">
                <a:extLst>
                  <a:ext uri="{FF2B5EF4-FFF2-40B4-BE49-F238E27FC236}">
                    <a16:creationId xmlns:a16="http://schemas.microsoft.com/office/drawing/2014/main" id="{B6CA9C07-8F09-1D4F-40AA-DC8472BC0FB4}"/>
                  </a:ext>
                </a:extLst>
              </p:cNvPr>
              <p:cNvGrpSpPr/>
              <p:nvPr/>
            </p:nvGrpSpPr>
            <p:grpSpPr>
              <a:xfrm>
                <a:off x="171550" y="1242504"/>
                <a:ext cx="5400111" cy="2820583"/>
                <a:chOff x="934354" y="1396335"/>
                <a:chExt cx="6493528" cy="4371912"/>
              </a:xfrm>
            </p:grpSpPr>
            <p:grpSp>
              <p:nvGrpSpPr>
                <p:cNvPr id="204" name="Группа 203">
                  <a:extLst>
                    <a:ext uri="{FF2B5EF4-FFF2-40B4-BE49-F238E27FC236}">
                      <a16:creationId xmlns:a16="http://schemas.microsoft.com/office/drawing/2014/main" id="{FDE43C4B-0872-10AA-03D7-1F6B570E0083}"/>
                    </a:ext>
                  </a:extLst>
                </p:cNvPr>
                <p:cNvGrpSpPr/>
                <p:nvPr/>
              </p:nvGrpSpPr>
              <p:grpSpPr>
                <a:xfrm>
                  <a:off x="934354" y="1481776"/>
                  <a:ext cx="6493528" cy="4286471"/>
                  <a:chOff x="1540779" y="2059626"/>
                  <a:chExt cx="6493528" cy="4286471"/>
                </a:xfrm>
              </p:grpSpPr>
              <p:sp>
                <p:nvSpPr>
                  <p:cNvPr id="8" name="Овал 7">
                    <a:extLst>
                      <a:ext uri="{FF2B5EF4-FFF2-40B4-BE49-F238E27FC236}">
                        <a16:creationId xmlns:a16="http://schemas.microsoft.com/office/drawing/2014/main" id="{C1FCA80F-DFFF-433C-1AD6-6916B17247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30434" y="4288533"/>
                    <a:ext cx="199342" cy="199342"/>
                  </a:xfrm>
                  <a:prstGeom prst="ellipse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9" name="Овал 8">
                    <a:extLst>
                      <a:ext uri="{FF2B5EF4-FFF2-40B4-BE49-F238E27FC236}">
                        <a16:creationId xmlns:a16="http://schemas.microsoft.com/office/drawing/2014/main" id="{EB8A66D1-A61A-0B0F-FC85-DEECB55838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725790" y="3642686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3" name="Овал 12">
                    <a:extLst>
                      <a:ext uri="{FF2B5EF4-FFF2-40B4-BE49-F238E27FC236}">
                        <a16:creationId xmlns:a16="http://schemas.microsoft.com/office/drawing/2014/main" id="{1838EA25-5FA4-9318-EB2B-5ECC45F086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729183" y="411838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4" name="Овал 13">
                    <a:extLst>
                      <a:ext uri="{FF2B5EF4-FFF2-40B4-BE49-F238E27FC236}">
                        <a16:creationId xmlns:a16="http://schemas.microsoft.com/office/drawing/2014/main" id="{003BAC40-D4D4-619F-1E19-9A09964058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699989" y="4607416"/>
                    <a:ext cx="199342" cy="199341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5" name="Овал 14">
                    <a:extLst>
                      <a:ext uri="{FF2B5EF4-FFF2-40B4-BE49-F238E27FC236}">
                        <a16:creationId xmlns:a16="http://schemas.microsoft.com/office/drawing/2014/main" id="{09483323-7883-8134-5123-CF8A1BEB76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782290" y="3114226"/>
                    <a:ext cx="199342" cy="199342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6" name="Овал 15">
                    <a:extLst>
                      <a:ext uri="{FF2B5EF4-FFF2-40B4-BE49-F238E27FC236}">
                        <a16:creationId xmlns:a16="http://schemas.microsoft.com/office/drawing/2014/main" id="{5971389C-F34A-484B-EEA8-9C86BBD765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92224" y="3155511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7" name="Овал 16">
                    <a:extLst>
                      <a:ext uri="{FF2B5EF4-FFF2-40B4-BE49-F238E27FC236}">
                        <a16:creationId xmlns:a16="http://schemas.microsoft.com/office/drawing/2014/main" id="{ACC0F18E-E6E3-EEB2-66A7-CD080225CE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965410" y="3830699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8" name="Овал 17">
                    <a:extLst>
                      <a:ext uri="{FF2B5EF4-FFF2-40B4-BE49-F238E27FC236}">
                        <a16:creationId xmlns:a16="http://schemas.microsoft.com/office/drawing/2014/main" id="{FC1573AE-464F-9133-3349-A521952B52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706639" y="5425183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9" name="Овал 18">
                    <a:extLst>
                      <a:ext uri="{FF2B5EF4-FFF2-40B4-BE49-F238E27FC236}">
                        <a16:creationId xmlns:a16="http://schemas.microsoft.com/office/drawing/2014/main" id="{5E5456EE-5525-54C2-75F6-025AEC80BF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108090" y="443912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0" name="Овал 19">
                    <a:extLst>
                      <a:ext uri="{FF2B5EF4-FFF2-40B4-BE49-F238E27FC236}">
                        <a16:creationId xmlns:a16="http://schemas.microsoft.com/office/drawing/2014/main" id="{68314E0D-B5AC-A50B-F18B-2F1E253E8F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818665" y="3364242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24" name="Прямая со стрелкой 23">
                    <a:extLst>
                      <a:ext uri="{FF2B5EF4-FFF2-40B4-BE49-F238E27FC236}">
                        <a16:creationId xmlns:a16="http://schemas.microsoft.com/office/drawing/2014/main" id="{4EC7387D-79C7-98DD-CCF8-585CB99B61DE}"/>
                      </a:ext>
                    </a:extLst>
                  </p:cNvPr>
                  <p:cNvCxnSpPr>
                    <a:cxnSpLocks noChangeAspect="1"/>
                    <a:stCxn id="13" idx="2"/>
                    <a:endCxn id="8" idx="6"/>
                  </p:cNvCxnSpPr>
                  <p:nvPr/>
                </p:nvCxnSpPr>
                <p:spPr>
                  <a:xfrm flipH="1">
                    <a:off x="2029776" y="4218055"/>
                    <a:ext cx="699407" cy="17014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Прямая со стрелкой 25">
                    <a:extLst>
                      <a:ext uri="{FF2B5EF4-FFF2-40B4-BE49-F238E27FC236}">
                        <a16:creationId xmlns:a16="http://schemas.microsoft.com/office/drawing/2014/main" id="{393F31FF-2E79-E42A-9564-E29B6A55EBC3}"/>
                      </a:ext>
                    </a:extLst>
                  </p:cNvPr>
                  <p:cNvCxnSpPr>
                    <a:cxnSpLocks noChangeAspect="1"/>
                    <a:stCxn id="14" idx="2"/>
                    <a:endCxn id="8" idx="5"/>
                  </p:cNvCxnSpPr>
                  <p:nvPr/>
                </p:nvCxnSpPr>
                <p:spPr>
                  <a:xfrm flipH="1" flipV="1">
                    <a:off x="2000583" y="4458682"/>
                    <a:ext cx="699407" cy="24840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Овал 26">
                    <a:extLst>
                      <a:ext uri="{FF2B5EF4-FFF2-40B4-BE49-F238E27FC236}">
                        <a16:creationId xmlns:a16="http://schemas.microsoft.com/office/drawing/2014/main" id="{F524D108-43F8-9A05-4A11-9119EE6409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748724" y="3669051"/>
                    <a:ext cx="199342" cy="199342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8" name="Овал 27">
                    <a:extLst>
                      <a:ext uri="{FF2B5EF4-FFF2-40B4-BE49-F238E27FC236}">
                        <a16:creationId xmlns:a16="http://schemas.microsoft.com/office/drawing/2014/main" id="{3FAACB83-2715-118C-ED1F-CA9853BCB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56497" y="4306294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 dirty="0"/>
                  </a:p>
                </p:txBody>
              </p:sp>
              <p:sp>
                <p:nvSpPr>
                  <p:cNvPr id="29" name="Овал 28">
                    <a:extLst>
                      <a:ext uri="{FF2B5EF4-FFF2-40B4-BE49-F238E27FC236}">
                        <a16:creationId xmlns:a16="http://schemas.microsoft.com/office/drawing/2014/main" id="{CA8683C1-00A4-434B-A11A-08C1EDA124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98842" y="5104574"/>
                    <a:ext cx="199342" cy="199342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1">
                    <a:schemeClr val="accent3"/>
                  </a:lnRef>
                  <a:fillRef idx="3">
                    <a:schemeClr val="accent3"/>
                  </a:fillRef>
                  <a:effectRef idx="2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31" name="Прямая со стрелкой 30">
                    <a:extLst>
                      <a:ext uri="{FF2B5EF4-FFF2-40B4-BE49-F238E27FC236}">
                        <a16:creationId xmlns:a16="http://schemas.microsoft.com/office/drawing/2014/main" id="{B2367DCC-6AC6-5E55-4623-1DC60BEEC361}"/>
                      </a:ext>
                    </a:extLst>
                  </p:cNvPr>
                  <p:cNvCxnSpPr>
                    <a:cxnSpLocks noChangeAspect="1"/>
                    <a:stCxn id="15" idx="2"/>
                    <a:endCxn id="9" idx="7"/>
                  </p:cNvCxnSpPr>
                  <p:nvPr/>
                </p:nvCxnSpPr>
                <p:spPr>
                  <a:xfrm flipH="1">
                    <a:off x="2895939" y="3213897"/>
                    <a:ext cx="886351" cy="45798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Прямая со стрелкой 34">
                    <a:extLst>
                      <a:ext uri="{FF2B5EF4-FFF2-40B4-BE49-F238E27FC236}">
                        <a16:creationId xmlns:a16="http://schemas.microsoft.com/office/drawing/2014/main" id="{15EB3BC5-FB5F-EBF9-FAB3-F17823163FC3}"/>
                      </a:ext>
                    </a:extLst>
                  </p:cNvPr>
                  <p:cNvCxnSpPr>
                    <a:cxnSpLocks noChangeAspect="1"/>
                    <a:stCxn id="28" idx="1"/>
                    <a:endCxn id="9" idx="5"/>
                  </p:cNvCxnSpPr>
                  <p:nvPr/>
                </p:nvCxnSpPr>
                <p:spPr>
                  <a:xfrm flipH="1" flipV="1">
                    <a:off x="2895939" y="3812835"/>
                    <a:ext cx="989751" cy="522652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Прямая со стрелкой 36">
                    <a:extLst>
                      <a:ext uri="{FF2B5EF4-FFF2-40B4-BE49-F238E27FC236}">
                        <a16:creationId xmlns:a16="http://schemas.microsoft.com/office/drawing/2014/main" id="{2A70184E-F5A4-8BB9-1F66-24BE3AEE66E9}"/>
                      </a:ext>
                    </a:extLst>
                  </p:cNvPr>
                  <p:cNvCxnSpPr>
                    <a:cxnSpLocks noChangeAspect="1"/>
                    <a:stCxn id="28" idx="2"/>
                    <a:endCxn id="13" idx="6"/>
                  </p:cNvCxnSpPr>
                  <p:nvPr/>
                </p:nvCxnSpPr>
                <p:spPr>
                  <a:xfrm flipH="1" flipV="1">
                    <a:off x="2928525" y="4218055"/>
                    <a:ext cx="927972" cy="18791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Прямая со стрелкой 38">
                    <a:extLst>
                      <a:ext uri="{FF2B5EF4-FFF2-40B4-BE49-F238E27FC236}">
                        <a16:creationId xmlns:a16="http://schemas.microsoft.com/office/drawing/2014/main" id="{A24769EA-09BB-6C77-F40C-55ACE522EB99}"/>
                      </a:ext>
                    </a:extLst>
                  </p:cNvPr>
                  <p:cNvCxnSpPr>
                    <a:cxnSpLocks noChangeAspect="1"/>
                    <a:stCxn id="29" idx="1"/>
                    <a:endCxn id="13" idx="5"/>
                  </p:cNvCxnSpPr>
                  <p:nvPr/>
                </p:nvCxnSpPr>
                <p:spPr>
                  <a:xfrm flipH="1" flipV="1">
                    <a:off x="2899332" y="4288533"/>
                    <a:ext cx="1028703" cy="845234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Прямая со стрелкой 40">
                    <a:extLst>
                      <a:ext uri="{FF2B5EF4-FFF2-40B4-BE49-F238E27FC236}">
                        <a16:creationId xmlns:a16="http://schemas.microsoft.com/office/drawing/2014/main" id="{FF55E7C7-0703-F1C2-5C2E-7A3C3691D3BD}"/>
                      </a:ext>
                    </a:extLst>
                  </p:cNvPr>
                  <p:cNvCxnSpPr>
                    <a:cxnSpLocks noChangeAspect="1"/>
                    <a:stCxn id="29" idx="2"/>
                    <a:endCxn id="14" idx="5"/>
                  </p:cNvCxnSpPr>
                  <p:nvPr/>
                </p:nvCxnSpPr>
                <p:spPr>
                  <a:xfrm flipH="1" flipV="1">
                    <a:off x="2870139" y="4777565"/>
                    <a:ext cx="1028703" cy="42668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Прямая со стрелкой 42">
                    <a:extLst>
                      <a:ext uri="{FF2B5EF4-FFF2-40B4-BE49-F238E27FC236}">
                        <a16:creationId xmlns:a16="http://schemas.microsoft.com/office/drawing/2014/main" id="{8A08A91E-E9CD-45EC-DE2F-428AE9853385}"/>
                      </a:ext>
                    </a:extLst>
                  </p:cNvPr>
                  <p:cNvCxnSpPr>
                    <a:cxnSpLocks noChangeAspect="1"/>
                    <a:stCxn id="9" idx="2"/>
                    <a:endCxn id="8" idx="7"/>
                  </p:cNvCxnSpPr>
                  <p:nvPr/>
                </p:nvCxnSpPr>
                <p:spPr>
                  <a:xfrm flipH="1">
                    <a:off x="2000583" y="3742357"/>
                    <a:ext cx="725207" cy="57536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A44F852-C042-057C-8DCC-543725AA18C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589191" y="2757340"/>
                    <a:ext cx="873115" cy="3339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8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Эпоха </a:t>
                    </a:r>
                    <a:r>
                      <a:rPr lang="en-US" sz="8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ru-RU" sz="8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3" name="Прямая соединительная линия 52">
                    <a:extLst>
                      <a:ext uri="{FF2B5EF4-FFF2-40B4-BE49-F238E27FC236}">
                        <a16:creationId xmlns:a16="http://schemas.microsoft.com/office/drawing/2014/main" id="{AF94AE1F-9478-C505-0CDB-6FC340C3C6E9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2543235" y="3043931"/>
                    <a:ext cx="0" cy="27622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Прямая соединительная линия 55">
                    <a:extLst>
                      <a:ext uri="{FF2B5EF4-FFF2-40B4-BE49-F238E27FC236}">
                        <a16:creationId xmlns:a16="http://schemas.microsoft.com/office/drawing/2014/main" id="{6E2485E4-EF1E-F39A-809A-3A1DFC2A353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3425885" y="3069331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Прямая со стрелкой 64">
                    <a:extLst>
                      <a:ext uri="{FF2B5EF4-FFF2-40B4-BE49-F238E27FC236}">
                        <a16:creationId xmlns:a16="http://schemas.microsoft.com/office/drawing/2014/main" id="{9CF0FEC6-6F70-78AD-A9F7-BC0819DEE292}"/>
                      </a:ext>
                    </a:extLst>
                  </p:cNvPr>
                  <p:cNvCxnSpPr>
                    <a:cxnSpLocks noChangeAspect="1"/>
                    <a:stCxn id="27" idx="2"/>
                    <a:endCxn id="9" idx="6"/>
                  </p:cNvCxnSpPr>
                  <p:nvPr/>
                </p:nvCxnSpPr>
                <p:spPr>
                  <a:xfrm flipH="1" flipV="1">
                    <a:off x="2925132" y="3742357"/>
                    <a:ext cx="823592" cy="2636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Прямая соединительная линия 70">
                    <a:extLst>
                      <a:ext uri="{FF2B5EF4-FFF2-40B4-BE49-F238E27FC236}">
                        <a16:creationId xmlns:a16="http://schemas.microsoft.com/office/drawing/2014/main" id="{98FEB8AC-4CE5-F434-EB30-8D381D208384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4448235" y="3054632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Прямая со стрелкой 72">
                    <a:extLst>
                      <a:ext uri="{FF2B5EF4-FFF2-40B4-BE49-F238E27FC236}">
                        <a16:creationId xmlns:a16="http://schemas.microsoft.com/office/drawing/2014/main" id="{077E4DAD-4733-EDFC-3A7A-E16C3D8143E1}"/>
                      </a:ext>
                    </a:extLst>
                  </p:cNvPr>
                  <p:cNvCxnSpPr>
                    <a:cxnSpLocks noChangeAspect="1"/>
                    <a:stCxn id="16" idx="2"/>
                    <a:endCxn id="15" idx="6"/>
                  </p:cNvCxnSpPr>
                  <p:nvPr/>
                </p:nvCxnSpPr>
                <p:spPr>
                  <a:xfrm flipH="1" flipV="1">
                    <a:off x="3981632" y="3213897"/>
                    <a:ext cx="910592" cy="4128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Прямая со стрелкой 74">
                    <a:extLst>
                      <a:ext uri="{FF2B5EF4-FFF2-40B4-BE49-F238E27FC236}">
                        <a16:creationId xmlns:a16="http://schemas.microsoft.com/office/drawing/2014/main" id="{81315996-EE89-2D32-DD1F-8DF3234337AA}"/>
                      </a:ext>
                    </a:extLst>
                  </p:cNvPr>
                  <p:cNvCxnSpPr>
                    <a:cxnSpLocks noChangeAspect="1"/>
                    <a:stCxn id="16" idx="3"/>
                    <a:endCxn id="27" idx="7"/>
                  </p:cNvCxnSpPr>
                  <p:nvPr/>
                </p:nvCxnSpPr>
                <p:spPr>
                  <a:xfrm flipH="1">
                    <a:off x="3918873" y="3325660"/>
                    <a:ext cx="1002544" cy="372584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Прямая со стрелкой 76">
                    <a:extLst>
                      <a:ext uri="{FF2B5EF4-FFF2-40B4-BE49-F238E27FC236}">
                        <a16:creationId xmlns:a16="http://schemas.microsoft.com/office/drawing/2014/main" id="{25DB8CBF-BB1A-52F8-FD44-390E68D429CF}"/>
                      </a:ext>
                    </a:extLst>
                  </p:cNvPr>
                  <p:cNvCxnSpPr>
                    <a:cxnSpLocks noChangeAspect="1"/>
                    <a:stCxn id="17" idx="1"/>
                    <a:endCxn id="15" idx="5"/>
                  </p:cNvCxnSpPr>
                  <p:nvPr/>
                </p:nvCxnSpPr>
                <p:spPr>
                  <a:xfrm flipH="1" flipV="1">
                    <a:off x="3952439" y="3284375"/>
                    <a:ext cx="1042164" cy="57551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Прямая со стрелкой 78">
                    <a:extLst>
                      <a:ext uri="{FF2B5EF4-FFF2-40B4-BE49-F238E27FC236}">
                        <a16:creationId xmlns:a16="http://schemas.microsoft.com/office/drawing/2014/main" id="{99906B7E-4C5E-AF9E-3473-BC5929012DED}"/>
                      </a:ext>
                    </a:extLst>
                  </p:cNvPr>
                  <p:cNvCxnSpPr>
                    <a:cxnSpLocks noChangeAspect="1"/>
                    <a:stCxn id="17" idx="2"/>
                    <a:endCxn id="28" idx="7"/>
                  </p:cNvCxnSpPr>
                  <p:nvPr/>
                </p:nvCxnSpPr>
                <p:spPr>
                  <a:xfrm flipH="1">
                    <a:off x="4026646" y="3930370"/>
                    <a:ext cx="938764" cy="40511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Прямая со стрелкой 80">
                    <a:extLst>
                      <a:ext uri="{FF2B5EF4-FFF2-40B4-BE49-F238E27FC236}">
                        <a16:creationId xmlns:a16="http://schemas.microsoft.com/office/drawing/2014/main" id="{71FE8574-066C-BDC9-F82B-390BDD203B89}"/>
                      </a:ext>
                    </a:extLst>
                  </p:cNvPr>
                  <p:cNvCxnSpPr>
                    <a:cxnSpLocks noChangeAspect="1"/>
                    <a:stCxn id="19" idx="2"/>
                    <a:endCxn id="27" idx="6"/>
                  </p:cNvCxnSpPr>
                  <p:nvPr/>
                </p:nvCxnSpPr>
                <p:spPr>
                  <a:xfrm flipH="1" flipV="1">
                    <a:off x="3948066" y="3768722"/>
                    <a:ext cx="1160024" cy="77007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Прямая со стрелкой 82">
                    <a:extLst>
                      <a:ext uri="{FF2B5EF4-FFF2-40B4-BE49-F238E27FC236}">
                        <a16:creationId xmlns:a16="http://schemas.microsoft.com/office/drawing/2014/main" id="{E17C35B1-BE77-4974-69F9-8F3BBAE207B6}"/>
                      </a:ext>
                    </a:extLst>
                  </p:cNvPr>
                  <p:cNvCxnSpPr>
                    <a:cxnSpLocks noChangeAspect="1"/>
                    <a:stCxn id="19" idx="3"/>
                    <a:endCxn id="28" idx="6"/>
                  </p:cNvCxnSpPr>
                  <p:nvPr/>
                </p:nvCxnSpPr>
                <p:spPr>
                  <a:xfrm flipH="1" flipV="1">
                    <a:off x="4055839" y="4405965"/>
                    <a:ext cx="1081444" cy="20330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Прямая со стрелкой 84">
                    <a:extLst>
                      <a:ext uri="{FF2B5EF4-FFF2-40B4-BE49-F238E27FC236}">
                        <a16:creationId xmlns:a16="http://schemas.microsoft.com/office/drawing/2014/main" id="{FCA72804-861E-6DF9-DDF1-D763CD89E01D}"/>
                      </a:ext>
                    </a:extLst>
                  </p:cNvPr>
                  <p:cNvCxnSpPr>
                    <a:cxnSpLocks noChangeAspect="1"/>
                    <a:stCxn id="18" idx="1"/>
                    <a:endCxn id="28" idx="5"/>
                  </p:cNvCxnSpPr>
                  <p:nvPr/>
                </p:nvCxnSpPr>
                <p:spPr>
                  <a:xfrm flipH="1" flipV="1">
                    <a:off x="4026646" y="4476443"/>
                    <a:ext cx="709186" cy="977933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6" name="Прямая соединительная линия 85">
                    <a:extLst>
                      <a:ext uri="{FF2B5EF4-FFF2-40B4-BE49-F238E27FC236}">
                        <a16:creationId xmlns:a16="http://schemas.microsoft.com/office/drawing/2014/main" id="{02DC59C0-2E40-22A7-D49F-60929F45650B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5419785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Прямая со стрелкой 135">
                    <a:extLst>
                      <a:ext uri="{FF2B5EF4-FFF2-40B4-BE49-F238E27FC236}">
                        <a16:creationId xmlns:a16="http://schemas.microsoft.com/office/drawing/2014/main" id="{CB655037-A6ED-FE10-3D03-C0AC2B4F6B83}"/>
                      </a:ext>
                    </a:extLst>
                  </p:cNvPr>
                  <p:cNvCxnSpPr>
                    <a:cxnSpLocks noChangeAspect="1"/>
                    <a:stCxn id="20" idx="2"/>
                    <a:endCxn id="16" idx="6"/>
                  </p:cNvCxnSpPr>
                  <p:nvPr/>
                </p:nvCxnSpPr>
                <p:spPr>
                  <a:xfrm flipH="1" flipV="1">
                    <a:off x="5091566" y="3255182"/>
                    <a:ext cx="727099" cy="208731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Прямая со стрелкой 137">
                    <a:extLst>
                      <a:ext uri="{FF2B5EF4-FFF2-40B4-BE49-F238E27FC236}">
                        <a16:creationId xmlns:a16="http://schemas.microsoft.com/office/drawing/2014/main" id="{B16A5427-6B25-E028-C786-0A3BDAC9CB6F}"/>
                      </a:ext>
                    </a:extLst>
                  </p:cNvPr>
                  <p:cNvCxnSpPr>
                    <a:cxnSpLocks noChangeAspect="1"/>
                    <a:stCxn id="20" idx="3"/>
                    <a:endCxn id="17" idx="6"/>
                  </p:cNvCxnSpPr>
                  <p:nvPr/>
                </p:nvCxnSpPr>
                <p:spPr>
                  <a:xfrm flipH="1">
                    <a:off x="5164752" y="3534391"/>
                    <a:ext cx="683106" cy="39597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Овал 140">
                    <a:extLst>
                      <a:ext uri="{FF2B5EF4-FFF2-40B4-BE49-F238E27FC236}">
                        <a16:creationId xmlns:a16="http://schemas.microsoft.com/office/drawing/2014/main" id="{84B9186E-169B-D602-9D62-9A0CB2C0A0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818665" y="4435285"/>
                    <a:ext cx="199342" cy="199342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143" name="Прямая со стрелкой 142">
                    <a:extLst>
                      <a:ext uri="{FF2B5EF4-FFF2-40B4-BE49-F238E27FC236}">
                        <a16:creationId xmlns:a16="http://schemas.microsoft.com/office/drawing/2014/main" id="{B86C0ABE-136C-7774-0C58-87C061DD0220}"/>
                      </a:ext>
                    </a:extLst>
                  </p:cNvPr>
                  <p:cNvCxnSpPr>
                    <a:cxnSpLocks noChangeAspect="1"/>
                    <a:stCxn id="141" idx="2"/>
                    <a:endCxn id="19" idx="6"/>
                  </p:cNvCxnSpPr>
                  <p:nvPr/>
                </p:nvCxnSpPr>
                <p:spPr>
                  <a:xfrm flipH="1">
                    <a:off x="5307432" y="4534956"/>
                    <a:ext cx="511233" cy="3839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Прямая со стрелкой 144">
                    <a:extLst>
                      <a:ext uri="{FF2B5EF4-FFF2-40B4-BE49-F238E27FC236}">
                        <a16:creationId xmlns:a16="http://schemas.microsoft.com/office/drawing/2014/main" id="{5BC8DE36-4153-0CC2-836D-7DBDC844DD9B}"/>
                      </a:ext>
                    </a:extLst>
                  </p:cNvPr>
                  <p:cNvCxnSpPr>
                    <a:cxnSpLocks noChangeAspect="1"/>
                    <a:stCxn id="141" idx="3"/>
                    <a:endCxn id="18" idx="6"/>
                  </p:cNvCxnSpPr>
                  <p:nvPr/>
                </p:nvCxnSpPr>
                <p:spPr>
                  <a:xfrm flipH="1">
                    <a:off x="4905981" y="4605434"/>
                    <a:ext cx="941877" cy="91942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7" name="Прямоугольник 186">
                    <a:extLst>
                      <a:ext uri="{FF2B5EF4-FFF2-40B4-BE49-F238E27FC236}">
                        <a16:creationId xmlns:a16="http://schemas.microsoft.com/office/drawing/2014/main" id="{C7F18F6C-013E-DCCD-4DB7-F5C089ECC1D3}"/>
                      </a:ext>
                    </a:extLst>
                  </p:cNvPr>
                  <p:cNvSpPr/>
                  <p:nvPr/>
                </p:nvSpPr>
                <p:spPr>
                  <a:xfrm>
                    <a:off x="6353175" y="2059626"/>
                    <a:ext cx="349250" cy="349250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cxnSp>
                <p:nvCxnSpPr>
                  <p:cNvPr id="191" name="Соединитель: изогнутый 190">
                    <a:extLst>
                      <a:ext uri="{FF2B5EF4-FFF2-40B4-BE49-F238E27FC236}">
                        <a16:creationId xmlns:a16="http://schemas.microsoft.com/office/drawing/2014/main" id="{939999F0-0716-9AAB-F27F-2FE9830DC2B1}"/>
                      </a:ext>
                    </a:extLst>
                  </p:cNvPr>
                  <p:cNvCxnSpPr>
                    <a:cxnSpLocks/>
                    <a:stCxn id="187" idx="2"/>
                    <a:endCxn id="20" idx="6"/>
                  </p:cNvCxnSpPr>
                  <p:nvPr/>
                </p:nvCxnSpPr>
                <p:spPr>
                  <a:xfrm rot="5400000">
                    <a:off x="5745386" y="2681498"/>
                    <a:ext cx="1055037" cy="509793"/>
                  </a:xfrm>
                  <a:prstGeom prst="curvedConnector2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Соединитель: изогнутый 192">
                    <a:extLst>
                      <a:ext uri="{FF2B5EF4-FFF2-40B4-BE49-F238E27FC236}">
                        <a16:creationId xmlns:a16="http://schemas.microsoft.com/office/drawing/2014/main" id="{B1BA8CE8-98DA-D48C-4176-D86E9601ED85}"/>
                      </a:ext>
                    </a:extLst>
                  </p:cNvPr>
                  <p:cNvCxnSpPr>
                    <a:cxnSpLocks/>
                    <a:stCxn id="187" idx="2"/>
                    <a:endCxn id="141" idx="6"/>
                  </p:cNvCxnSpPr>
                  <p:nvPr/>
                </p:nvCxnSpPr>
                <p:spPr>
                  <a:xfrm rot="5400000">
                    <a:off x="5209864" y="3217020"/>
                    <a:ext cx="2126080" cy="509793"/>
                  </a:xfrm>
                  <a:prstGeom prst="curvedConnector2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616D30AD-0308-A1AC-4DEF-B9A5CB0BBC3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540779" y="4529160"/>
                    <a:ext cx="789936" cy="5724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Генезис блок</a:t>
                    </a:r>
                  </a:p>
                </p:txBody>
              </p:sp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B997DCD6-254B-89E4-480B-13A18D342ED3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3554235" y="2763842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1</a:t>
                    </a:r>
                  </a:p>
                </p:txBody>
              </p:sp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D555623E-7CC3-C621-160D-3138B0337D8C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4649268" y="2751250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2</a:t>
                    </a:r>
                  </a:p>
                </p:txBody>
              </p:sp>
              <p:sp>
                <p:nvSpPr>
                  <p:cNvPr id="201" name="TextBox 200">
                    <a:extLst>
                      <a:ext uri="{FF2B5EF4-FFF2-40B4-BE49-F238E27FC236}">
                        <a16:creationId xmlns:a16="http://schemas.microsoft.com/office/drawing/2014/main" id="{BED62B7C-BAF5-314A-9762-C1DCDD3924C5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5563048" y="2751250"/>
                    <a:ext cx="684891" cy="230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3</a:t>
                    </a:r>
                  </a:p>
                </p:txBody>
              </p:sp>
              <p:cxnSp>
                <p:nvCxnSpPr>
                  <p:cNvPr id="202" name="Прямая соединительная линия 201">
                    <a:extLst>
                      <a:ext uri="{FF2B5EF4-FFF2-40B4-BE49-F238E27FC236}">
                        <a16:creationId xmlns:a16="http://schemas.microsoft.com/office/drawing/2014/main" id="{37C56F7C-1FA3-5EB7-6436-303A919A7335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247939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" name="Прямая соединительная линия 207">
                    <a:extLst>
                      <a:ext uri="{FF2B5EF4-FFF2-40B4-BE49-F238E27FC236}">
                        <a16:creationId xmlns:a16="http://schemas.microsoft.com/office/drawing/2014/main" id="{03B7E4DE-C366-B899-47B7-703C18A821D2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7057329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" name="Прямая соединительная линия 208">
                    <a:extLst>
                      <a:ext uri="{FF2B5EF4-FFF2-40B4-BE49-F238E27FC236}">
                        <a16:creationId xmlns:a16="http://schemas.microsoft.com/office/drawing/2014/main" id="{6ABA8DDF-29B4-331E-5AB7-09775B79E3E4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7874354" y="2979809"/>
                    <a:ext cx="0" cy="2711446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90AEDD93-115B-8645-F4F4-81D45F1846F1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6938429" y="2667213"/>
                    <a:ext cx="1095878" cy="5724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Финальный слот</a:t>
                    </a:r>
                  </a:p>
                </p:txBody>
              </p:sp>
              <p:sp>
                <p:nvSpPr>
                  <p:cNvPr id="222" name="TextBox 221">
                    <a:extLst>
                      <a:ext uri="{FF2B5EF4-FFF2-40B4-BE49-F238E27FC236}">
                        <a16:creationId xmlns:a16="http://schemas.microsoft.com/office/drawing/2014/main" id="{509DFBF7-C7D7-B0CD-3C70-FCCB7C70239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2625895" y="2763842"/>
                    <a:ext cx="684891" cy="3577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ru-RU" sz="9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Слот 0</a:t>
                    </a:r>
                  </a:p>
                </p:txBody>
              </p:sp>
              <p:sp>
                <p:nvSpPr>
                  <p:cNvPr id="225" name="Овал 224">
                    <a:extLst>
                      <a:ext uri="{FF2B5EF4-FFF2-40B4-BE49-F238E27FC236}">
                        <a16:creationId xmlns:a16="http://schemas.microsoft.com/office/drawing/2014/main" id="{830EE46E-3621-9FA6-E8BF-4A7B5E7BE7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0762" y="6146754"/>
                    <a:ext cx="199342" cy="199341"/>
                  </a:xfrm>
                  <a:prstGeom prst="ellipse">
                    <a:avLst/>
                  </a:prstGeom>
                  <a:ln>
                    <a:solidFill>
                      <a:schemeClr val="accent6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232" name="Овал 231">
                    <a:extLst>
                      <a:ext uri="{FF2B5EF4-FFF2-40B4-BE49-F238E27FC236}">
                        <a16:creationId xmlns:a16="http://schemas.microsoft.com/office/drawing/2014/main" id="{3D55B43C-05DF-5E75-A179-6494DACC3E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881960" y="6146756"/>
                    <a:ext cx="199342" cy="199341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3">
                    <a:schemeClr val="lt1"/>
                  </a:lnRef>
                  <a:fillRef idx="1">
                    <a:schemeClr val="accent6"/>
                  </a:fillRef>
                  <a:effectRef idx="1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</p:grp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4422ECA1-BC9E-8246-A77E-021C27D68C52}"/>
                    </a:ext>
                  </a:extLst>
                </p:cNvPr>
                <p:cNvSpPr txBox="1"/>
                <p:nvPr/>
              </p:nvSpPr>
              <p:spPr>
                <a:xfrm>
                  <a:off x="3916002" y="1396335"/>
                  <a:ext cx="1877849" cy="40549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Блок подтверждения</a:t>
                  </a:r>
                </a:p>
              </p:txBody>
            </p:sp>
          </p:grpSp>
          <p:sp>
            <p:nvSpPr>
              <p:cNvPr id="210" name="Овал 209">
                <a:extLst>
                  <a:ext uri="{FF2B5EF4-FFF2-40B4-BE49-F238E27FC236}">
                    <a16:creationId xmlns:a16="http://schemas.microsoft.com/office/drawing/2014/main" id="{58063199-5CA1-B3BB-A7D6-E994166ED6D9}"/>
                  </a:ext>
                </a:extLst>
              </p:cNvPr>
              <p:cNvSpPr/>
              <p:nvPr/>
            </p:nvSpPr>
            <p:spPr>
              <a:xfrm>
                <a:off x="4203513" y="2777986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2" name="Овал 211">
                <a:extLst>
                  <a:ext uri="{FF2B5EF4-FFF2-40B4-BE49-F238E27FC236}">
                    <a16:creationId xmlns:a16="http://schemas.microsoft.com/office/drawing/2014/main" id="{AD00C0CE-06C2-4765-77F9-C27604B0A509}"/>
                  </a:ext>
                </a:extLst>
              </p:cNvPr>
              <p:cNvSpPr/>
              <p:nvPr/>
            </p:nvSpPr>
            <p:spPr>
              <a:xfrm>
                <a:off x="4549800" y="2777071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3" name="Овал 212">
                <a:extLst>
                  <a:ext uri="{FF2B5EF4-FFF2-40B4-BE49-F238E27FC236}">
                    <a16:creationId xmlns:a16="http://schemas.microsoft.com/office/drawing/2014/main" id="{588EAEA8-CBF3-87B9-DFA2-BA0E586DA9FE}"/>
                  </a:ext>
                </a:extLst>
              </p:cNvPr>
              <p:cNvSpPr/>
              <p:nvPr/>
            </p:nvSpPr>
            <p:spPr>
              <a:xfrm>
                <a:off x="4386129" y="2777986"/>
                <a:ext cx="45720" cy="45720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4" name="TextBox 233">
            <a:extLst>
              <a:ext uri="{FF2B5EF4-FFF2-40B4-BE49-F238E27FC236}">
                <a16:creationId xmlns:a16="http://schemas.microsoft.com/office/drawing/2014/main" id="{76D630C6-288B-79B7-8D76-ECC50C1FB472}"/>
              </a:ext>
            </a:extLst>
          </p:cNvPr>
          <p:cNvSpPr txBox="1"/>
          <p:nvPr/>
        </p:nvSpPr>
        <p:spPr>
          <a:xfrm>
            <a:off x="1426541" y="3826403"/>
            <a:ext cx="14510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транзакция принята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EB70E003-0B26-59D4-A84A-CF2E148B9B45}"/>
              </a:ext>
            </a:extLst>
          </p:cNvPr>
          <p:cNvSpPr txBox="1"/>
          <p:nvPr/>
        </p:nvSpPr>
        <p:spPr>
          <a:xfrm>
            <a:off x="3258920" y="3829438"/>
            <a:ext cx="16209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транзакция отвергнута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45CCF563-430D-04E0-25FB-5E65E45863B1}"/>
              </a:ext>
            </a:extLst>
          </p:cNvPr>
          <p:cNvSpPr txBox="1"/>
          <p:nvPr/>
        </p:nvSpPr>
        <p:spPr>
          <a:xfrm>
            <a:off x="823272" y="1055328"/>
            <a:ext cx="4619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DAG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0611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1231</Words>
  <Application>Microsoft Office PowerPoint</Application>
  <PresentationFormat>Широкоэкранный</PresentationFormat>
  <Paragraphs>157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Цель и задачи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работы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Гартвиг</dc:creator>
  <cp:lastModifiedBy>Роман Гартвиг</cp:lastModifiedBy>
  <cp:revision>7</cp:revision>
  <dcterms:created xsi:type="dcterms:W3CDTF">2026-06-12T12:45:06Z</dcterms:created>
  <dcterms:modified xsi:type="dcterms:W3CDTF">2026-06-14T14:26:24Z</dcterms:modified>
</cp:coreProperties>
</file>