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13" r:id="rId2"/>
    <p:sldId id="304" r:id="rId3"/>
    <p:sldId id="314" r:id="rId4"/>
    <p:sldId id="259" r:id="rId5"/>
    <p:sldId id="308" r:id="rId6"/>
    <p:sldId id="315" r:id="rId7"/>
    <p:sldId id="316" r:id="rId8"/>
    <p:sldId id="317" r:id="rId9"/>
    <p:sldId id="318" r:id="rId10"/>
    <p:sldId id="319" r:id="rId11"/>
    <p:sldId id="320" r:id="rId12"/>
    <p:sldId id="265" r:id="rId13"/>
    <p:sldId id="260" r:id="rId14"/>
    <p:sldId id="267" r:id="rId15"/>
    <p:sldId id="268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474"/>
    <a:srgbClr val="FF5353"/>
    <a:srgbClr val="FB5F5B"/>
    <a:srgbClr val="FFB3B3"/>
    <a:srgbClr val="FF6D6D"/>
    <a:srgbClr val="960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9" autoAdjust="0"/>
    <p:restoredTop sz="85100" autoAdjust="0"/>
  </p:normalViewPr>
  <p:slideViewPr>
    <p:cSldViewPr snapToGrid="0">
      <p:cViewPr varScale="1">
        <p:scale>
          <a:sx n="80" d="100"/>
          <a:sy n="80" d="100"/>
        </p:scale>
        <p:origin x="40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6T19:45:38.44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8958 951 24315,'18'72'0,"-7"1"0,-7 2 0,-7 2 0,-6 1 0,-8 2 0,-6 0 0,-8 2 0,-6 0 0,-6 2 0,-8 0 0,-6 1 0,-7 0 0,-6 0 0,-6 0 0,-7 1 0,-5 0 0,-7-1 0,-5 0 0,-6-1 0,-5 0 0,-6-1 0,-5-1 0,-5-1 0,-4-1 0,-5-1 0,-4-2 0,-5-1 0,-3-2 0,-4-1 0,-3-3 0,-4-1 0,-2-2 0,-3-3 0,-3-2 0,-1-2 0,-3-2 0,-1-3 0,-2-3 0,0-3 0,-2-2 0,0-3 0,-1-3 0,1-3 0,0-3 0,0-3 0,1-3 0,1-3 0,1-4 0,3-3 0,0-3 0,3-3 0,3-4 0,2-3 0,3-4 0,3-3 0,3-3 0,4-4 0,4-3 0,3-3 0,5-3 0,5-4 0,4-3 0,5-3 0,6-4 0,4-2 0,6-4 0,5-3 0,7-2 0,5-4 0,6-2 0,6-3 0,7-3 0,6-2 0,6-3 0,7-2 0,7-2 0,6-3 0,7-1 0,8-3 0,5-2 0,8-1 0,7-2 0,7-2 0,6-1 0,8-1 0,6-2 0,8-1 0,6 0 0,7-2 0,6 0 0,7 0 0,7-1 0,6-1 0,6 1 0,7-1 0,5 1 0,7-1 0,5 2 0,6-1 0,6 1 0,4 1 0,6 1 0,5 1 0,4 1 0,5 2 0,4 0 0,5 2 0,3 2 0,4 2 0,3 1 0,4 2 0,2 3 0,3 1 0,3 3 0,1 2 0,3 3 0,1 2 0,2 2 0,1 4 0,0 2 0,1 3 0,1 3 0,-1 3 0,1 3 0,-2 3 0,0 3 0,-1 3 0,-1 4 0,-2 3 0,-2 3 0,-2 4 0,-3 2 0,-2 5 0,-2 2 0,-4 4 0,-4 3 0,-3 4 0,-3 3 0,-5 3 0,-4 3 0,-5 4 0,-4 3 0,-5 4 0,-5 2 0,-6 4 0,-5 2 0,-5 4 0,-6 2 0,-6 4 0,-7 2 0,-5 3 0,-6 3 0,-7 2 0,-7 3 0,-6 2 0,-7 2 0,-6 3 0,-7 2 0,-7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6T19:45:38.44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11788 2382 24329,'-5'93'0,"-8"1"0,-10-1 0,-9-1 0,-8 0 0,-10 0 0,-8-2 0,-9 0 0,-9-2 0,-9-1 0,-7-1 0,-9-2 0,-8-2 0,-8-1 0,-8-2 0,-8-2 0,-6-3 0,-8-2 0,-7-2 0,-6-2 0,-7-4 0,-6-1 0,-6-4 0,-5-3 0,-6-2 0,-5-4 0,-5-2 0,-4-4 0,-4-4 0,-4-2 0,-4-4 0,-2-3 0,-4-4 0,-2-4 0,-2-3 0,-1-3 0,-3-4 0,0-4 0,-1-4 0,0-3 0,-1-4 0,1-3 0,1-4 0,1-4 0,1-4 0,2-3 0,2-3 0,2-4 0,4-4 0,2-3 0,4-4 0,4-2 0,4-4 0,4-4 0,5-2 0,5-4 0,6-2 0,5-3 0,6-4 0,6-1 0,7-4 0,6-2 0,7-2 0,8-2 0,6-3 0,9-2 0,7-2 0,7-1 0,9-2 0,9-2 0,7-1 0,10-1 0,7-2 0,10 0 0,8-2 0,10 0 0,8 0 0,9-1 0,10-1 0,8 1 0,10-1 0,8 1 0,10 0 0,9 0 0,8 1 0,10 1 0,8 0 0,10 2 0,7 1 0,10 1 0,7 1 0,9 2 0,9 1 0,7 3 0,7 1 0,9 2 0,6 3 0,8 1 0,7 3 0,6 3 0,7 2 0,6 3 0,6 3 0,5 2 0,6 4 0,5 2 0,5 4 0,4 3 0,4 3 0,4 4 0,4 3 0,2 3 0,4 4 0,2 3 0,2 4 0,2 4 0,1 3 0,1 4 0,1 3 0,1 5 0,-1 2 0,0 5 0,-1 3 0,0 4 0,-3 3 0,-1 4 0,-2 4 0,-2 3 0,-4 4 0,-2 3 0,-4 3 0,-4 4 0,-4 3 0,-4 3 0,-5 4 0,-5 2 0,-6 4 0,-5 2 0,-6 3 0,-6 3 0,-7 2 0,-6 3 0,-7 3 0,-8 1 0,-6 3 0,-8 2 0,-8 1 0,-8 3 0,-8 1 0,-9 2 0,-7 1 0,-9 1 0,-9 1 0,-9 2 0,-8 0 0,-10 1 0,-8 1 0,-9 0 0,-10 0 0,-8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BE0503-281F-4035-949A-0ABFD561AF35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812574-09FD-4842-9431-C003EACE96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3306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38529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сравнения использовались важные критерии для инфраструктуры умного города</a:t>
            </a:r>
            <a:r>
              <a:rPr lang="en-US" dirty="0"/>
              <a:t>:</a:t>
            </a:r>
            <a:r>
              <a:rPr lang="ru-RU" dirty="0"/>
              <a:t> скорость подтверждения, требования к памяти, справедливость, масштабируемость, способ финализации и устойчивость к конфликтным атакам. По совокупности этих показателей наиболее подходящей основой стала IOTA 2.0. Среди рассмотренных решений только она сочетает высокую масштабируемость с быстрым подтверждением и справедливым выбором транзакций.</a:t>
            </a:r>
          </a:p>
          <a:p>
            <a:r>
              <a:rPr lang="ru-RU" dirty="0"/>
              <a:t>При этом у IOTA сохраняются две проблемы: вероятностная финализация и постоянный рост истории. Поэтому в разрабатываемой модели механизм консенсуса дополнен детерминированной BFT-финализацией, что позволит безопасно оптимизировать память реестра.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80209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97429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2A76B0B0-8E1A-D396-3FEE-7A6CDF453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>
            <a:extLst>
              <a:ext uri="{FF2B5EF4-FFF2-40B4-BE49-F238E27FC236}">
                <a16:creationId xmlns:a16="http://schemas.microsoft.com/office/drawing/2014/main" id="{371F1774-AC76-E373-795E-E4EE0874E0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>
            <a:extLst>
              <a:ext uri="{FF2B5EF4-FFF2-40B4-BE49-F238E27FC236}">
                <a16:creationId xmlns:a16="http://schemas.microsoft.com/office/drawing/2014/main" id="{D0DCFD4D-319B-8AC7-6577-511EC63E61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367077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01E672C-6AE6-9D8C-74E9-38F22721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>
            <a:extLst>
              <a:ext uri="{FF2B5EF4-FFF2-40B4-BE49-F238E27FC236}">
                <a16:creationId xmlns:a16="http://schemas.microsoft.com/office/drawing/2014/main" id="{B3E0B03A-A768-6B59-88FE-CEF9FE7786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>
            <a:extLst>
              <a:ext uri="{FF2B5EF4-FFF2-40B4-BE49-F238E27FC236}">
                <a16:creationId xmlns:a16="http://schemas.microsoft.com/office/drawing/2014/main" id="{1FC798EF-26FB-4DD7-06E4-7017253E29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16585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722F7005-C8BE-A270-E6C2-E2347A07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>
            <a:extLst>
              <a:ext uri="{FF2B5EF4-FFF2-40B4-BE49-F238E27FC236}">
                <a16:creationId xmlns:a16="http://schemas.microsoft.com/office/drawing/2014/main" id="{5EF13164-5B41-9C1C-F290-2966537D8C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>
            <a:extLst>
              <a:ext uri="{FF2B5EF4-FFF2-40B4-BE49-F238E27FC236}">
                <a16:creationId xmlns:a16="http://schemas.microsoft.com/office/drawing/2014/main" id="{C8831466-F57E-0CC9-8FC5-7E7710CB1D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475414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1FFF1BF-4F47-14E2-8AB0-5DEF58313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>
            <a:extLst>
              <a:ext uri="{FF2B5EF4-FFF2-40B4-BE49-F238E27FC236}">
                <a16:creationId xmlns:a16="http://schemas.microsoft.com/office/drawing/2014/main" id="{5F1C94CB-E75B-845C-91B8-F0F9BE8EC5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>
            <a:extLst>
              <a:ext uri="{FF2B5EF4-FFF2-40B4-BE49-F238E27FC236}">
                <a16:creationId xmlns:a16="http://schemas.microsoft.com/office/drawing/2014/main" id="{0B9A915F-A4FB-99A8-4541-2C618C3C17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42352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79D5D26D-B86D-653E-28A5-E49D11891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>
            <a:extLst>
              <a:ext uri="{FF2B5EF4-FFF2-40B4-BE49-F238E27FC236}">
                <a16:creationId xmlns:a16="http://schemas.microsoft.com/office/drawing/2014/main" id="{7A12C43D-3DE3-5426-CBE8-5FB1ACA2B6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>
            <a:extLst>
              <a:ext uri="{FF2B5EF4-FFF2-40B4-BE49-F238E27FC236}">
                <a16:creationId xmlns:a16="http://schemas.microsoft.com/office/drawing/2014/main" id="{4BF3438A-E255-2760-F215-7B3DD40F6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678387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403E0100-7EB6-255A-E5A2-65C25BD2D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>
            <a:extLst>
              <a:ext uri="{FF2B5EF4-FFF2-40B4-BE49-F238E27FC236}">
                <a16:creationId xmlns:a16="http://schemas.microsoft.com/office/drawing/2014/main" id="{03B48A8A-53A7-EF08-D6A6-BEAFAEDAD7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>
            <a:extLst>
              <a:ext uri="{FF2B5EF4-FFF2-40B4-BE49-F238E27FC236}">
                <a16:creationId xmlns:a16="http://schemas.microsoft.com/office/drawing/2014/main" id="{BA1F7EA1-D9D4-A044-44AD-7E40ED63BA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143100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результате работы на основе сравнительного анализа была выбрана IOTA-подобная архитектура, разработана модель DAG-реестра с BFT-финализацией и ротацией </a:t>
            </a:r>
            <a:r>
              <a:rPr lang="ru-RU" dirty="0" err="1"/>
              <a:t>genesis</a:t>
            </a:r>
            <a:r>
              <a:rPr lang="ru-RU" dirty="0"/>
              <a:t>-состояния, а также реализован программный симулятор для ее экспериментальной оценки.</a:t>
            </a:r>
          </a:p>
          <a:p>
            <a:r>
              <a:rPr lang="ru-RU" dirty="0"/>
              <a:t>Экспериментальная оценка показала, что предложенный механизм позволяет сохранять до десяти раз больше честных транзакций по сравнению с исходным подходом. Сворачивание финализированной истории также ограничивает потребление памяти: вместо постоянного накопления DAG узел хранит текущее состояние и компактные </a:t>
            </a:r>
            <a:r>
              <a:rPr lang="ru-RU" dirty="0" err="1"/>
              <a:t>genesis</a:t>
            </a:r>
            <a:r>
              <a:rPr lang="ru-RU" dirty="0"/>
              <a:t>-блоки эпох.</a:t>
            </a:r>
            <a:br>
              <a:rPr lang="ru-RU" dirty="0"/>
            </a:br>
            <a:r>
              <a:rPr lang="ru-RU" dirty="0"/>
              <a:t>Таким образом, цель работы достигнута: устойчивость DAG-реестра к конфликтной нагрузке повышена за счет BFT-финализации и выбора наиболее значимой ветви, а рост истории ограничен за счет периодического сворачивания состояния.</a:t>
            </a:r>
          </a:p>
          <a:p>
            <a:r>
              <a:rPr lang="ru-RU" dirty="0"/>
              <a:t>Доклад окончен.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68179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42320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3802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7D76DF-C813-61ED-1297-7E3E7A2043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51C45E0-FA8C-063D-0C18-7259E6AE6B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8BE20F-B0A0-2740-149B-97D5062C3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3403B19-1CCF-280F-3187-3D953DE6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83B9ECB-5EC1-F4A8-BDD9-31D86496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3085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7CC923-3A65-5E8C-F89E-C728336F6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D77477-7495-C903-2BFA-F8F35CBFB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3174FB-1A5F-5438-FFDD-95FD35772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8F3D1EC-A6B7-E35F-153B-85E620E53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37D97E-A382-F868-EA8F-B89F9CD38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3972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B97129-D9BE-A168-71C8-1C6015AA0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7BDB7F5-7FD7-DB2D-741A-96B1FCB96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5D815B0-8F0C-B40C-2B3D-197D49639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D6C741-4A20-29B1-FB7A-CE30DEB7D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82185D-9800-F83A-D9B6-301EA2A3D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5031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15EA51-7D3A-B0E9-FFB9-21A0BA90E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42C6BA-963D-8D5F-1F53-3BD6B9EFA5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7D1FD4-0F09-01EF-5A55-4334689495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7AB2E70-D4A3-AC27-4C1D-8EA5023E3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07D66EE-FC1B-9AC2-9CB2-073825CF1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5BBE6B4-4433-9D48-5CAA-EFCF31E50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2687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354F5B-A1E2-0446-4875-89112C98E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9C41774-E389-B4C8-3440-7ADDB8C5EA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92EBF6E-D6CB-7002-3762-6D5438337D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A140B58-5B33-49D0-3067-8BAE774A05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9B8BCE0-5E4B-04AC-B86B-6B6DA8F6D8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23B1E4A-D866-D96B-EBEF-E3D25E0B3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99E02B3-E61E-D2CF-AD8B-AB00A557B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19030E2-1BAB-46C9-C46A-FBF53EEC6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6471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87BAE6-6B52-020F-B637-44C09214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99C2F18-7C39-ABA2-ED41-D68859E58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5698202-E7A7-E0B7-9CAC-B74ECDD3D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FDC53EB-13AE-4DEA-365A-FDCAB8C44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7683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567FD3A-4CA2-4F6C-BE28-460472533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A58AED8-7A02-DC26-A4A1-589211F67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194CDF4-1C85-DFAE-F841-C7336A88A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3896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F992EC-91F1-7DFE-C8B7-2C21003E3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E50E69-BFB8-A98D-3B68-59372EE398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ECE4655-0F9F-C6C4-30C1-2F3037948A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9681654-60A8-5C68-0817-CBF90EEB4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785581-8F13-C543-BBAB-857337233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08A2745-D25C-2F42-BEF2-35B853B2B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88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DC0FC3-0E78-CF21-969C-F944F55B9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6151A78-B63B-8886-D484-0022A22D9C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B470F5C-F758-8764-0FD2-0098AAC8C9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6A0DFD-55F5-075B-1D3F-A6B873C27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C84DDC3-1252-C558-F9C1-660367AB3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E2E8B97-8E00-F0B8-B56A-B974E9B0D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135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C9C9D-9CA3-49F5-3470-3AFEDD99E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6B513B8-807F-61C4-192E-9BB660987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24DE710-9EEC-A8B6-0173-2631B5370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EE616F9-90D4-B35F-9F66-BD5ECE4A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37DAFE3-390B-A650-DFA8-D363ECD7E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630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CF736E8-7F6C-2C8F-8777-70D90D3906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31AF1ED-1998-1295-07AA-E87DD7F57C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7D4EF9-1626-50D2-C96C-74317C694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4C134A-BB80-D574-642A-2552D497C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5F8F8F-F20B-1EDC-23C7-D54F87FDD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990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431257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2BDA5B-4CCB-8C28-167E-6A2459444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947A36C-2E51-CCEA-3946-3ECF7AF9D1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BB87C3F-9C2F-3F44-3DAA-0D515E73F0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55041D-AFA0-4167-A823-8015A2C8AEB3}" type="datetimeFigureOut">
              <a:rPr lang="ru-RU" smtClean="0"/>
              <a:t>16.06.2026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0D3CB0B-C538-54A7-B17B-DF42FAAB1D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6E6886E-55B4-D01B-B097-38EE660D1A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6967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customXml" Target="../ink/ink2.xml"/><Relationship Id="rId5" Type="http://schemas.openxmlformats.org/officeDocument/2006/relationships/image" Target="../media/image50.png"/><Relationship Id="rId4" Type="http://schemas.openxmlformats.org/officeDocument/2006/relationships/customXml" Target="../ink/ink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9;p15">
            <a:extLst>
              <a:ext uri="{FF2B5EF4-FFF2-40B4-BE49-F238E27FC236}">
                <a16:creationId xmlns:a16="http://schemas.microsoft.com/office/drawing/2014/main" id="{A42C6F69-B8DE-41E7-9B60-ADD87BBF939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82333" b="71437"/>
          <a:stretch/>
        </p:blipFill>
        <p:spPr>
          <a:xfrm>
            <a:off x="10036613" y="1"/>
            <a:ext cx="2153920" cy="19588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AF816B5-970A-4BE8-B678-283DF194DD99}"/>
              </a:ext>
            </a:extLst>
          </p:cNvPr>
          <p:cNvSpPr txBox="1">
            <a:spLocks/>
          </p:cNvSpPr>
          <p:nvPr/>
        </p:nvSpPr>
        <p:spPr>
          <a:xfrm>
            <a:off x="35198" y="212215"/>
            <a:ext cx="11695847" cy="1013988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Министерство науки и высшего образования Российской Федерации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Санкт-Петербургский политехнический университет Петра Великого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tx1">
                    <a:lumMod val="85000"/>
                    <a:lumOff val="15000"/>
                  </a:schemeClr>
                </a:solidFill>
                <a:cs typeface="Times New Roman" panose="02020603050405020304" pitchFamily="18" charset="0"/>
              </a:rPr>
              <a:t>Институт компьютерных наук и кибербезопасности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tx1">
                    <a:lumMod val="85000"/>
                    <a:lumOff val="15000"/>
                  </a:schemeClr>
                </a:solidFill>
                <a:cs typeface="Times New Roman" panose="02020603050405020304" pitchFamily="18" charset="0"/>
              </a:rPr>
              <a:t>Высшая школа кибербезопасности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26A98E-AA32-4CB7-A520-A4602A4266FA}"/>
              </a:ext>
            </a:extLst>
          </p:cNvPr>
          <p:cNvSpPr txBox="1"/>
          <p:nvPr/>
        </p:nvSpPr>
        <p:spPr>
          <a:xfrm>
            <a:off x="4205212" y="6217045"/>
            <a:ext cx="3355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Санкт-Петербург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 </a:t>
            </a:r>
            <a:r>
              <a:rPr lang="ru-RU" sz="2400" dirty="0"/>
              <a:t>2026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8F66C265-ADAD-3D5F-FEA0-ACBB4BB469A3}"/>
              </a:ext>
            </a:extLst>
          </p:cNvPr>
          <p:cNvSpPr txBox="1">
            <a:spLocks/>
          </p:cNvSpPr>
          <p:nvPr/>
        </p:nvSpPr>
        <p:spPr>
          <a:xfrm>
            <a:off x="280643" y="1438416"/>
            <a:ext cx="11362267" cy="18069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20" tIns="60960" rIns="121920" bIns="6096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24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457200" marR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20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914400" marR="0" lvl="2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371600" marR="0" lvl="3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828800" marR="0" lvl="4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2286000" marR="0" lvl="5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743200" marR="0" lvl="6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200400" marR="0" lvl="7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3657600" marR="0" lvl="8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r>
              <a:rPr lang="ru-RU" sz="2800" b="1" dirty="0"/>
              <a:t>Разработка модели DAG-реестра с ограниченным ростом потребления памяти с сохранением безопасной финализацией записей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D6563127-9149-B8BD-CA1D-97EFB8F937F2}"/>
              </a:ext>
            </a:extLst>
          </p:cNvPr>
          <p:cNvSpPr txBox="1">
            <a:spLocks/>
          </p:cNvSpPr>
          <p:nvPr/>
        </p:nvSpPr>
        <p:spPr>
          <a:xfrm>
            <a:off x="2385051" y="3704862"/>
            <a:ext cx="8203480" cy="20526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24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457200" marR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20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914400" marR="0" lvl="2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371600" marR="0" lvl="3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828800" marR="0" lvl="4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2286000" marR="0" lvl="5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743200" marR="0" lvl="6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200400" marR="0" lvl="7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3657600" marR="0" lvl="8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Выполнил</a:t>
            </a: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студент группы 5151001/20202				Р.А. Гартвиг</a:t>
            </a: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endParaRPr lang="ru-RU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endParaRPr lang="ru-RU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Профессор ВШК ИКНК, </a:t>
            </a: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д.т.н., профессор					М.О. Калинин</a:t>
            </a: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endParaRPr lang="ru-RU" sz="12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8436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4D480884-56A4-710F-52B8-D2B0ED47F5F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2</a:t>
            </a:fld>
            <a:endParaRPr lang="ru" sz="3733" b="1" dirty="0"/>
          </a:p>
        </p:txBody>
      </p:sp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B36081DD-8653-BB6D-A3B8-A91B6E1D1597}"/>
              </a:ext>
            </a:extLst>
          </p:cNvPr>
          <p:cNvSpPr txBox="1">
            <a:spLocks/>
          </p:cNvSpPr>
          <p:nvPr/>
        </p:nvSpPr>
        <p:spPr>
          <a:xfrm>
            <a:off x="1442296" y="168007"/>
            <a:ext cx="9113945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3733" dirty="0"/>
              <a:t>Актуальность</a:t>
            </a:r>
            <a:endParaRPr lang="en-US" sz="3733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C5DE2AB-D774-B471-C206-965F2F4A90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36" y="1186692"/>
            <a:ext cx="5056338" cy="183395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C4CE62-01AD-5688-7762-5919A7067B51}"/>
              </a:ext>
            </a:extLst>
          </p:cNvPr>
          <p:cNvSpPr txBox="1"/>
          <p:nvPr/>
        </p:nvSpPr>
        <p:spPr>
          <a:xfrm>
            <a:off x="5716701" y="1451686"/>
            <a:ext cx="609731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Технология Блокчейн ограничена пропускной способностью записей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Справедливость (порядок записей) определяют майнеры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EC516B-6466-08DE-BC25-B654796EC45F}"/>
              </a:ext>
            </a:extLst>
          </p:cNvPr>
          <p:cNvSpPr txBox="1"/>
          <p:nvPr/>
        </p:nvSpPr>
        <p:spPr>
          <a:xfrm>
            <a:off x="2246389" y="2671176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Блокчейн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DA439-8A9A-8741-D6A3-33AEECE66C2B}"/>
              </a:ext>
            </a:extLst>
          </p:cNvPr>
          <p:cNvSpPr txBox="1"/>
          <p:nvPr/>
        </p:nvSpPr>
        <p:spPr>
          <a:xfrm>
            <a:off x="6176282" y="3480338"/>
            <a:ext cx="609731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Неконтролируемый рост реестра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Отсутствия линейного порядка записей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Уязвимость к атакам конфликтующими записями, при которой теряется часть честных записей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6E31836-C8EB-273C-F18C-58FB28B4B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836" y="3376067"/>
            <a:ext cx="5733884" cy="17354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4690014-3268-15BA-1DA7-6846B4B61ABC}"/>
              </a:ext>
            </a:extLst>
          </p:cNvPr>
          <p:cNvSpPr txBox="1"/>
          <p:nvPr/>
        </p:nvSpPr>
        <p:spPr>
          <a:xfrm>
            <a:off x="2848183" y="4742222"/>
            <a:ext cx="601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DAG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63143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8C3201F-69A0-F0AB-99FD-3A1A5D324A4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3</a:t>
            </a:fld>
            <a:endParaRPr lang="ru" sz="3733" b="1" dirty="0"/>
          </a:p>
        </p:txBody>
      </p:sp>
      <p:sp>
        <p:nvSpPr>
          <p:cNvPr id="8" name="Заголовок 3">
            <a:extLst>
              <a:ext uri="{FF2B5EF4-FFF2-40B4-BE49-F238E27FC236}">
                <a16:creationId xmlns:a16="http://schemas.microsoft.com/office/drawing/2014/main" id="{B831C427-677A-F25E-F281-0E4281F9720C}"/>
              </a:ext>
            </a:extLst>
          </p:cNvPr>
          <p:cNvSpPr txBox="1">
            <a:spLocks/>
          </p:cNvSpPr>
          <p:nvPr/>
        </p:nvSpPr>
        <p:spPr>
          <a:xfrm>
            <a:off x="1442296" y="168007"/>
            <a:ext cx="9113945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3733" dirty="0"/>
              <a:t>Цель и задачи</a:t>
            </a:r>
            <a:endParaRPr lang="en-US" sz="3733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C973CB-FAF0-0BCC-4F9F-7B15C2CBA846}"/>
              </a:ext>
            </a:extLst>
          </p:cNvPr>
          <p:cNvSpPr txBox="1"/>
          <p:nvPr/>
        </p:nvSpPr>
        <p:spPr>
          <a:xfrm>
            <a:off x="459452" y="1024814"/>
            <a:ext cx="90540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Цель – уменьшить объем расходуемой памяти в модели DAG-реестра с сохранением безопасной финализацией записей в условиях атаки конфликтной нагрузки.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20AED2-B1DA-5888-2E81-EFFDBB58D7A4}"/>
              </a:ext>
            </a:extLst>
          </p:cNvPr>
          <p:cNvSpPr txBox="1"/>
          <p:nvPr/>
        </p:nvSpPr>
        <p:spPr>
          <a:xfrm>
            <a:off x="459452" y="2191872"/>
            <a:ext cx="1139599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Задачи: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Провести сравнительный анализ существующих моделей DAG-реестр и выбрать наиболее подходящую основу для дальнейшей разработки, а также определить ограничения выбранной модели, необходимо которые устранить для выполнения целей работы.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Разработать модель DAG-реестра со сверткой генезис-состояния с сохранением безопасной финализацией записей.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Реализовать эмулятор разработанной модели DAG-реестра и провести экспериментальную оценку разработанной модели при различных режимах атак конфликтными записями.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389BF2-75A2-E52A-317F-9F28CA74EBB2}"/>
              </a:ext>
            </a:extLst>
          </p:cNvPr>
          <p:cNvSpPr txBox="1"/>
          <p:nvPr/>
        </p:nvSpPr>
        <p:spPr>
          <a:xfrm>
            <a:off x="1763035" y="115577"/>
            <a:ext cx="109737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latin typeface="Arial"/>
                <a:cs typeface="Arial"/>
              </a:rPr>
              <a:t>Сравнительный анализ моделей </a:t>
            </a:r>
            <a:r>
              <a:rPr lang="en-US" sz="2800" dirty="0">
                <a:solidFill>
                  <a:srgbClr val="000000"/>
                </a:solidFill>
                <a:latin typeface="Arial"/>
                <a:cs typeface="Arial"/>
              </a:rPr>
              <a:t>DAG-</a:t>
            </a:r>
            <a:r>
              <a:rPr lang="ru-RU" sz="2800" dirty="0">
                <a:solidFill>
                  <a:srgbClr val="000000"/>
                </a:solidFill>
                <a:latin typeface="Arial"/>
                <a:cs typeface="Arial"/>
              </a:rPr>
              <a:t>реестров</a:t>
            </a:r>
            <a:endParaRPr lang="ru-RU" sz="2800" dirty="0"/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4305F5D6-62E6-CDC7-3843-9FD06979CD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443251"/>
              </p:ext>
            </p:extLst>
          </p:nvPr>
        </p:nvGraphicFramePr>
        <p:xfrm>
          <a:off x="323850" y="756623"/>
          <a:ext cx="11252199" cy="37798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61325">
                  <a:extLst>
                    <a:ext uri="{9D8B030D-6E8A-4147-A177-3AD203B41FA5}">
                      <a16:colId xmlns:a16="http://schemas.microsoft.com/office/drawing/2014/main" val="742047641"/>
                    </a:ext>
                  </a:extLst>
                </a:gridCol>
                <a:gridCol w="1329109">
                  <a:extLst>
                    <a:ext uri="{9D8B030D-6E8A-4147-A177-3AD203B41FA5}">
                      <a16:colId xmlns:a16="http://schemas.microsoft.com/office/drawing/2014/main" val="3473091614"/>
                    </a:ext>
                  </a:extLst>
                </a:gridCol>
                <a:gridCol w="1301276">
                  <a:extLst>
                    <a:ext uri="{9D8B030D-6E8A-4147-A177-3AD203B41FA5}">
                      <a16:colId xmlns:a16="http://schemas.microsoft.com/office/drawing/2014/main" val="1264935123"/>
                    </a:ext>
                  </a:extLst>
                </a:gridCol>
                <a:gridCol w="1551788">
                  <a:extLst>
                    <a:ext uri="{9D8B030D-6E8A-4147-A177-3AD203B41FA5}">
                      <a16:colId xmlns:a16="http://schemas.microsoft.com/office/drawing/2014/main" val="626882272"/>
                    </a:ext>
                  </a:extLst>
                </a:gridCol>
                <a:gridCol w="1537870">
                  <a:extLst>
                    <a:ext uri="{9D8B030D-6E8A-4147-A177-3AD203B41FA5}">
                      <a16:colId xmlns:a16="http://schemas.microsoft.com/office/drawing/2014/main" val="602310863"/>
                    </a:ext>
                  </a:extLst>
                </a:gridCol>
                <a:gridCol w="1349788">
                  <a:extLst>
                    <a:ext uri="{9D8B030D-6E8A-4147-A177-3AD203B41FA5}">
                      <a16:colId xmlns:a16="http://schemas.microsoft.com/office/drawing/2014/main" val="967050573"/>
                    </a:ext>
                  </a:extLst>
                </a:gridCol>
                <a:gridCol w="1211008">
                  <a:extLst>
                    <a:ext uri="{9D8B030D-6E8A-4147-A177-3AD203B41FA5}">
                      <a16:colId xmlns:a16="http://schemas.microsoft.com/office/drawing/2014/main" val="2026323202"/>
                    </a:ext>
                  </a:extLst>
                </a:gridCol>
                <a:gridCol w="1510035">
                  <a:extLst>
                    <a:ext uri="{9D8B030D-6E8A-4147-A177-3AD203B41FA5}">
                      <a16:colId xmlns:a16="http://schemas.microsoft.com/office/drawing/2014/main" val="928738771"/>
                    </a:ext>
                  </a:extLst>
                </a:gridCol>
              </a:tblGrid>
              <a:tr h="1322431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Модель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Скорость подтверждения записей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Требование к памяти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Справедливость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Масштабируемость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Консенсус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Можно ли безопасно удалять историю?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Защита от атаки спам конфликтами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337036"/>
                  </a:ext>
                </a:extLst>
              </a:tr>
              <a:tr h="61436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IOTA 2.0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Высокие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Голосование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Средняя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904812"/>
                  </a:ext>
                </a:extLst>
              </a:tr>
              <a:tr h="61436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Hashgraph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Высокие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Низкая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BFT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Да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Высокая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59429"/>
                  </a:ext>
                </a:extLst>
              </a:tr>
              <a:tr h="61436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BlockDAG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Высокие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Низкая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Средняя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Голосование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Средняя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484264"/>
                  </a:ext>
                </a:extLst>
              </a:tr>
              <a:tr h="61436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Avalanche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Высокие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Низкая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Средняя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Голосование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Нет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Средняя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746072"/>
                  </a:ext>
                </a:extLst>
              </a:tr>
            </a:tbl>
          </a:graphicData>
        </a:graphic>
      </p:graphicFrame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811BB6-11B4-BFAF-1C70-794AF70393EA}"/>
              </a:ext>
            </a:extLst>
          </p:cNvPr>
          <p:cNvSpPr/>
          <p:nvPr/>
        </p:nvSpPr>
        <p:spPr>
          <a:xfrm>
            <a:off x="126999" y="2103106"/>
            <a:ext cx="11645900" cy="622300"/>
          </a:xfrm>
          <a:prstGeom prst="rect">
            <a:avLst/>
          </a:prstGeom>
          <a:noFill/>
          <a:ln w="3492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F444AB-B0B6-45CB-070A-6C74C2286C30}"/>
              </a:ext>
            </a:extLst>
          </p:cNvPr>
          <p:cNvSpPr txBox="1"/>
          <p:nvPr/>
        </p:nvSpPr>
        <p:spPr>
          <a:xfrm>
            <a:off x="323849" y="4564875"/>
            <a:ext cx="11645899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Голосование — это способ, при котором валидаторы обмениваются мнениями и вместе решают, считать запись правильной или нет.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BFT — это способ, позволяющий реестру прийти к общему решению без прямого голосования, даже если часть валидаторов ошибается или действует нечестно.</a:t>
            </a:r>
            <a:endParaRPr lang="ru-RU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7EE36948-DB0C-B8E9-FA09-040CFCEBE62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/>
          </a:bodyPr>
          <a:lstStyle/>
          <a:p>
            <a:fld id="{00000000-1234-1234-1234-123412341234}" type="slidenum">
              <a:rPr lang="ru" sz="3733" b="1"/>
              <a:pPr/>
              <a:t>4</a:t>
            </a:fld>
            <a:endParaRPr lang="ru" sz="3733" b="1" dirty="0"/>
          </a:p>
        </p:txBody>
      </p:sp>
    </p:spTree>
    <p:extLst>
      <p:ext uri="{BB962C8B-B14F-4D97-AF65-F5344CB8AC3E}">
        <p14:creationId xmlns:p14="http://schemas.microsoft.com/office/powerpoint/2010/main" val="1624106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4D480884-56A4-710F-52B8-D2B0ED47F5F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5</a:t>
            </a:fld>
            <a:endParaRPr lang="ru" sz="3733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640AB4-04FB-B577-7528-733E11BE2640}"/>
              </a:ext>
            </a:extLst>
          </p:cNvPr>
          <p:cNvSpPr txBox="1"/>
          <p:nvPr/>
        </p:nvSpPr>
        <p:spPr>
          <a:xfrm>
            <a:off x="1169277" y="356671"/>
            <a:ext cx="98534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latin typeface="Arial"/>
                <a:cs typeface="Arial"/>
              </a:rPr>
              <a:t>Вывод сравнительного анализа моделей </a:t>
            </a:r>
            <a:r>
              <a:rPr lang="en-US" sz="2800" dirty="0">
                <a:solidFill>
                  <a:srgbClr val="000000"/>
                </a:solidFill>
                <a:latin typeface="Arial"/>
                <a:cs typeface="Arial"/>
              </a:rPr>
              <a:t>DAG-</a:t>
            </a:r>
            <a:r>
              <a:rPr lang="ru-RU" sz="2800" dirty="0">
                <a:solidFill>
                  <a:srgbClr val="000000"/>
                </a:solidFill>
                <a:latin typeface="Arial"/>
                <a:cs typeface="Arial"/>
              </a:rPr>
              <a:t>реестров</a:t>
            </a:r>
            <a:endParaRPr lang="ru-RU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2949F-A5F6-7F4F-5E01-D6C23E5CF998}"/>
              </a:ext>
            </a:extLst>
          </p:cNvPr>
          <p:cNvSpPr txBox="1"/>
          <p:nvPr/>
        </p:nvSpPr>
        <p:spPr>
          <a:xfrm>
            <a:off x="422704" y="1876363"/>
            <a:ext cx="11144249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2400" dirty="0"/>
              <a:t>Вывод</a:t>
            </a:r>
            <a:r>
              <a:rPr lang="en-US" sz="2400" dirty="0"/>
              <a:t>: </a:t>
            </a:r>
            <a:r>
              <a:rPr lang="ru-RU" sz="2400" dirty="0"/>
              <a:t>в качестве прототипа была выбрана IOTA-подобная модель DAG-реестра, так как данная модель обладает высокой </a:t>
            </a:r>
            <a:r>
              <a:rPr lang="ru-RU" sz="2400" b="1" u="sng" dirty="0"/>
              <a:t>масштабируемостью</a:t>
            </a:r>
            <a:r>
              <a:rPr lang="ru-RU" sz="2400" dirty="0"/>
              <a:t>, </a:t>
            </a:r>
            <a:r>
              <a:rPr lang="ru-RU" sz="2400" b="1" u="sng" dirty="0"/>
              <a:t>скоростью</a:t>
            </a:r>
            <a:r>
              <a:rPr lang="ru-RU" sz="2400" dirty="0"/>
              <a:t> подтверждения записей и </a:t>
            </a:r>
            <a:r>
              <a:rPr lang="ru-RU" sz="2400" b="1" u="sng" dirty="0"/>
              <a:t>справедливостью</a:t>
            </a:r>
            <a:r>
              <a:rPr lang="ru-RU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D9587-4AB1-1ED1-1BD5-E0C816A0430B}"/>
              </a:ext>
            </a:extLst>
          </p:cNvPr>
          <p:cNvSpPr txBox="1"/>
          <p:nvPr/>
        </p:nvSpPr>
        <p:spPr>
          <a:xfrm>
            <a:off x="422704" y="3301708"/>
            <a:ext cx="11144249" cy="1569660"/>
          </a:xfrm>
          <a:prstGeom prst="rect">
            <a:avLst/>
          </a:prstGeom>
          <a:solidFill>
            <a:srgbClr val="FF7474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2400" dirty="0"/>
              <a:t>Недостатки прототипа </a:t>
            </a:r>
            <a:r>
              <a:rPr lang="en-US" sz="2400" dirty="0"/>
              <a:t>IOTA 2.0</a:t>
            </a:r>
            <a:r>
              <a:rPr lang="ru-RU" sz="2400" dirty="0"/>
              <a:t>, необходимо которые устранить</a:t>
            </a:r>
            <a:r>
              <a:rPr lang="en-US" sz="2400" dirty="0"/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/>
              <a:t>Большая потеря транзакций при атаке конфликтными записями.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/>
              <a:t>Долгая финализация записей.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DAG</a:t>
            </a:r>
            <a:r>
              <a:rPr lang="ru-RU" sz="2400" dirty="0"/>
              <a:t>-реестр растет быстро из-за чего быстро растет потребление памяти.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2A921B-295E-19E8-8EA6-94E8E2C4D170}"/>
              </a:ext>
            </a:extLst>
          </p:cNvPr>
          <p:cNvSpPr txBox="1"/>
          <p:nvPr/>
        </p:nvSpPr>
        <p:spPr>
          <a:xfrm>
            <a:off x="422704" y="5023687"/>
            <a:ext cx="11144249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2400" dirty="0"/>
              <a:t>Предлагаемые решения недостатков прототипа</a:t>
            </a:r>
            <a:r>
              <a:rPr lang="en-US" sz="2400" dirty="0"/>
              <a:t>:</a:t>
            </a:r>
            <a:r>
              <a:rPr lang="ru-RU" sz="2400" dirty="0"/>
              <a:t> использование в финализации </a:t>
            </a:r>
            <a:r>
              <a:rPr lang="en-US" sz="2400" dirty="0" err="1"/>
              <a:t>PoS</a:t>
            </a:r>
            <a:r>
              <a:rPr lang="en-US" sz="2400" dirty="0"/>
              <a:t>-BFT-</a:t>
            </a:r>
            <a:r>
              <a:rPr lang="ru-RU" sz="2400" dirty="0"/>
              <a:t>Голосование</a:t>
            </a:r>
          </a:p>
        </p:txBody>
      </p:sp>
    </p:spTree>
    <p:extLst>
      <p:ext uri="{BB962C8B-B14F-4D97-AF65-F5344CB8AC3E}">
        <p14:creationId xmlns:p14="http://schemas.microsoft.com/office/powerpoint/2010/main" val="93052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>
          <a:extLst>
            <a:ext uri="{FF2B5EF4-FFF2-40B4-BE49-F238E27FC236}">
              <a16:creationId xmlns:a16="http://schemas.microsoft.com/office/drawing/2014/main" id="{25AE6B55-5EA6-FFF3-75F2-2CB793195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683808B3-97C7-1EC7-2B81-B01C3C7F4B9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6</a:t>
            </a:fld>
            <a:endParaRPr lang="ru" sz="3733" b="1" dirty="0"/>
          </a:p>
        </p:txBody>
      </p:sp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CD2E8FBA-82E2-2624-91B3-56E6267C4699}"/>
              </a:ext>
            </a:extLst>
          </p:cNvPr>
          <p:cNvSpPr txBox="1">
            <a:spLocks/>
          </p:cNvSpPr>
          <p:nvPr/>
        </p:nvSpPr>
        <p:spPr>
          <a:xfrm>
            <a:off x="2603841" y="91564"/>
            <a:ext cx="10003955" cy="98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dirty="0">
                <a:solidFill>
                  <a:srgbClr val="000000"/>
                </a:solidFill>
              </a:rPr>
              <a:t>Разработанная модель </a:t>
            </a:r>
            <a:r>
              <a:rPr lang="en-US" dirty="0">
                <a:solidFill>
                  <a:srgbClr val="000000"/>
                </a:solidFill>
              </a:rPr>
              <a:t>DAG</a:t>
            </a:r>
            <a:r>
              <a:rPr lang="ru-RU" dirty="0">
                <a:solidFill>
                  <a:srgbClr val="000000"/>
                </a:solidFill>
              </a:rPr>
              <a:t>-реестра</a:t>
            </a:r>
            <a:endParaRPr lang="ru-RU" dirty="0"/>
          </a:p>
        </p:txBody>
      </p:sp>
      <p:sp>
        <p:nvSpPr>
          <p:cNvPr id="2" name="Стрелка: вправо 1">
            <a:extLst>
              <a:ext uri="{FF2B5EF4-FFF2-40B4-BE49-F238E27FC236}">
                <a16:creationId xmlns:a16="http://schemas.microsoft.com/office/drawing/2014/main" id="{5A4189D3-3C2E-723A-56FF-4C725BB9007D}"/>
              </a:ext>
            </a:extLst>
          </p:cNvPr>
          <p:cNvSpPr/>
          <p:nvPr/>
        </p:nvSpPr>
        <p:spPr>
          <a:xfrm>
            <a:off x="5076279" y="2755900"/>
            <a:ext cx="821159" cy="4635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671F20BA-E620-870C-37A3-887FFA1F6C32}"/>
              </a:ext>
            </a:extLst>
          </p:cNvPr>
          <p:cNvGrpSpPr/>
          <p:nvPr/>
        </p:nvGrpSpPr>
        <p:grpSpPr>
          <a:xfrm>
            <a:off x="6036180" y="1873851"/>
            <a:ext cx="6095999" cy="2396000"/>
            <a:chOff x="5928888" y="1238050"/>
            <a:chExt cx="5959979" cy="2286200"/>
          </a:xfrm>
        </p:grpSpPr>
        <p:pic>
          <p:nvPicPr>
            <p:cNvPr id="4" name="Рисунок 3">
              <a:extLst>
                <a:ext uri="{FF2B5EF4-FFF2-40B4-BE49-F238E27FC236}">
                  <a16:creationId xmlns:a16="http://schemas.microsoft.com/office/drawing/2014/main" id="{A2857D82-EFC4-4674-2E79-FB11414C7D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28888" y="1238050"/>
              <a:ext cx="5959979" cy="22862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ECF69445-DB2E-5FCA-43FA-F247AC9739C6}"/>
                </a:ext>
              </a:extLst>
            </p:cNvPr>
            <p:cNvSpPr/>
            <p:nvPr/>
          </p:nvSpPr>
          <p:spPr>
            <a:xfrm>
              <a:off x="6113038" y="2895499"/>
              <a:ext cx="1041553" cy="514351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Генезис состояние</a:t>
              </a:r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2FC369BD-FE50-74BB-EF79-757E017FA93A}"/>
                </a:ext>
              </a:extLst>
            </p:cNvPr>
            <p:cNvSpPr/>
            <p:nvPr/>
          </p:nvSpPr>
          <p:spPr>
            <a:xfrm>
              <a:off x="6113038" y="1282700"/>
              <a:ext cx="1016000" cy="3048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Эпоха 0</a:t>
              </a:r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9B27745B-19CA-25DF-054F-2894BF365B1E}"/>
                </a:ext>
              </a:extLst>
            </p:cNvPr>
            <p:cNvSpPr/>
            <p:nvPr/>
          </p:nvSpPr>
          <p:spPr>
            <a:xfrm>
              <a:off x="7598938" y="1282700"/>
              <a:ext cx="1016000" cy="3048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Эпоха 1</a:t>
              </a:r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F00D99E2-EF33-8C04-0C58-5B23844A8A65}"/>
                </a:ext>
              </a:extLst>
            </p:cNvPr>
            <p:cNvSpPr/>
            <p:nvPr/>
          </p:nvSpPr>
          <p:spPr>
            <a:xfrm>
              <a:off x="9021338" y="1282700"/>
              <a:ext cx="1016000" cy="3048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Эпоха 2</a:t>
              </a:r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3CA2A8E3-1775-EC8A-6936-7E091836F0E0}"/>
                </a:ext>
              </a:extLst>
            </p:cNvPr>
            <p:cNvSpPr/>
            <p:nvPr/>
          </p:nvSpPr>
          <p:spPr>
            <a:xfrm>
              <a:off x="10568067" y="1282700"/>
              <a:ext cx="1016000" cy="3048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Эпоха 3</a:t>
              </a:r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CBCAFAC6-9D13-06BC-2303-6E62656D117E}"/>
                </a:ext>
              </a:extLst>
            </p:cNvPr>
            <p:cNvSpPr/>
            <p:nvPr/>
          </p:nvSpPr>
          <p:spPr>
            <a:xfrm>
              <a:off x="7573383" y="2895499"/>
              <a:ext cx="1041553" cy="514351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Генезис состояние</a:t>
              </a: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712A4237-7672-EA67-40AF-FC82BEA3FF55}"/>
                </a:ext>
              </a:extLst>
            </p:cNvPr>
            <p:cNvSpPr/>
            <p:nvPr/>
          </p:nvSpPr>
          <p:spPr>
            <a:xfrm>
              <a:off x="9021338" y="2895499"/>
              <a:ext cx="1041553" cy="514351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Генезис состояние</a:t>
              </a: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303D3F4B-64BF-3E73-A2BE-2EED707AB885}"/>
                </a:ext>
              </a:extLst>
            </p:cNvPr>
            <p:cNvSpPr/>
            <p:nvPr/>
          </p:nvSpPr>
          <p:spPr>
            <a:xfrm>
              <a:off x="10568067" y="2895499"/>
              <a:ext cx="1041553" cy="514351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Генезис состояние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CF56BCA-3195-8982-27FC-65AD16A7D9CC}"/>
              </a:ext>
            </a:extLst>
          </p:cNvPr>
          <p:cNvSpPr txBox="1"/>
          <p:nvPr/>
        </p:nvSpPr>
        <p:spPr>
          <a:xfrm>
            <a:off x="79918" y="4307606"/>
            <a:ext cx="570597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dirty="0"/>
              <a:t>Запись считается подтвержденной, когда на нее сослалось </a:t>
            </a:r>
            <a:r>
              <a:rPr lang="en-US" dirty="0"/>
              <a:t>&gt;</a:t>
            </a:r>
            <a:r>
              <a:rPr lang="ru-RU" dirty="0"/>
              <a:t> </a:t>
            </a:r>
            <a:r>
              <a:rPr lang="en-US" dirty="0"/>
              <a:t>2/3 </a:t>
            </a:r>
            <a:r>
              <a:rPr lang="ru-RU" dirty="0"/>
              <a:t>блоков подтверждения</a:t>
            </a:r>
            <a:br>
              <a:rPr lang="ru-RU" dirty="0"/>
            </a:br>
            <a:endParaRPr lang="ru-RU" dirty="0"/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dirty="0"/>
              <a:t>После финализации запись может  быть либо в статусе </a:t>
            </a:r>
            <a:r>
              <a:rPr lang="en-US" dirty="0"/>
              <a:t>“</a:t>
            </a:r>
            <a:r>
              <a:rPr lang="ru-RU" dirty="0"/>
              <a:t>принята</a:t>
            </a:r>
            <a:r>
              <a:rPr lang="en-US" dirty="0"/>
              <a:t>” </a:t>
            </a:r>
            <a:r>
              <a:rPr lang="ru-RU" dirty="0"/>
              <a:t>либо в статусе </a:t>
            </a:r>
            <a:r>
              <a:rPr lang="en-US" dirty="0"/>
              <a:t>“</a:t>
            </a:r>
            <a:r>
              <a:rPr lang="ru-RU" dirty="0"/>
              <a:t>отвергнута</a:t>
            </a:r>
            <a:r>
              <a:rPr lang="en-US" dirty="0"/>
              <a:t>”</a:t>
            </a:r>
            <a:br>
              <a:rPr lang="ru-RU" dirty="0"/>
            </a:br>
            <a:endParaRPr lang="ru-RU" dirty="0"/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dirty="0"/>
              <a:t>В случае, если в одному слоту две записи используют одни и те же средства, конфликт решается через </a:t>
            </a:r>
            <a:r>
              <a:rPr lang="en-US" dirty="0"/>
              <a:t>BFT</a:t>
            </a: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BA21D8-D291-6B7A-0864-4BD54CA8519F}"/>
              </a:ext>
            </a:extLst>
          </p:cNvPr>
          <p:cNvSpPr txBox="1"/>
          <p:nvPr/>
        </p:nvSpPr>
        <p:spPr>
          <a:xfrm>
            <a:off x="5930541" y="4440342"/>
            <a:ext cx="57059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en-US" dirty="0"/>
              <a:t>DAG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привязанный к старому генезис-состоянию, можно удалить после перехода на новый генезис</a:t>
            </a: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4001E834-646B-724E-1975-D3E32DE360C3}"/>
              </a:ext>
            </a:extLst>
          </p:cNvPr>
          <p:cNvSpPr/>
          <p:nvPr/>
        </p:nvSpPr>
        <p:spPr>
          <a:xfrm>
            <a:off x="4192894" y="1012064"/>
            <a:ext cx="2514838" cy="823336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Сворачивания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DAG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-реестра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с помощью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ru-RU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014752FC-5A47-07A7-352B-174DC66E0A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775" y="1873851"/>
            <a:ext cx="4806133" cy="23762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725031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>
          <a:extLst>
            <a:ext uri="{FF2B5EF4-FFF2-40B4-BE49-F238E27FC236}">
              <a16:creationId xmlns:a16="http://schemas.microsoft.com/office/drawing/2014/main" id="{E3CA4F50-AD52-6C62-B9FC-4DC56E5B4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DD2CE01A-EEA7-CA22-9888-63B38F7BCE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7</a:t>
            </a:fld>
            <a:endParaRPr lang="ru" sz="3733" b="1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3946C28-3FB3-4EC6-3395-051B6B5486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4418" y="780813"/>
            <a:ext cx="7073835" cy="3901999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BD1E5FC-7328-BD65-1C20-68C1DE945E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97" y="4585650"/>
            <a:ext cx="2539667" cy="18675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9581C34-8C8E-41EE-2EA1-9E1EBC39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4567" y="4077650"/>
            <a:ext cx="3048831" cy="1702291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6" name="Соединитель: уступ 5">
            <a:extLst>
              <a:ext uri="{FF2B5EF4-FFF2-40B4-BE49-F238E27FC236}">
                <a16:creationId xmlns:a16="http://schemas.microsoft.com/office/drawing/2014/main" id="{C9FC7ABC-EB39-9117-2829-D3179B8406CA}"/>
              </a:ext>
            </a:extLst>
          </p:cNvPr>
          <p:cNvCxnSpPr>
            <a:cxnSpLocks/>
            <a:endCxn id="4" idx="0"/>
          </p:cNvCxnSpPr>
          <p:nvPr/>
        </p:nvCxnSpPr>
        <p:spPr>
          <a:xfrm rot="10800000" flipV="1">
            <a:off x="2275532" y="3777054"/>
            <a:ext cx="2687461" cy="808595"/>
          </a:xfrm>
          <a:prstGeom prst="bentConnector2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EAE73C66-2658-85B6-2C5A-D899CD116EE9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5830249" y="4436828"/>
            <a:ext cx="0" cy="245984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Соединитель: уступ 7">
            <a:extLst>
              <a:ext uri="{FF2B5EF4-FFF2-40B4-BE49-F238E27FC236}">
                <a16:creationId xmlns:a16="http://schemas.microsoft.com/office/drawing/2014/main" id="{0A4EE36E-FB9E-1E5C-76E9-35CE93A0BD8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860306" y="3805689"/>
            <a:ext cx="2858677" cy="271961"/>
          </a:xfrm>
          <a:prstGeom prst="bentConnector2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38ECE6A-D7DC-76FF-5CFB-F0EF6CE8CAF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5104" y="4682812"/>
            <a:ext cx="3330290" cy="20071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D58EE449-CD5D-B2F8-333F-AFA0762D1B14}"/>
              </a:ext>
            </a:extLst>
          </p:cNvPr>
          <p:cNvSpPr txBox="1">
            <a:spLocks/>
          </p:cNvSpPr>
          <p:nvPr/>
        </p:nvSpPr>
        <p:spPr>
          <a:xfrm>
            <a:off x="677416" y="89388"/>
            <a:ext cx="10003955" cy="98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dirty="0">
                <a:solidFill>
                  <a:srgbClr val="000000"/>
                </a:solidFill>
              </a:rPr>
              <a:t>Архитектура эмулятора модели </a:t>
            </a:r>
            <a:r>
              <a:rPr lang="en-US" dirty="0">
                <a:solidFill>
                  <a:srgbClr val="000000"/>
                </a:solidFill>
              </a:rPr>
              <a:t>DAG-</a:t>
            </a:r>
            <a:r>
              <a:rPr lang="ru-RU" dirty="0">
                <a:solidFill>
                  <a:srgbClr val="000000"/>
                </a:solidFill>
              </a:rPr>
              <a:t>реестра</a:t>
            </a:r>
            <a:endParaRPr lang="ru-RU" dirty="0"/>
          </a:p>
          <a:p>
            <a:pPr algn="ctr"/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26656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>
          <a:extLst>
            <a:ext uri="{FF2B5EF4-FFF2-40B4-BE49-F238E27FC236}">
              <a16:creationId xmlns:a16="http://schemas.microsoft.com/office/drawing/2014/main" id="{413B9FD4-7821-6DBD-94A7-20B9B0CF1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A7DD6039-A063-1D37-BDC1-7B2421B0F2E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8</a:t>
            </a:fld>
            <a:endParaRPr lang="ru" sz="3733" b="1" dirty="0"/>
          </a:p>
        </p:txBody>
      </p:sp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CD6D23C2-F4B4-0314-E257-A2D7DE0B0812}"/>
              </a:ext>
            </a:extLst>
          </p:cNvPr>
          <p:cNvSpPr txBox="1">
            <a:spLocks/>
          </p:cNvSpPr>
          <p:nvPr/>
        </p:nvSpPr>
        <p:spPr>
          <a:xfrm>
            <a:off x="552287" y="168006"/>
            <a:ext cx="10003955" cy="98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endParaRPr lang="en-US" sz="36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D43943E-AAEF-B177-3342-65C8A1EBB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3103" y="1156677"/>
            <a:ext cx="7797549" cy="46897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Заголовок 3">
            <a:extLst>
              <a:ext uri="{FF2B5EF4-FFF2-40B4-BE49-F238E27FC236}">
                <a16:creationId xmlns:a16="http://schemas.microsoft.com/office/drawing/2014/main" id="{F04A0151-F288-97AB-FF21-6EE034A14F28}"/>
              </a:ext>
            </a:extLst>
          </p:cNvPr>
          <p:cNvSpPr txBox="1">
            <a:spLocks/>
          </p:cNvSpPr>
          <p:nvPr/>
        </p:nvSpPr>
        <p:spPr>
          <a:xfrm>
            <a:off x="677416" y="89388"/>
            <a:ext cx="10003955" cy="98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dirty="0">
                <a:solidFill>
                  <a:srgbClr val="000000"/>
                </a:solidFill>
              </a:rPr>
              <a:t>Сравнение роста памяти в разных распределенных реестрах</a:t>
            </a:r>
            <a:endParaRPr lang="ru-RU" dirty="0"/>
          </a:p>
          <a:p>
            <a:pPr algn="ctr"/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9074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>
          <a:extLst>
            <a:ext uri="{FF2B5EF4-FFF2-40B4-BE49-F238E27FC236}">
              <a16:creationId xmlns:a16="http://schemas.microsoft.com/office/drawing/2014/main" id="{3E72831E-94A3-BFA9-3B45-D23BB911F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8A4C310E-ECEF-C317-C6B5-4F72A817F0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9</a:t>
            </a:fld>
            <a:endParaRPr lang="ru" sz="3733" b="1" dirty="0"/>
          </a:p>
        </p:txBody>
      </p:sp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CC7F0E63-BF86-6DE7-934F-45787C7834A0}"/>
              </a:ext>
            </a:extLst>
          </p:cNvPr>
          <p:cNvSpPr txBox="1">
            <a:spLocks/>
          </p:cNvSpPr>
          <p:nvPr/>
        </p:nvSpPr>
        <p:spPr>
          <a:xfrm>
            <a:off x="1187554" y="115577"/>
            <a:ext cx="10003955" cy="98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3600" dirty="0">
                <a:solidFill>
                  <a:srgbClr val="000000"/>
                </a:solidFill>
              </a:rPr>
              <a:t>Атака конфликтующими транзакциями</a:t>
            </a:r>
            <a:endParaRPr lang="ru-RU" sz="3600" dirty="0"/>
          </a:p>
          <a:p>
            <a:pPr algn="ctr"/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F196FA-30A3-CFFA-40FA-24A357E81325}"/>
              </a:ext>
            </a:extLst>
          </p:cNvPr>
          <p:cNvSpPr txBox="1"/>
          <p:nvPr/>
        </p:nvSpPr>
        <p:spPr>
          <a:xfrm>
            <a:off x="1898018" y="5100452"/>
            <a:ext cx="719309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В реализованной модели конфликты разрешаются через </a:t>
            </a:r>
            <a:r>
              <a:rPr lang="en-US" sz="2000" dirty="0"/>
              <a:t>BFT</a:t>
            </a:r>
            <a:br>
              <a:rPr lang="ru-RU" sz="2000" dirty="0"/>
            </a:br>
            <a:endParaRPr lang="en-US" sz="2000" dirty="0"/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Конфликты упорядочиваются по следующему порядку</a:t>
            </a:r>
            <a:r>
              <a:rPr lang="en-US" sz="2000" dirty="0"/>
              <a:t>: </a:t>
            </a:r>
            <a:r>
              <a:rPr lang="ru-RU" sz="2000" i="1" dirty="0"/>
              <a:t>слот, поддержка и хэш</a:t>
            </a: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7DAF215A-1C76-E15F-A84F-79ECAF467C8E}"/>
              </a:ext>
            </a:extLst>
          </p:cNvPr>
          <p:cNvGrpSpPr/>
          <p:nvPr/>
        </p:nvGrpSpPr>
        <p:grpSpPr>
          <a:xfrm>
            <a:off x="1900457" y="994194"/>
            <a:ext cx="7763123" cy="4014229"/>
            <a:chOff x="167393" y="939433"/>
            <a:chExt cx="7267492" cy="4238045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CA2D5EA3-121B-DC4D-0C41-69802ED7CDA2}"/>
                </a:ext>
              </a:extLst>
            </p:cNvPr>
            <p:cNvGrpSpPr/>
            <p:nvPr/>
          </p:nvGrpSpPr>
          <p:grpSpPr>
            <a:xfrm>
              <a:off x="167393" y="939433"/>
              <a:ext cx="7267492" cy="4238045"/>
              <a:chOff x="143539" y="1082557"/>
              <a:chExt cx="7267492" cy="4238045"/>
            </a:xfrm>
          </p:grpSpPr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FB309C2F-5538-C6BC-3C20-DC6B72247C35}"/>
                  </a:ext>
                </a:extLst>
              </p:cNvPr>
              <p:cNvSpPr/>
              <p:nvPr/>
            </p:nvSpPr>
            <p:spPr>
              <a:xfrm>
                <a:off x="143539" y="1082557"/>
                <a:ext cx="7267492" cy="423804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12" name="Группа 11">
                <a:extLst>
                  <a:ext uri="{FF2B5EF4-FFF2-40B4-BE49-F238E27FC236}">
                    <a16:creationId xmlns:a16="http://schemas.microsoft.com/office/drawing/2014/main" id="{77C046E7-7ADE-FFD9-A7B6-C67AEFF2D4E3}"/>
                  </a:ext>
                </a:extLst>
              </p:cNvPr>
              <p:cNvGrpSpPr/>
              <p:nvPr/>
            </p:nvGrpSpPr>
            <p:grpSpPr>
              <a:xfrm>
                <a:off x="553564" y="1277983"/>
                <a:ext cx="6096000" cy="3389432"/>
                <a:chOff x="720541" y="1635792"/>
                <a:chExt cx="8292977" cy="4298088"/>
              </a:xfrm>
            </p:grpSpPr>
            <p:sp>
              <p:nvSpPr>
                <p:cNvPr id="13" name="Овал 12">
                  <a:extLst>
                    <a:ext uri="{FF2B5EF4-FFF2-40B4-BE49-F238E27FC236}">
                      <a16:creationId xmlns:a16="http://schemas.microsoft.com/office/drawing/2014/main" id="{8A1A84DD-D8BB-FF09-3258-7302E7C9101A}"/>
                    </a:ext>
                  </a:extLst>
                </p:cNvPr>
                <p:cNvSpPr/>
                <p:nvPr/>
              </p:nvSpPr>
              <p:spPr>
                <a:xfrm>
                  <a:off x="720541" y="4156866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4" name="Овал 13">
                  <a:extLst>
                    <a:ext uri="{FF2B5EF4-FFF2-40B4-BE49-F238E27FC236}">
                      <a16:creationId xmlns:a16="http://schemas.microsoft.com/office/drawing/2014/main" id="{24BEEF07-3071-A46A-9EDC-09EB5827A4F7}"/>
                    </a:ext>
                  </a:extLst>
                </p:cNvPr>
                <p:cNvSpPr/>
                <p:nvPr/>
              </p:nvSpPr>
              <p:spPr>
                <a:xfrm>
                  <a:off x="1633964" y="3180021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5" name="Овал 14">
                  <a:extLst>
                    <a:ext uri="{FF2B5EF4-FFF2-40B4-BE49-F238E27FC236}">
                      <a16:creationId xmlns:a16="http://schemas.microsoft.com/office/drawing/2014/main" id="{AC456649-11FD-40BC-F2EA-CA7D3F4CB1BC}"/>
                    </a:ext>
                  </a:extLst>
                </p:cNvPr>
                <p:cNvSpPr/>
                <p:nvPr/>
              </p:nvSpPr>
              <p:spPr>
                <a:xfrm>
                  <a:off x="1787711" y="4041000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8" name="Овал 17">
                  <a:extLst>
                    <a:ext uri="{FF2B5EF4-FFF2-40B4-BE49-F238E27FC236}">
                      <a16:creationId xmlns:a16="http://schemas.microsoft.com/office/drawing/2014/main" id="{29216B9A-2EF9-F922-272C-28820E487F81}"/>
                    </a:ext>
                  </a:extLst>
                </p:cNvPr>
                <p:cNvSpPr/>
                <p:nvPr/>
              </p:nvSpPr>
              <p:spPr>
                <a:xfrm>
                  <a:off x="2598696" y="2936495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9" name="Овал 18">
                  <a:extLst>
                    <a:ext uri="{FF2B5EF4-FFF2-40B4-BE49-F238E27FC236}">
                      <a16:creationId xmlns:a16="http://schemas.microsoft.com/office/drawing/2014/main" id="{DAB2FE28-82DA-8758-CF1C-0205CF89EE11}"/>
                    </a:ext>
                  </a:extLst>
                </p:cNvPr>
                <p:cNvSpPr/>
                <p:nvPr/>
              </p:nvSpPr>
              <p:spPr>
                <a:xfrm>
                  <a:off x="1662636" y="5077158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20" name="Овал 19">
                  <a:extLst>
                    <a:ext uri="{FF2B5EF4-FFF2-40B4-BE49-F238E27FC236}">
                      <a16:creationId xmlns:a16="http://schemas.microsoft.com/office/drawing/2014/main" id="{EEBEDCA1-A9BA-52E9-ABF0-441FA026C9F4}"/>
                    </a:ext>
                  </a:extLst>
                </p:cNvPr>
                <p:cNvSpPr/>
                <p:nvPr/>
              </p:nvSpPr>
              <p:spPr>
                <a:xfrm>
                  <a:off x="2679702" y="3776027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21" name="Прямая со стрелкой 20">
                  <a:extLst>
                    <a:ext uri="{FF2B5EF4-FFF2-40B4-BE49-F238E27FC236}">
                      <a16:creationId xmlns:a16="http://schemas.microsoft.com/office/drawing/2014/main" id="{791D8E0E-FC1D-7536-E054-DCEE6DEF36B0}"/>
                    </a:ext>
                  </a:extLst>
                </p:cNvPr>
                <p:cNvCxnSpPr>
                  <a:stCxn id="14" idx="2"/>
                  <a:endCxn id="13" idx="7"/>
                </p:cNvCxnSpPr>
                <p:nvPr/>
              </p:nvCxnSpPr>
              <p:spPr>
                <a:xfrm flipH="1">
                  <a:off x="1019590" y="3355200"/>
                  <a:ext cx="614374" cy="85297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Прямая со стрелкой 21">
                  <a:extLst>
                    <a:ext uri="{FF2B5EF4-FFF2-40B4-BE49-F238E27FC236}">
                      <a16:creationId xmlns:a16="http://schemas.microsoft.com/office/drawing/2014/main" id="{C5FD7FB2-D367-EDDB-2FCE-3ACF903D2B0B}"/>
                    </a:ext>
                  </a:extLst>
                </p:cNvPr>
                <p:cNvCxnSpPr>
                  <a:stCxn id="15" idx="3"/>
                  <a:endCxn id="13" idx="6"/>
                </p:cNvCxnSpPr>
                <p:nvPr/>
              </p:nvCxnSpPr>
              <p:spPr>
                <a:xfrm flipH="1" flipV="1">
                  <a:off x="1070899" y="4332045"/>
                  <a:ext cx="768121" cy="80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Прямая со стрелкой 22">
                  <a:extLst>
                    <a:ext uri="{FF2B5EF4-FFF2-40B4-BE49-F238E27FC236}">
                      <a16:creationId xmlns:a16="http://schemas.microsoft.com/office/drawing/2014/main" id="{909991DA-109A-F37D-FF90-643978DB582E}"/>
                    </a:ext>
                  </a:extLst>
                </p:cNvPr>
                <p:cNvCxnSpPr>
                  <a:stCxn id="19" idx="1"/>
                  <a:endCxn id="13" idx="5"/>
                </p:cNvCxnSpPr>
                <p:nvPr/>
              </p:nvCxnSpPr>
              <p:spPr>
                <a:xfrm flipH="1" flipV="1">
                  <a:off x="1019590" y="4455915"/>
                  <a:ext cx="694355" cy="67255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Прямая со стрелкой 23">
                  <a:extLst>
                    <a:ext uri="{FF2B5EF4-FFF2-40B4-BE49-F238E27FC236}">
                      <a16:creationId xmlns:a16="http://schemas.microsoft.com/office/drawing/2014/main" id="{E620F686-B6F8-6C91-F548-082D561C7785}"/>
                    </a:ext>
                  </a:extLst>
                </p:cNvPr>
                <p:cNvCxnSpPr>
                  <a:stCxn id="18" idx="2"/>
                  <a:endCxn id="14" idx="7"/>
                </p:cNvCxnSpPr>
                <p:nvPr/>
              </p:nvCxnSpPr>
              <p:spPr>
                <a:xfrm flipH="1">
                  <a:off x="1933013" y="3111674"/>
                  <a:ext cx="665683" cy="11965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Прямая со стрелкой 24">
                  <a:extLst>
                    <a:ext uri="{FF2B5EF4-FFF2-40B4-BE49-F238E27FC236}">
                      <a16:creationId xmlns:a16="http://schemas.microsoft.com/office/drawing/2014/main" id="{251E97C5-4A91-722E-5863-B08E219B0391}"/>
                    </a:ext>
                  </a:extLst>
                </p:cNvPr>
                <p:cNvCxnSpPr>
                  <a:stCxn id="20" idx="2"/>
                  <a:endCxn id="14" idx="5"/>
                </p:cNvCxnSpPr>
                <p:nvPr/>
              </p:nvCxnSpPr>
              <p:spPr>
                <a:xfrm flipH="1" flipV="1">
                  <a:off x="1933013" y="3479070"/>
                  <a:ext cx="746689" cy="47213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Прямая со стрелкой 25">
                  <a:extLst>
                    <a:ext uri="{FF2B5EF4-FFF2-40B4-BE49-F238E27FC236}">
                      <a16:creationId xmlns:a16="http://schemas.microsoft.com/office/drawing/2014/main" id="{8C7F2653-D5AA-973C-606C-8C95B06B5DAC}"/>
                    </a:ext>
                  </a:extLst>
                </p:cNvPr>
                <p:cNvCxnSpPr>
                  <a:stCxn id="20" idx="3"/>
                  <a:endCxn id="15" idx="6"/>
                </p:cNvCxnSpPr>
                <p:nvPr/>
              </p:nvCxnSpPr>
              <p:spPr>
                <a:xfrm flipH="1">
                  <a:off x="2138069" y="4075076"/>
                  <a:ext cx="592942" cy="14110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Прямая со стрелкой 26">
                  <a:extLst>
                    <a:ext uri="{FF2B5EF4-FFF2-40B4-BE49-F238E27FC236}">
                      <a16:creationId xmlns:a16="http://schemas.microsoft.com/office/drawing/2014/main" id="{E0B6B971-CA89-CB13-F33D-46FB28BE6A4D}"/>
                    </a:ext>
                  </a:extLst>
                </p:cNvPr>
                <p:cNvCxnSpPr>
                  <a:stCxn id="18" idx="4"/>
                  <a:endCxn id="15" idx="7"/>
                </p:cNvCxnSpPr>
                <p:nvPr/>
              </p:nvCxnSpPr>
              <p:spPr>
                <a:xfrm flipH="1">
                  <a:off x="2086760" y="3286853"/>
                  <a:ext cx="687115" cy="80545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Прямая со стрелкой 27">
                  <a:extLst>
                    <a:ext uri="{FF2B5EF4-FFF2-40B4-BE49-F238E27FC236}">
                      <a16:creationId xmlns:a16="http://schemas.microsoft.com/office/drawing/2014/main" id="{D7935EA0-4C43-9B95-6F5D-40B24D1EDC69}"/>
                    </a:ext>
                  </a:extLst>
                </p:cNvPr>
                <p:cNvCxnSpPr>
                  <a:stCxn id="20" idx="4"/>
                  <a:endCxn id="19" idx="7"/>
                </p:cNvCxnSpPr>
                <p:nvPr/>
              </p:nvCxnSpPr>
              <p:spPr>
                <a:xfrm flipH="1">
                  <a:off x="1961685" y="4126385"/>
                  <a:ext cx="893196" cy="100208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" name="Овал 28">
                  <a:extLst>
                    <a:ext uri="{FF2B5EF4-FFF2-40B4-BE49-F238E27FC236}">
                      <a16:creationId xmlns:a16="http://schemas.microsoft.com/office/drawing/2014/main" id="{07B2ECC4-192C-8ADA-9581-C024B478B88E}"/>
                    </a:ext>
                  </a:extLst>
                </p:cNvPr>
                <p:cNvSpPr/>
                <p:nvPr/>
              </p:nvSpPr>
              <p:spPr>
                <a:xfrm>
                  <a:off x="4063969" y="3180021"/>
                  <a:ext cx="350358" cy="350358"/>
                </a:xfrm>
                <a:prstGeom prst="ellipse">
                  <a:avLst/>
                </a:prstGeom>
                <a:pattFill prst="ltUpDiag">
                  <a:fgClr>
                    <a:srgbClr val="9608C8"/>
                  </a:fgClr>
                  <a:bgClr>
                    <a:schemeClr val="bg1"/>
                  </a:bgClr>
                </a:patt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30" name="Овал 29">
                  <a:extLst>
                    <a:ext uri="{FF2B5EF4-FFF2-40B4-BE49-F238E27FC236}">
                      <a16:creationId xmlns:a16="http://schemas.microsoft.com/office/drawing/2014/main" id="{6E48AAF9-7871-5B0C-3AEA-345719D3F77E}"/>
                    </a:ext>
                  </a:extLst>
                </p:cNvPr>
                <p:cNvSpPr/>
                <p:nvPr/>
              </p:nvSpPr>
              <p:spPr>
                <a:xfrm>
                  <a:off x="3888790" y="4481153"/>
                  <a:ext cx="350358" cy="350358"/>
                </a:xfrm>
                <a:prstGeom prst="ellipse">
                  <a:avLst/>
                </a:prstGeom>
                <a:pattFill prst="ltUpDiag">
                  <a:fgClr>
                    <a:schemeClr val="accent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31" name="Прямая со стрелкой 30">
                  <a:extLst>
                    <a:ext uri="{FF2B5EF4-FFF2-40B4-BE49-F238E27FC236}">
                      <a16:creationId xmlns:a16="http://schemas.microsoft.com/office/drawing/2014/main" id="{DFBC3F97-0023-2AE3-5E37-1FFC964A149F}"/>
                    </a:ext>
                  </a:extLst>
                </p:cNvPr>
                <p:cNvCxnSpPr>
                  <a:stCxn id="29" idx="2"/>
                  <a:endCxn id="18" idx="6"/>
                </p:cNvCxnSpPr>
                <p:nvPr/>
              </p:nvCxnSpPr>
              <p:spPr>
                <a:xfrm flipH="1" flipV="1">
                  <a:off x="2949054" y="3111674"/>
                  <a:ext cx="1114915" cy="24352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Прямая со стрелкой 31">
                  <a:extLst>
                    <a:ext uri="{FF2B5EF4-FFF2-40B4-BE49-F238E27FC236}">
                      <a16:creationId xmlns:a16="http://schemas.microsoft.com/office/drawing/2014/main" id="{5A82273F-A60D-4E84-C10A-A79A8C7B4EA6}"/>
                    </a:ext>
                  </a:extLst>
                </p:cNvPr>
                <p:cNvCxnSpPr>
                  <a:stCxn id="29" idx="3"/>
                  <a:endCxn id="20" idx="6"/>
                </p:cNvCxnSpPr>
                <p:nvPr/>
              </p:nvCxnSpPr>
              <p:spPr>
                <a:xfrm flipH="1">
                  <a:off x="3030060" y="3479070"/>
                  <a:ext cx="1085218" cy="47213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Прямая со стрелкой 32">
                  <a:extLst>
                    <a:ext uri="{FF2B5EF4-FFF2-40B4-BE49-F238E27FC236}">
                      <a16:creationId xmlns:a16="http://schemas.microsoft.com/office/drawing/2014/main" id="{6AC3B499-0619-D447-2834-24F54873DDF4}"/>
                    </a:ext>
                  </a:extLst>
                </p:cNvPr>
                <p:cNvCxnSpPr>
                  <a:stCxn id="30" idx="1"/>
                  <a:endCxn id="20" idx="6"/>
                </p:cNvCxnSpPr>
                <p:nvPr/>
              </p:nvCxnSpPr>
              <p:spPr>
                <a:xfrm flipH="1" flipV="1">
                  <a:off x="3030060" y="3951206"/>
                  <a:ext cx="910039" cy="58125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Прямая со стрелкой 33">
                  <a:extLst>
                    <a:ext uri="{FF2B5EF4-FFF2-40B4-BE49-F238E27FC236}">
                      <a16:creationId xmlns:a16="http://schemas.microsoft.com/office/drawing/2014/main" id="{696D7D29-D8A7-DDA7-5DF3-205FD01ABCDD}"/>
                    </a:ext>
                  </a:extLst>
                </p:cNvPr>
                <p:cNvCxnSpPr>
                  <a:stCxn id="30" idx="2"/>
                  <a:endCxn id="19" idx="6"/>
                </p:cNvCxnSpPr>
                <p:nvPr/>
              </p:nvCxnSpPr>
              <p:spPr>
                <a:xfrm flipH="1">
                  <a:off x="2012994" y="4656332"/>
                  <a:ext cx="1875796" cy="59600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Овал 34">
                  <a:extLst>
                    <a:ext uri="{FF2B5EF4-FFF2-40B4-BE49-F238E27FC236}">
                      <a16:creationId xmlns:a16="http://schemas.microsoft.com/office/drawing/2014/main" id="{2BCAFFEF-0E6E-28C4-0B0E-638C9C991427}"/>
                    </a:ext>
                  </a:extLst>
                </p:cNvPr>
                <p:cNvSpPr/>
                <p:nvPr/>
              </p:nvSpPr>
              <p:spPr>
                <a:xfrm>
                  <a:off x="5040966" y="4264620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36" name="Овал 35">
                  <a:extLst>
                    <a:ext uri="{FF2B5EF4-FFF2-40B4-BE49-F238E27FC236}">
                      <a16:creationId xmlns:a16="http://schemas.microsoft.com/office/drawing/2014/main" id="{3779C702-AD22-3D62-69E5-1BAFC85AB95F}"/>
                    </a:ext>
                  </a:extLst>
                </p:cNvPr>
                <p:cNvSpPr/>
                <p:nvPr/>
              </p:nvSpPr>
              <p:spPr>
                <a:xfrm>
                  <a:off x="5966654" y="4495890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37" name="Овал 36">
                  <a:extLst>
                    <a:ext uri="{FF2B5EF4-FFF2-40B4-BE49-F238E27FC236}">
                      <a16:creationId xmlns:a16="http://schemas.microsoft.com/office/drawing/2014/main" id="{71A5E8DB-BBAE-7D13-C93D-83E683462499}"/>
                    </a:ext>
                  </a:extLst>
                </p:cNvPr>
                <p:cNvSpPr/>
                <p:nvPr/>
              </p:nvSpPr>
              <p:spPr>
                <a:xfrm>
                  <a:off x="4930901" y="5128467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38" name="Прямая со стрелкой 37">
                  <a:extLst>
                    <a:ext uri="{FF2B5EF4-FFF2-40B4-BE49-F238E27FC236}">
                      <a16:creationId xmlns:a16="http://schemas.microsoft.com/office/drawing/2014/main" id="{A2261A37-B67C-83FB-FDB0-726491B32897}"/>
                    </a:ext>
                  </a:extLst>
                </p:cNvPr>
                <p:cNvCxnSpPr>
                  <a:stCxn id="37" idx="1"/>
                  <a:endCxn id="30" idx="6"/>
                </p:cNvCxnSpPr>
                <p:nvPr/>
              </p:nvCxnSpPr>
              <p:spPr>
                <a:xfrm flipH="1" flipV="1">
                  <a:off x="4239148" y="4656332"/>
                  <a:ext cx="743062" cy="52344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Прямая со стрелкой 38">
                  <a:extLst>
                    <a:ext uri="{FF2B5EF4-FFF2-40B4-BE49-F238E27FC236}">
                      <a16:creationId xmlns:a16="http://schemas.microsoft.com/office/drawing/2014/main" id="{E81662CC-0D06-EAC3-7743-D39779CF02F8}"/>
                    </a:ext>
                  </a:extLst>
                </p:cNvPr>
                <p:cNvCxnSpPr>
                  <a:stCxn id="37" idx="3"/>
                  <a:endCxn id="19" idx="5"/>
                </p:cNvCxnSpPr>
                <p:nvPr/>
              </p:nvCxnSpPr>
              <p:spPr>
                <a:xfrm flipH="1" flipV="1">
                  <a:off x="1961685" y="5376207"/>
                  <a:ext cx="3020525" cy="5130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Прямая со стрелкой 39">
                  <a:extLst>
                    <a:ext uri="{FF2B5EF4-FFF2-40B4-BE49-F238E27FC236}">
                      <a16:creationId xmlns:a16="http://schemas.microsoft.com/office/drawing/2014/main" id="{4568A35C-48AA-A657-6839-088D4700B5DC}"/>
                    </a:ext>
                  </a:extLst>
                </p:cNvPr>
                <p:cNvCxnSpPr>
                  <a:stCxn id="35" idx="2"/>
                  <a:endCxn id="30" idx="6"/>
                </p:cNvCxnSpPr>
                <p:nvPr/>
              </p:nvCxnSpPr>
              <p:spPr>
                <a:xfrm flipH="1">
                  <a:off x="4239148" y="4439799"/>
                  <a:ext cx="801818" cy="21653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Прямая со стрелкой 40">
                  <a:extLst>
                    <a:ext uri="{FF2B5EF4-FFF2-40B4-BE49-F238E27FC236}">
                      <a16:creationId xmlns:a16="http://schemas.microsoft.com/office/drawing/2014/main" id="{6A568358-8386-D705-AFE0-73E8DD5D677F}"/>
                    </a:ext>
                  </a:extLst>
                </p:cNvPr>
                <p:cNvCxnSpPr>
                  <a:cxnSpLocks/>
                  <a:stCxn id="36" idx="2"/>
                  <a:endCxn id="35" idx="6"/>
                </p:cNvCxnSpPr>
                <p:nvPr/>
              </p:nvCxnSpPr>
              <p:spPr>
                <a:xfrm flipH="1" flipV="1">
                  <a:off x="5391324" y="4439799"/>
                  <a:ext cx="575330" cy="23127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Прямая со стрелкой 41">
                  <a:extLst>
                    <a:ext uri="{FF2B5EF4-FFF2-40B4-BE49-F238E27FC236}">
                      <a16:creationId xmlns:a16="http://schemas.microsoft.com/office/drawing/2014/main" id="{9D9A580F-7708-8B31-2F76-66C55A80A184}"/>
                    </a:ext>
                  </a:extLst>
                </p:cNvPr>
                <p:cNvCxnSpPr>
                  <a:stCxn id="36" idx="3"/>
                  <a:endCxn id="37" idx="7"/>
                </p:cNvCxnSpPr>
                <p:nvPr/>
              </p:nvCxnSpPr>
              <p:spPr>
                <a:xfrm flipH="1">
                  <a:off x="5229950" y="4794939"/>
                  <a:ext cx="788013" cy="38483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Овал 42">
                  <a:extLst>
                    <a:ext uri="{FF2B5EF4-FFF2-40B4-BE49-F238E27FC236}">
                      <a16:creationId xmlns:a16="http://schemas.microsoft.com/office/drawing/2014/main" id="{968C67EF-E9FA-DB5F-A57F-2DCD07D3C2AE}"/>
                    </a:ext>
                  </a:extLst>
                </p:cNvPr>
                <p:cNvSpPr/>
                <p:nvPr/>
              </p:nvSpPr>
              <p:spPr>
                <a:xfrm>
                  <a:off x="7339793" y="4555434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44" name="Овал 43">
                  <a:extLst>
                    <a:ext uri="{FF2B5EF4-FFF2-40B4-BE49-F238E27FC236}">
                      <a16:creationId xmlns:a16="http://schemas.microsoft.com/office/drawing/2014/main" id="{EFA52C21-FA72-D617-4806-7876EDA967AC}"/>
                    </a:ext>
                  </a:extLst>
                </p:cNvPr>
                <p:cNvSpPr/>
                <p:nvPr/>
              </p:nvSpPr>
              <p:spPr>
                <a:xfrm>
                  <a:off x="6989435" y="3761289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45" name="Прямая со стрелкой 44">
                  <a:extLst>
                    <a:ext uri="{FF2B5EF4-FFF2-40B4-BE49-F238E27FC236}">
                      <a16:creationId xmlns:a16="http://schemas.microsoft.com/office/drawing/2014/main" id="{4D11E64E-4E55-BDE4-B949-B1C50E4D3C48}"/>
                    </a:ext>
                  </a:extLst>
                </p:cNvPr>
                <p:cNvCxnSpPr>
                  <a:stCxn id="44" idx="2"/>
                  <a:endCxn id="35" idx="7"/>
                </p:cNvCxnSpPr>
                <p:nvPr/>
              </p:nvCxnSpPr>
              <p:spPr>
                <a:xfrm flipH="1">
                  <a:off x="5340015" y="3936468"/>
                  <a:ext cx="1649420" cy="37946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Прямая со стрелкой 45">
                  <a:extLst>
                    <a:ext uri="{FF2B5EF4-FFF2-40B4-BE49-F238E27FC236}">
                      <a16:creationId xmlns:a16="http://schemas.microsoft.com/office/drawing/2014/main" id="{6C4CF6D0-36EA-DE27-D2C5-8F1DBAE59ED6}"/>
                    </a:ext>
                  </a:extLst>
                </p:cNvPr>
                <p:cNvCxnSpPr>
                  <a:stCxn id="44" idx="4"/>
                  <a:endCxn id="36" idx="7"/>
                </p:cNvCxnSpPr>
                <p:nvPr/>
              </p:nvCxnSpPr>
              <p:spPr>
                <a:xfrm flipH="1">
                  <a:off x="6265703" y="4111647"/>
                  <a:ext cx="898911" cy="43555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Прямая со стрелкой 46">
                  <a:extLst>
                    <a:ext uri="{FF2B5EF4-FFF2-40B4-BE49-F238E27FC236}">
                      <a16:creationId xmlns:a16="http://schemas.microsoft.com/office/drawing/2014/main" id="{AB84906E-BA29-9AA6-6EE8-1FA340909567}"/>
                    </a:ext>
                  </a:extLst>
                </p:cNvPr>
                <p:cNvCxnSpPr>
                  <a:stCxn id="43" idx="4"/>
                  <a:endCxn id="37" idx="6"/>
                </p:cNvCxnSpPr>
                <p:nvPr/>
              </p:nvCxnSpPr>
              <p:spPr>
                <a:xfrm flipH="1">
                  <a:off x="5281259" y="4905792"/>
                  <a:ext cx="2233713" cy="39785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Прямая со стрелкой 47">
                  <a:extLst>
                    <a:ext uri="{FF2B5EF4-FFF2-40B4-BE49-F238E27FC236}">
                      <a16:creationId xmlns:a16="http://schemas.microsoft.com/office/drawing/2014/main" id="{029750E2-37A1-BBC2-5A54-48C830F2645B}"/>
                    </a:ext>
                  </a:extLst>
                </p:cNvPr>
                <p:cNvCxnSpPr>
                  <a:stCxn id="43" idx="2"/>
                  <a:endCxn id="36" idx="6"/>
                </p:cNvCxnSpPr>
                <p:nvPr/>
              </p:nvCxnSpPr>
              <p:spPr>
                <a:xfrm flipH="1" flipV="1">
                  <a:off x="6317012" y="4671069"/>
                  <a:ext cx="1022781" cy="5954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Овал 48">
                  <a:extLst>
                    <a:ext uri="{FF2B5EF4-FFF2-40B4-BE49-F238E27FC236}">
                      <a16:creationId xmlns:a16="http://schemas.microsoft.com/office/drawing/2014/main" id="{02C5ADB3-8A6A-1174-7C49-CB7DF0BC0E08}"/>
                    </a:ext>
                  </a:extLst>
                </p:cNvPr>
                <p:cNvSpPr/>
                <p:nvPr/>
              </p:nvSpPr>
              <p:spPr>
                <a:xfrm>
                  <a:off x="5702167" y="2512259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50" name="Овал 49">
                  <a:extLst>
                    <a:ext uri="{FF2B5EF4-FFF2-40B4-BE49-F238E27FC236}">
                      <a16:creationId xmlns:a16="http://schemas.microsoft.com/office/drawing/2014/main" id="{8C2DCAFA-C7A1-F328-00EE-A59E0AC57E09}"/>
                    </a:ext>
                  </a:extLst>
                </p:cNvPr>
                <p:cNvSpPr/>
                <p:nvPr/>
              </p:nvSpPr>
              <p:spPr>
                <a:xfrm>
                  <a:off x="6745195" y="2501874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51" name="Овал 50">
                  <a:extLst>
                    <a:ext uri="{FF2B5EF4-FFF2-40B4-BE49-F238E27FC236}">
                      <a16:creationId xmlns:a16="http://schemas.microsoft.com/office/drawing/2014/main" id="{C94967E8-B899-FAC9-828B-A74EA49B2634}"/>
                    </a:ext>
                  </a:extLst>
                </p:cNvPr>
                <p:cNvSpPr/>
                <p:nvPr/>
              </p:nvSpPr>
              <p:spPr>
                <a:xfrm>
                  <a:off x="6090524" y="1635792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52" name="Овал 51">
                  <a:extLst>
                    <a:ext uri="{FF2B5EF4-FFF2-40B4-BE49-F238E27FC236}">
                      <a16:creationId xmlns:a16="http://schemas.microsoft.com/office/drawing/2014/main" id="{FE70D82B-5CA9-1A1F-BC92-FDEC02AB138B}"/>
                    </a:ext>
                  </a:extLst>
                </p:cNvPr>
                <p:cNvSpPr/>
                <p:nvPr/>
              </p:nvSpPr>
              <p:spPr>
                <a:xfrm>
                  <a:off x="5229950" y="3145594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53" name="Овал 52">
                  <a:extLst>
                    <a:ext uri="{FF2B5EF4-FFF2-40B4-BE49-F238E27FC236}">
                      <a16:creationId xmlns:a16="http://schemas.microsoft.com/office/drawing/2014/main" id="{0AFC68DE-6C1B-FA3E-B130-B6AA61B72C89}"/>
                    </a:ext>
                  </a:extLst>
                </p:cNvPr>
                <p:cNvSpPr/>
                <p:nvPr/>
              </p:nvSpPr>
              <p:spPr>
                <a:xfrm>
                  <a:off x="4631852" y="2320137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54" name="Прямая со стрелкой 53">
                  <a:extLst>
                    <a:ext uri="{FF2B5EF4-FFF2-40B4-BE49-F238E27FC236}">
                      <a16:creationId xmlns:a16="http://schemas.microsoft.com/office/drawing/2014/main" id="{AC23734B-B1B8-0134-0778-AC62D952FABC}"/>
                    </a:ext>
                  </a:extLst>
                </p:cNvPr>
                <p:cNvCxnSpPr>
                  <a:stCxn id="53" idx="2"/>
                  <a:endCxn id="18" idx="7"/>
                </p:cNvCxnSpPr>
                <p:nvPr/>
              </p:nvCxnSpPr>
              <p:spPr>
                <a:xfrm flipH="1">
                  <a:off x="2897745" y="2495316"/>
                  <a:ext cx="1734107" cy="49248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Прямая со стрелкой 54">
                  <a:extLst>
                    <a:ext uri="{FF2B5EF4-FFF2-40B4-BE49-F238E27FC236}">
                      <a16:creationId xmlns:a16="http://schemas.microsoft.com/office/drawing/2014/main" id="{0806269B-81E8-F1A9-EDEE-CF232AFB66B7}"/>
                    </a:ext>
                  </a:extLst>
                </p:cNvPr>
                <p:cNvCxnSpPr>
                  <a:stCxn id="53" idx="4"/>
                  <a:endCxn id="29" idx="7"/>
                </p:cNvCxnSpPr>
                <p:nvPr/>
              </p:nvCxnSpPr>
              <p:spPr>
                <a:xfrm flipH="1">
                  <a:off x="4363018" y="2670495"/>
                  <a:ext cx="444013" cy="56083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Прямая со стрелкой 55">
                  <a:extLst>
                    <a:ext uri="{FF2B5EF4-FFF2-40B4-BE49-F238E27FC236}">
                      <a16:creationId xmlns:a16="http://schemas.microsoft.com/office/drawing/2014/main" id="{FB106D91-BBA3-058B-7A0F-1C59D5843B68}"/>
                    </a:ext>
                  </a:extLst>
                </p:cNvPr>
                <p:cNvCxnSpPr>
                  <a:stCxn id="52" idx="2"/>
                  <a:endCxn id="29" idx="6"/>
                </p:cNvCxnSpPr>
                <p:nvPr/>
              </p:nvCxnSpPr>
              <p:spPr>
                <a:xfrm flipH="1">
                  <a:off x="4414327" y="3320773"/>
                  <a:ext cx="815623" cy="3442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Прямая со стрелкой 56">
                  <a:extLst>
                    <a:ext uri="{FF2B5EF4-FFF2-40B4-BE49-F238E27FC236}">
                      <a16:creationId xmlns:a16="http://schemas.microsoft.com/office/drawing/2014/main" id="{6C53B6A5-7BCF-EF9C-8873-4FF8B718EDFD}"/>
                    </a:ext>
                  </a:extLst>
                </p:cNvPr>
                <p:cNvCxnSpPr>
                  <a:stCxn id="49" idx="2"/>
                  <a:endCxn id="53" idx="6"/>
                </p:cNvCxnSpPr>
                <p:nvPr/>
              </p:nvCxnSpPr>
              <p:spPr>
                <a:xfrm flipH="1" flipV="1">
                  <a:off x="4982210" y="2495316"/>
                  <a:ext cx="719957" cy="1921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Прямая со стрелкой 57">
                  <a:extLst>
                    <a:ext uri="{FF2B5EF4-FFF2-40B4-BE49-F238E27FC236}">
                      <a16:creationId xmlns:a16="http://schemas.microsoft.com/office/drawing/2014/main" id="{5CC8646F-42C3-BB55-F8BD-4ADCF8340008}"/>
                    </a:ext>
                  </a:extLst>
                </p:cNvPr>
                <p:cNvCxnSpPr>
                  <a:stCxn id="49" idx="5"/>
                  <a:endCxn id="52" idx="7"/>
                </p:cNvCxnSpPr>
                <p:nvPr/>
              </p:nvCxnSpPr>
              <p:spPr>
                <a:xfrm flipH="1">
                  <a:off x="5528999" y="2811308"/>
                  <a:ext cx="472217" cy="38559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Прямая со стрелкой 58">
                  <a:extLst>
                    <a:ext uri="{FF2B5EF4-FFF2-40B4-BE49-F238E27FC236}">
                      <a16:creationId xmlns:a16="http://schemas.microsoft.com/office/drawing/2014/main" id="{2C4B5118-24B7-03C4-A62C-B20ABE13F908}"/>
                    </a:ext>
                  </a:extLst>
                </p:cNvPr>
                <p:cNvCxnSpPr>
                  <a:stCxn id="51" idx="2"/>
                  <a:endCxn id="53" idx="6"/>
                </p:cNvCxnSpPr>
                <p:nvPr/>
              </p:nvCxnSpPr>
              <p:spPr>
                <a:xfrm flipH="1">
                  <a:off x="4982210" y="1810971"/>
                  <a:ext cx="1108314" cy="6843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Прямая со стрелкой 59">
                  <a:extLst>
                    <a:ext uri="{FF2B5EF4-FFF2-40B4-BE49-F238E27FC236}">
                      <a16:creationId xmlns:a16="http://schemas.microsoft.com/office/drawing/2014/main" id="{FBAE0AAB-0893-12D7-FA91-F3BC2EFCB239}"/>
                    </a:ext>
                  </a:extLst>
                </p:cNvPr>
                <p:cNvCxnSpPr>
                  <a:stCxn id="51" idx="4"/>
                  <a:endCxn id="49" idx="7"/>
                </p:cNvCxnSpPr>
                <p:nvPr/>
              </p:nvCxnSpPr>
              <p:spPr>
                <a:xfrm flipH="1">
                  <a:off x="6001216" y="1986150"/>
                  <a:ext cx="264487" cy="57741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Прямая со стрелкой 60">
                  <a:extLst>
                    <a:ext uri="{FF2B5EF4-FFF2-40B4-BE49-F238E27FC236}">
                      <a16:creationId xmlns:a16="http://schemas.microsoft.com/office/drawing/2014/main" id="{69B66A6D-0FC6-00D3-4297-1974D580B053}"/>
                    </a:ext>
                  </a:extLst>
                </p:cNvPr>
                <p:cNvCxnSpPr>
                  <a:stCxn id="50" idx="2"/>
                  <a:endCxn id="49" idx="6"/>
                </p:cNvCxnSpPr>
                <p:nvPr/>
              </p:nvCxnSpPr>
              <p:spPr>
                <a:xfrm flipH="1">
                  <a:off x="6052525" y="2677053"/>
                  <a:ext cx="692670" cy="103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Прямая со стрелкой 61">
                  <a:extLst>
                    <a:ext uri="{FF2B5EF4-FFF2-40B4-BE49-F238E27FC236}">
                      <a16:creationId xmlns:a16="http://schemas.microsoft.com/office/drawing/2014/main" id="{4A8BC8A0-DB36-2648-136C-ECAF39B5AB8E}"/>
                    </a:ext>
                  </a:extLst>
                </p:cNvPr>
                <p:cNvCxnSpPr>
                  <a:stCxn id="50" idx="4"/>
                  <a:endCxn id="52" idx="6"/>
                </p:cNvCxnSpPr>
                <p:nvPr/>
              </p:nvCxnSpPr>
              <p:spPr>
                <a:xfrm flipH="1">
                  <a:off x="5580308" y="2852232"/>
                  <a:ext cx="1340066" cy="46854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p14="http://schemas.microsoft.com/office/powerpoint/2010/main">
              <mc:Choice Requires="p14">
                <p:contentPart p14:bwMode="auto" r:id="rId4">
                  <p14:nvContentPartPr>
                    <p14:cNvPr id="63" name="Рукописный ввод 62">
                      <a:extLst>
                        <a:ext uri="{FF2B5EF4-FFF2-40B4-BE49-F238E27FC236}">
                          <a16:creationId xmlns:a16="http://schemas.microsoft.com/office/drawing/2014/main" id="{7468A762-F660-5E25-0F4A-2318099FC0D0}"/>
                        </a:ext>
                      </a:extLst>
                    </p14:cNvPr>
                    <p14:cNvContentPartPr/>
                    <p14:nvPr/>
                  </p14:nvContentPartPr>
                  <p14:xfrm rot="-78944">
                    <a:off x="3322819" y="1674323"/>
                    <a:ext cx="4123558" cy="2101394"/>
                  </p14:xfrm>
                </p:contentPart>
              </mc:Choice>
              <mc:Fallback xmlns="">
                <p:pic>
                  <p:nvPicPr>
                    <p:cNvPr id="109" name="Рукописный ввод 108">
                      <a:extLst>
                        <a:ext uri="{FF2B5EF4-FFF2-40B4-BE49-F238E27FC236}">
                          <a16:creationId xmlns:a16="http://schemas.microsoft.com/office/drawing/2014/main" id="{14D6A5B6-3C68-9805-379E-8F190F811572}"/>
                        </a:ext>
                      </a:extLst>
                    </p:cNvPr>
                    <p:cNvPicPr/>
                    <p:nvPr/>
                  </p:nvPicPr>
                  <p:blipFill>
                    <a:blip r:embed="rId5"/>
                    <a:stretch>
                      <a:fillRect/>
                    </a:stretch>
                  </p:blipFill>
                  <p:spPr>
                    <a:xfrm rot="-78944">
                      <a:off x="3315022" y="1666128"/>
                      <a:ext cx="4139151" cy="2117785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6">
                  <p14:nvContentPartPr>
                    <p14:cNvPr id="64" name="Рукописный ввод 63">
                      <a:extLst>
                        <a:ext uri="{FF2B5EF4-FFF2-40B4-BE49-F238E27FC236}">
                          <a16:creationId xmlns:a16="http://schemas.microsoft.com/office/drawing/2014/main" id="{F666A0F4-064B-2EED-FEFA-D72455EDFFF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3609078" y="3638082"/>
                    <a:ext cx="5404440" cy="2295798"/>
                  </p14:xfrm>
                </p:contentPart>
              </mc:Choice>
              <mc:Fallback xmlns="">
                <p:pic>
                  <p:nvPicPr>
                    <p:cNvPr id="111" name="Рукописный ввод 110">
                      <a:extLst>
                        <a:ext uri="{FF2B5EF4-FFF2-40B4-BE49-F238E27FC236}">
                          <a16:creationId xmlns:a16="http://schemas.microsoft.com/office/drawing/2014/main" id="{3AAEE1C4-4E2A-4D5F-4E71-354529B23EC4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3601284" y="3629890"/>
                      <a:ext cx="5420028" cy="2312183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</p:grpSp>
        <p:sp>
          <p:nvSpPr>
            <p:cNvPr id="5" name="Овал 4">
              <a:extLst>
                <a:ext uri="{FF2B5EF4-FFF2-40B4-BE49-F238E27FC236}">
                  <a16:creationId xmlns:a16="http://schemas.microsoft.com/office/drawing/2014/main" id="{FE06463C-8B19-F52A-15FB-9711A4B9D951}"/>
                </a:ext>
              </a:extLst>
            </p:cNvPr>
            <p:cNvSpPr/>
            <p:nvPr/>
          </p:nvSpPr>
          <p:spPr>
            <a:xfrm>
              <a:off x="464835" y="4719657"/>
              <a:ext cx="257541" cy="276289"/>
            </a:xfrm>
            <a:prstGeom prst="ellipse">
              <a:avLst/>
            </a:prstGeom>
            <a:pattFill prst="ltUpDiag">
              <a:fgClr>
                <a:srgbClr val="9608C8"/>
              </a:fgClr>
              <a:bgClr>
                <a:schemeClr val="bg1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3C3A6055-1D4C-68B9-30F8-1D442E089080}"/>
                </a:ext>
              </a:extLst>
            </p:cNvPr>
            <p:cNvSpPr/>
            <p:nvPr/>
          </p:nvSpPr>
          <p:spPr>
            <a:xfrm>
              <a:off x="1000581" y="4720367"/>
              <a:ext cx="257541" cy="276289"/>
            </a:xfrm>
            <a:prstGeom prst="ellipse">
              <a:avLst/>
            </a:prstGeom>
            <a:pattFill prst="ltUpDiag">
              <a:fgClr>
                <a:schemeClr val="accent1">
                  <a:lumMod val="75000"/>
                </a:schemeClr>
              </a:fgClr>
              <a:bgClr>
                <a:schemeClr val="bg1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338986-9B8C-FF30-746B-8B52E661A4A9}"/>
                </a:ext>
              </a:extLst>
            </p:cNvPr>
            <p:cNvSpPr txBox="1"/>
            <p:nvPr/>
          </p:nvSpPr>
          <p:spPr>
            <a:xfrm>
              <a:off x="1277360" y="4719657"/>
              <a:ext cx="4153588" cy="2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200" dirty="0"/>
                <a:t>- конфликтные транзакции использующие одни и те же средства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00B55B2-85AD-42CD-CAF6-9E0D56C2F693}"/>
                </a:ext>
              </a:extLst>
            </p:cNvPr>
            <p:cNvSpPr txBox="1"/>
            <p:nvPr/>
          </p:nvSpPr>
          <p:spPr>
            <a:xfrm>
              <a:off x="5440535" y="2227084"/>
              <a:ext cx="1800509" cy="27619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ru-RU" sz="1100" b="1" dirty="0">
                  <a:latin typeface="Arial" panose="020B0604020202020204" pitchFamily="34" charset="0"/>
                  <a:cs typeface="Arial" panose="020B0604020202020204" pitchFamily="34" charset="0"/>
                </a:rPr>
                <a:t>Конфликтующие ветви</a:t>
              </a:r>
            </a:p>
          </p:txBody>
        </p:sp>
        <p:cxnSp>
          <p:nvCxnSpPr>
            <p:cNvPr id="9" name="Прямая со стрелкой 8">
              <a:extLst>
                <a:ext uri="{FF2B5EF4-FFF2-40B4-BE49-F238E27FC236}">
                  <a16:creationId xmlns:a16="http://schemas.microsoft.com/office/drawing/2014/main" id="{25F89EDF-99EB-B188-0D62-D0F59A43F207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H="1" flipV="1">
              <a:off x="5440536" y="1826034"/>
              <a:ext cx="900254" cy="4010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Прямая со стрелкой 9">
              <a:extLst>
                <a:ext uri="{FF2B5EF4-FFF2-40B4-BE49-F238E27FC236}">
                  <a16:creationId xmlns:a16="http://schemas.microsoft.com/office/drawing/2014/main" id="{FB9FEB96-C9BB-3008-86DA-7FD8A7EE8363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flipH="1">
              <a:off x="5979380" y="2503281"/>
              <a:ext cx="361410" cy="3830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94399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>
          <a:extLst>
            <a:ext uri="{FF2B5EF4-FFF2-40B4-BE49-F238E27FC236}">
              <a16:creationId xmlns:a16="http://schemas.microsoft.com/office/drawing/2014/main" id="{09549FC0-4E35-EF13-F5B2-F5BB3D20A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328750F8-FC7F-3A35-5A64-40C5779E294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10</a:t>
            </a:fld>
            <a:endParaRPr lang="ru" sz="3733" b="1" dirty="0"/>
          </a:p>
        </p:txBody>
      </p:sp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7EB3D151-316D-4A60-52A3-8C9F19BA493B}"/>
              </a:ext>
            </a:extLst>
          </p:cNvPr>
          <p:cNvSpPr txBox="1">
            <a:spLocks/>
          </p:cNvSpPr>
          <p:nvPr/>
        </p:nvSpPr>
        <p:spPr>
          <a:xfrm>
            <a:off x="689817" y="0"/>
            <a:ext cx="10003955" cy="98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 dirty="0"/>
              <a:t>Атака конфликтующими транзакциями</a:t>
            </a:r>
            <a:r>
              <a:rPr lang="en-US" sz="2400" dirty="0"/>
              <a:t>: </a:t>
            </a:r>
            <a:r>
              <a:rPr lang="ru-RU" sz="2400" dirty="0"/>
              <a:t>метрики</a:t>
            </a: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770D4534-2A76-6CE5-E6F7-67EF8DDE59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977264"/>
              </p:ext>
            </p:extLst>
          </p:nvPr>
        </p:nvGraphicFramePr>
        <p:xfrm>
          <a:off x="1748499" y="643054"/>
          <a:ext cx="8310102" cy="557617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68423">
                  <a:extLst>
                    <a:ext uri="{9D8B030D-6E8A-4147-A177-3AD203B41FA5}">
                      <a16:colId xmlns:a16="http://schemas.microsoft.com/office/drawing/2014/main" val="2880667787"/>
                    </a:ext>
                  </a:extLst>
                </a:gridCol>
                <a:gridCol w="1507515">
                  <a:extLst>
                    <a:ext uri="{9D8B030D-6E8A-4147-A177-3AD203B41FA5}">
                      <a16:colId xmlns:a16="http://schemas.microsoft.com/office/drawing/2014/main" val="4095022159"/>
                    </a:ext>
                  </a:extLst>
                </a:gridCol>
                <a:gridCol w="1391878">
                  <a:extLst>
                    <a:ext uri="{9D8B030D-6E8A-4147-A177-3AD203B41FA5}">
                      <a16:colId xmlns:a16="http://schemas.microsoft.com/office/drawing/2014/main" val="4076909439"/>
                    </a:ext>
                  </a:extLst>
                </a:gridCol>
                <a:gridCol w="1079276">
                  <a:extLst>
                    <a:ext uri="{9D8B030D-6E8A-4147-A177-3AD203B41FA5}">
                      <a16:colId xmlns:a16="http://schemas.microsoft.com/office/drawing/2014/main" val="2495310621"/>
                    </a:ext>
                  </a:extLst>
                </a:gridCol>
                <a:gridCol w="1287278">
                  <a:extLst>
                    <a:ext uri="{9D8B030D-6E8A-4147-A177-3AD203B41FA5}">
                      <a16:colId xmlns:a16="http://schemas.microsoft.com/office/drawing/2014/main" val="139992874"/>
                    </a:ext>
                  </a:extLst>
                </a:gridCol>
                <a:gridCol w="1275732">
                  <a:extLst>
                    <a:ext uri="{9D8B030D-6E8A-4147-A177-3AD203B41FA5}">
                      <a16:colId xmlns:a16="http://schemas.microsoft.com/office/drawing/2014/main" val="1567948442"/>
                    </a:ext>
                  </a:extLst>
                </a:gridCol>
              </a:tblGrid>
              <a:tr h="66121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Модели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DAG</a:t>
                      </a: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-реестров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Атака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Метрики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Доля конфликтов в слоте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6549937"/>
                  </a:ext>
                </a:extLst>
              </a:tr>
              <a:tr h="661216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/6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2/5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1/2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792455"/>
                  </a:ext>
                </a:extLst>
              </a:tr>
              <a:tr h="614360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Предлагаемая модель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Конфликтные транзакции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Количество отвергнутых честных записей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~10%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~17%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~25%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1286305"/>
                  </a:ext>
                </a:extLst>
              </a:tr>
              <a:tr h="61436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Количество принятых конфликтных записей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~5%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~4%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~3%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784795"/>
                  </a:ext>
                </a:extLst>
              </a:tr>
              <a:tr h="13716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Количество отвергнутых честных записей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~50%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B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~50%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B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~50%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521583"/>
                  </a:ext>
                </a:extLst>
              </a:tr>
              <a:tr h="1200595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IOTA 2.0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9093754"/>
                  </a:ext>
                </a:extLst>
              </a:tr>
              <a:tr h="61436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Количество принятых конфликтных записей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0%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0%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0%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9071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0328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>
          <a:extLst>
            <a:ext uri="{FF2B5EF4-FFF2-40B4-BE49-F238E27FC236}">
              <a16:creationId xmlns:a16="http://schemas.microsoft.com/office/drawing/2014/main" id="{80C2F870-DD81-95D5-82DF-5779BA820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03BDF17C-C6E3-A8C0-8F3A-05DF9DB4908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11</a:t>
            </a:fld>
            <a:endParaRPr lang="ru" sz="3733" b="1" dirty="0"/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3E4D4454-A225-86CE-480A-B83AE22B9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4315" y="349261"/>
            <a:ext cx="7600000" cy="560000"/>
          </a:xfrm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ru-RU" sz="2700" b="1" dirty="0">
                <a:latin typeface="Arial"/>
              </a:rPr>
              <a:t>Результаты работы</a:t>
            </a:r>
            <a:endParaRPr lang="ru-RU" sz="27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62C4C-5E21-167A-9440-859F6551C689}"/>
              </a:ext>
            </a:extLst>
          </p:cNvPr>
          <p:cNvSpPr txBox="1"/>
          <p:nvPr/>
        </p:nvSpPr>
        <p:spPr>
          <a:xfrm>
            <a:off x="340621" y="1372119"/>
            <a:ext cx="1088513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Проведен сравнительный анализ существующих моделей DAG-реестров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в качестве прототипа была выбрана IOTA-подобная модель с BFT-финализацией.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Разработана модель DAG-реестра с разделением на слоты и эпохи, разрешением конфликтов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без утраты части честных записей и сворачиванием генезис-состояния.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Реализован эмулятор DAG-реестра с эмуляцией 100 узлов, сетевых задержек, финализацией записей и с модулем конфликтных атак.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Проведена экспериментальная оценка: разработанная модель DAG-реестра сохраняет до 10 раз больше честных записей, чем прототип модели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IOTA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, а в диапазоне от 0 до 110 слотов использование механизма сворачивания истории позволяет сократить объём памяти, занимаемый реестром, примерно в 5 раз по сравнению с базовой IOTA-подобной реализацией.</a:t>
            </a:r>
          </a:p>
        </p:txBody>
      </p:sp>
    </p:spTree>
    <p:extLst>
      <p:ext uri="{BB962C8B-B14F-4D97-AF65-F5344CB8AC3E}">
        <p14:creationId xmlns:p14="http://schemas.microsoft.com/office/powerpoint/2010/main" val="3564280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A0CD7F6-89F6-3C75-DE09-6C66EE633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3565" y="378137"/>
            <a:ext cx="7600000" cy="560000"/>
          </a:xfrm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ru-RU" sz="2700" b="1" dirty="0">
                <a:latin typeface="Arial"/>
              </a:rPr>
              <a:t>Результаты работы</a:t>
            </a:r>
            <a:endParaRPr lang="ru-RU" sz="27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9AB79D-E079-2F27-FF3C-0C414E838A86}"/>
              </a:ext>
            </a:extLst>
          </p:cNvPr>
          <p:cNvSpPr txBox="1"/>
          <p:nvPr/>
        </p:nvSpPr>
        <p:spPr>
          <a:xfrm>
            <a:off x="850760" y="1497248"/>
            <a:ext cx="1088513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 сравнительный анализ существующих моделей DAG-реестров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в качестве прототипа была выбрана IOTA-подобная модель с BFT-финализацией.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Разработана модель DAG-реестра с разделением на слоты и эпохи, разрешением конфликтов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без утраты части честных записей и сворачиванием генезис-состояния.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 эмулятор DAG-реестра с эмуляцией 100 узлов, сетевых задержек, финализацией записей и с модулем конфликтных атак.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Проведена экспериментальная оценка: разработанная модель DAG-реестра сохраняет до 10 раз больше честных записей, чем прототип модели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IOTA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, а в диапазоне от 0 до 110 слотов использование механизма сворачивания истории позволяет сократить объём памяти, занимаемый реестром, примерно в 5 раз по сравнению с базовой IOTA-подобной реализацией.</a:t>
            </a:r>
          </a:p>
        </p:txBody>
      </p:sp>
    </p:spTree>
    <p:extLst>
      <p:ext uri="{BB962C8B-B14F-4D97-AF65-F5344CB8AC3E}">
        <p14:creationId xmlns:p14="http://schemas.microsoft.com/office/powerpoint/2010/main" val="3959228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053FA87-E8AF-422D-5402-A81DCA8014DC}"/>
              </a:ext>
            </a:extLst>
          </p:cNvPr>
          <p:cNvSpPr txBox="1"/>
          <p:nvPr/>
        </p:nvSpPr>
        <p:spPr>
          <a:xfrm>
            <a:off x="1126154" y="23758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00"/>
                </a:solidFill>
                <a:latin typeface="Arial"/>
                <a:cs typeface="Arial"/>
              </a:rPr>
              <a:t>Разработанная модель </a:t>
            </a:r>
            <a:r>
              <a:rPr lang="en-US" b="1" dirty="0">
                <a:solidFill>
                  <a:srgbClr val="000000"/>
                </a:solidFill>
                <a:latin typeface="Arial"/>
                <a:cs typeface="Arial"/>
              </a:rPr>
              <a:t>DAG </a:t>
            </a:r>
            <a:r>
              <a:rPr lang="ru-RU" b="1" dirty="0">
                <a:solidFill>
                  <a:srgbClr val="000000"/>
                </a:solidFill>
                <a:latin typeface="Arial"/>
                <a:cs typeface="Arial"/>
              </a:rPr>
              <a:t>реестра</a:t>
            </a:r>
            <a:endParaRPr lang="ru-RU" sz="1800" dirty="0"/>
          </a:p>
        </p:txBody>
      </p:sp>
      <p:grpSp>
        <p:nvGrpSpPr>
          <p:cNvPr id="219" name="Группа 218">
            <a:extLst>
              <a:ext uri="{FF2B5EF4-FFF2-40B4-BE49-F238E27FC236}">
                <a16:creationId xmlns:a16="http://schemas.microsoft.com/office/drawing/2014/main" id="{DADEBC68-0114-B282-5E32-B2E1C2E63EDA}"/>
              </a:ext>
            </a:extLst>
          </p:cNvPr>
          <p:cNvGrpSpPr/>
          <p:nvPr/>
        </p:nvGrpSpPr>
        <p:grpSpPr>
          <a:xfrm>
            <a:off x="823272" y="1021080"/>
            <a:ext cx="6305550" cy="3117850"/>
            <a:chOff x="596900" y="1238250"/>
            <a:chExt cx="6305550" cy="3117850"/>
          </a:xfrm>
        </p:grpSpPr>
        <p:sp>
          <p:nvSpPr>
            <p:cNvPr id="217" name="Прямоугольник 216">
              <a:extLst>
                <a:ext uri="{FF2B5EF4-FFF2-40B4-BE49-F238E27FC236}">
                  <a16:creationId xmlns:a16="http://schemas.microsoft.com/office/drawing/2014/main" id="{DFDE5CB5-0BE4-0B4D-39E5-B7DD71CE3269}"/>
                </a:ext>
              </a:extLst>
            </p:cNvPr>
            <p:cNvSpPr/>
            <p:nvPr/>
          </p:nvSpPr>
          <p:spPr>
            <a:xfrm>
              <a:off x="596900" y="1238250"/>
              <a:ext cx="6305550" cy="31178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grpSp>
          <p:nvGrpSpPr>
            <p:cNvPr id="215" name="Группа 214">
              <a:extLst>
                <a:ext uri="{FF2B5EF4-FFF2-40B4-BE49-F238E27FC236}">
                  <a16:creationId xmlns:a16="http://schemas.microsoft.com/office/drawing/2014/main" id="{E4431FB4-7A19-924F-4C43-E2D2F95699FC}"/>
                </a:ext>
              </a:extLst>
            </p:cNvPr>
            <p:cNvGrpSpPr/>
            <p:nvPr/>
          </p:nvGrpSpPr>
          <p:grpSpPr>
            <a:xfrm>
              <a:off x="798201" y="1433004"/>
              <a:ext cx="5478310" cy="2820583"/>
              <a:chOff x="93351" y="1242504"/>
              <a:chExt cx="5478310" cy="2820583"/>
            </a:xfrm>
          </p:grpSpPr>
          <p:grpSp>
            <p:nvGrpSpPr>
              <p:cNvPr id="205" name="Группа 204">
                <a:extLst>
                  <a:ext uri="{FF2B5EF4-FFF2-40B4-BE49-F238E27FC236}">
                    <a16:creationId xmlns:a16="http://schemas.microsoft.com/office/drawing/2014/main" id="{B6CA9C07-8F09-1D4F-40AA-DC8472BC0FB4}"/>
                  </a:ext>
                </a:extLst>
              </p:cNvPr>
              <p:cNvGrpSpPr/>
              <p:nvPr/>
            </p:nvGrpSpPr>
            <p:grpSpPr>
              <a:xfrm>
                <a:off x="93351" y="1242504"/>
                <a:ext cx="5478310" cy="2820583"/>
                <a:chOff x="840321" y="1396335"/>
                <a:chExt cx="6587561" cy="4371912"/>
              </a:xfrm>
            </p:grpSpPr>
            <p:grpSp>
              <p:nvGrpSpPr>
                <p:cNvPr id="204" name="Группа 203">
                  <a:extLst>
                    <a:ext uri="{FF2B5EF4-FFF2-40B4-BE49-F238E27FC236}">
                      <a16:creationId xmlns:a16="http://schemas.microsoft.com/office/drawing/2014/main" id="{FDE43C4B-0872-10AA-03D7-1F6B570E0083}"/>
                    </a:ext>
                  </a:extLst>
                </p:cNvPr>
                <p:cNvGrpSpPr/>
                <p:nvPr/>
              </p:nvGrpSpPr>
              <p:grpSpPr>
                <a:xfrm>
                  <a:off x="840321" y="1481776"/>
                  <a:ext cx="6587561" cy="4286471"/>
                  <a:chOff x="1446746" y="2059626"/>
                  <a:chExt cx="6587561" cy="4286471"/>
                </a:xfrm>
              </p:grpSpPr>
              <p:sp>
                <p:nvSpPr>
                  <p:cNvPr id="8" name="Овал 7">
                    <a:extLst>
                      <a:ext uri="{FF2B5EF4-FFF2-40B4-BE49-F238E27FC236}">
                        <a16:creationId xmlns:a16="http://schemas.microsoft.com/office/drawing/2014/main" id="{C1FCA80F-DFFF-433C-1AD6-6916B17247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830434" y="4288533"/>
                    <a:ext cx="199342" cy="199342"/>
                  </a:xfrm>
                  <a:prstGeom prst="ellipse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9" name="Овал 8">
                    <a:extLst>
                      <a:ext uri="{FF2B5EF4-FFF2-40B4-BE49-F238E27FC236}">
                        <a16:creationId xmlns:a16="http://schemas.microsoft.com/office/drawing/2014/main" id="{EB8A66D1-A61A-0B0F-FC85-DEECB55838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725790" y="3642686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3" name="Овал 12">
                    <a:extLst>
                      <a:ext uri="{FF2B5EF4-FFF2-40B4-BE49-F238E27FC236}">
                        <a16:creationId xmlns:a16="http://schemas.microsoft.com/office/drawing/2014/main" id="{1838EA25-5FA4-9318-EB2B-5ECC45F086B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729183" y="4118384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4" name="Овал 13">
                    <a:extLst>
                      <a:ext uri="{FF2B5EF4-FFF2-40B4-BE49-F238E27FC236}">
                        <a16:creationId xmlns:a16="http://schemas.microsoft.com/office/drawing/2014/main" id="{003BAC40-D4D4-619F-1E19-9A09964058F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699989" y="4607416"/>
                    <a:ext cx="199342" cy="199341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5" name="Овал 14">
                    <a:extLst>
                      <a:ext uri="{FF2B5EF4-FFF2-40B4-BE49-F238E27FC236}">
                        <a16:creationId xmlns:a16="http://schemas.microsoft.com/office/drawing/2014/main" id="{09483323-7883-8134-5123-CF8A1BEB76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782290" y="3114226"/>
                    <a:ext cx="199342" cy="199342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6" name="Овал 15">
                    <a:extLst>
                      <a:ext uri="{FF2B5EF4-FFF2-40B4-BE49-F238E27FC236}">
                        <a16:creationId xmlns:a16="http://schemas.microsoft.com/office/drawing/2014/main" id="{5971389C-F34A-484B-EEA8-9C86BBD7651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92224" y="3155511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7" name="Овал 16">
                    <a:extLst>
                      <a:ext uri="{FF2B5EF4-FFF2-40B4-BE49-F238E27FC236}">
                        <a16:creationId xmlns:a16="http://schemas.microsoft.com/office/drawing/2014/main" id="{ACC0F18E-E6E3-EEB2-66A7-CD080225CE2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965410" y="3830699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8" name="Овал 17">
                    <a:extLst>
                      <a:ext uri="{FF2B5EF4-FFF2-40B4-BE49-F238E27FC236}">
                        <a16:creationId xmlns:a16="http://schemas.microsoft.com/office/drawing/2014/main" id="{FC1573AE-464F-9133-3349-A521952B52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706639" y="5425183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9" name="Овал 18">
                    <a:extLst>
                      <a:ext uri="{FF2B5EF4-FFF2-40B4-BE49-F238E27FC236}">
                        <a16:creationId xmlns:a16="http://schemas.microsoft.com/office/drawing/2014/main" id="{5E5456EE-5525-54C2-75F6-025AEC80BF4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5108090" y="4439124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20" name="Овал 19">
                    <a:extLst>
                      <a:ext uri="{FF2B5EF4-FFF2-40B4-BE49-F238E27FC236}">
                        <a16:creationId xmlns:a16="http://schemas.microsoft.com/office/drawing/2014/main" id="{68314E0D-B5AC-A50B-F18B-2F1E253E8F7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5818665" y="3364242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cxnSp>
                <p:nvCxnSpPr>
                  <p:cNvPr id="24" name="Прямая со стрелкой 23">
                    <a:extLst>
                      <a:ext uri="{FF2B5EF4-FFF2-40B4-BE49-F238E27FC236}">
                        <a16:creationId xmlns:a16="http://schemas.microsoft.com/office/drawing/2014/main" id="{4EC7387D-79C7-98DD-CCF8-585CB99B61DE}"/>
                      </a:ext>
                    </a:extLst>
                  </p:cNvPr>
                  <p:cNvCxnSpPr>
                    <a:cxnSpLocks noChangeAspect="1"/>
                    <a:stCxn id="13" idx="2"/>
                    <a:endCxn id="8" idx="6"/>
                  </p:cNvCxnSpPr>
                  <p:nvPr/>
                </p:nvCxnSpPr>
                <p:spPr>
                  <a:xfrm flipH="1">
                    <a:off x="2029776" y="4218055"/>
                    <a:ext cx="699407" cy="17014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Прямая со стрелкой 25">
                    <a:extLst>
                      <a:ext uri="{FF2B5EF4-FFF2-40B4-BE49-F238E27FC236}">
                        <a16:creationId xmlns:a16="http://schemas.microsoft.com/office/drawing/2014/main" id="{393F31FF-2E79-E42A-9564-E29B6A55EBC3}"/>
                      </a:ext>
                    </a:extLst>
                  </p:cNvPr>
                  <p:cNvCxnSpPr>
                    <a:cxnSpLocks noChangeAspect="1"/>
                    <a:stCxn id="14" idx="2"/>
                    <a:endCxn id="8" idx="5"/>
                  </p:cNvCxnSpPr>
                  <p:nvPr/>
                </p:nvCxnSpPr>
                <p:spPr>
                  <a:xfrm flipH="1" flipV="1">
                    <a:off x="2000583" y="4458682"/>
                    <a:ext cx="699407" cy="248405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Овал 26">
                    <a:extLst>
                      <a:ext uri="{FF2B5EF4-FFF2-40B4-BE49-F238E27FC236}">
                        <a16:creationId xmlns:a16="http://schemas.microsoft.com/office/drawing/2014/main" id="{F524D108-43F8-9A05-4A11-9119EE64096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748724" y="3669051"/>
                    <a:ext cx="199342" cy="199342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28" name="Овал 27">
                    <a:extLst>
                      <a:ext uri="{FF2B5EF4-FFF2-40B4-BE49-F238E27FC236}">
                        <a16:creationId xmlns:a16="http://schemas.microsoft.com/office/drawing/2014/main" id="{3FAACB83-2715-118C-ED1F-CA9853BCB2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856497" y="4306294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 dirty="0"/>
                  </a:p>
                </p:txBody>
              </p:sp>
              <p:sp>
                <p:nvSpPr>
                  <p:cNvPr id="29" name="Овал 28">
                    <a:extLst>
                      <a:ext uri="{FF2B5EF4-FFF2-40B4-BE49-F238E27FC236}">
                        <a16:creationId xmlns:a16="http://schemas.microsoft.com/office/drawing/2014/main" id="{CA8683C1-00A4-434B-A11A-08C1EDA1240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898842" y="5104574"/>
                    <a:ext cx="199342" cy="199342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1">
                    <a:schemeClr val="accent3"/>
                  </a:lnRef>
                  <a:fillRef idx="3">
                    <a:schemeClr val="accent3"/>
                  </a:fillRef>
                  <a:effectRef idx="2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cxnSp>
                <p:nvCxnSpPr>
                  <p:cNvPr id="31" name="Прямая со стрелкой 30">
                    <a:extLst>
                      <a:ext uri="{FF2B5EF4-FFF2-40B4-BE49-F238E27FC236}">
                        <a16:creationId xmlns:a16="http://schemas.microsoft.com/office/drawing/2014/main" id="{B2367DCC-6AC6-5E55-4623-1DC60BEEC361}"/>
                      </a:ext>
                    </a:extLst>
                  </p:cNvPr>
                  <p:cNvCxnSpPr>
                    <a:cxnSpLocks noChangeAspect="1"/>
                    <a:stCxn id="15" idx="2"/>
                    <a:endCxn id="9" idx="7"/>
                  </p:cNvCxnSpPr>
                  <p:nvPr/>
                </p:nvCxnSpPr>
                <p:spPr>
                  <a:xfrm flipH="1">
                    <a:off x="2895939" y="3213897"/>
                    <a:ext cx="886351" cy="457982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Прямая со стрелкой 34">
                    <a:extLst>
                      <a:ext uri="{FF2B5EF4-FFF2-40B4-BE49-F238E27FC236}">
                        <a16:creationId xmlns:a16="http://schemas.microsoft.com/office/drawing/2014/main" id="{15EB3BC5-FB5F-EBF9-FAB3-F17823163FC3}"/>
                      </a:ext>
                    </a:extLst>
                  </p:cNvPr>
                  <p:cNvCxnSpPr>
                    <a:cxnSpLocks noChangeAspect="1"/>
                    <a:stCxn id="28" idx="1"/>
                    <a:endCxn id="9" idx="5"/>
                  </p:cNvCxnSpPr>
                  <p:nvPr/>
                </p:nvCxnSpPr>
                <p:spPr>
                  <a:xfrm flipH="1" flipV="1">
                    <a:off x="2895939" y="3812835"/>
                    <a:ext cx="989751" cy="522652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Прямая со стрелкой 36">
                    <a:extLst>
                      <a:ext uri="{FF2B5EF4-FFF2-40B4-BE49-F238E27FC236}">
                        <a16:creationId xmlns:a16="http://schemas.microsoft.com/office/drawing/2014/main" id="{2A70184E-F5A4-8BB9-1F66-24BE3AEE66E9}"/>
                      </a:ext>
                    </a:extLst>
                  </p:cNvPr>
                  <p:cNvCxnSpPr>
                    <a:cxnSpLocks noChangeAspect="1"/>
                    <a:stCxn id="28" idx="2"/>
                    <a:endCxn id="13" idx="6"/>
                  </p:cNvCxnSpPr>
                  <p:nvPr/>
                </p:nvCxnSpPr>
                <p:spPr>
                  <a:xfrm flipH="1" flipV="1">
                    <a:off x="2928525" y="4218055"/>
                    <a:ext cx="927972" cy="18791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Прямая со стрелкой 38">
                    <a:extLst>
                      <a:ext uri="{FF2B5EF4-FFF2-40B4-BE49-F238E27FC236}">
                        <a16:creationId xmlns:a16="http://schemas.microsoft.com/office/drawing/2014/main" id="{A24769EA-09BB-6C77-F40C-55ACE522EB99}"/>
                      </a:ext>
                    </a:extLst>
                  </p:cNvPr>
                  <p:cNvCxnSpPr>
                    <a:cxnSpLocks noChangeAspect="1"/>
                    <a:stCxn id="29" idx="1"/>
                    <a:endCxn id="13" idx="5"/>
                  </p:cNvCxnSpPr>
                  <p:nvPr/>
                </p:nvCxnSpPr>
                <p:spPr>
                  <a:xfrm flipH="1" flipV="1">
                    <a:off x="2899332" y="4288533"/>
                    <a:ext cx="1028703" cy="845234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Прямая со стрелкой 40">
                    <a:extLst>
                      <a:ext uri="{FF2B5EF4-FFF2-40B4-BE49-F238E27FC236}">
                        <a16:creationId xmlns:a16="http://schemas.microsoft.com/office/drawing/2014/main" id="{FF55E7C7-0703-F1C2-5C2E-7A3C3691D3BD}"/>
                      </a:ext>
                    </a:extLst>
                  </p:cNvPr>
                  <p:cNvCxnSpPr>
                    <a:cxnSpLocks noChangeAspect="1"/>
                    <a:stCxn id="29" idx="2"/>
                    <a:endCxn id="14" idx="5"/>
                  </p:cNvCxnSpPr>
                  <p:nvPr/>
                </p:nvCxnSpPr>
                <p:spPr>
                  <a:xfrm flipH="1" flipV="1">
                    <a:off x="2870139" y="4777565"/>
                    <a:ext cx="1028703" cy="42668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Прямая со стрелкой 42">
                    <a:extLst>
                      <a:ext uri="{FF2B5EF4-FFF2-40B4-BE49-F238E27FC236}">
                        <a16:creationId xmlns:a16="http://schemas.microsoft.com/office/drawing/2014/main" id="{8A08A91E-E9CD-45EC-DE2F-428AE9853385}"/>
                      </a:ext>
                    </a:extLst>
                  </p:cNvPr>
                  <p:cNvCxnSpPr>
                    <a:cxnSpLocks noChangeAspect="1"/>
                    <a:stCxn id="9" idx="2"/>
                    <a:endCxn id="8" idx="7"/>
                  </p:cNvCxnSpPr>
                  <p:nvPr/>
                </p:nvCxnSpPr>
                <p:spPr>
                  <a:xfrm flipH="1">
                    <a:off x="2000583" y="3742357"/>
                    <a:ext cx="725207" cy="57536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1A44F852-C042-057C-8DCC-543725AA18C1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1589191" y="2757340"/>
                    <a:ext cx="873115" cy="33393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8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Эпоха </a:t>
                    </a:r>
                    <a:r>
                      <a:rPr lang="en-US" sz="8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ru-RU" sz="8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53" name="Прямая соединительная линия 52">
                    <a:extLst>
                      <a:ext uri="{FF2B5EF4-FFF2-40B4-BE49-F238E27FC236}">
                        <a16:creationId xmlns:a16="http://schemas.microsoft.com/office/drawing/2014/main" id="{AF94AE1F-9478-C505-0CDB-6FC340C3C6E9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2543235" y="3043931"/>
                    <a:ext cx="0" cy="27622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Прямая соединительная линия 55">
                    <a:extLst>
                      <a:ext uri="{FF2B5EF4-FFF2-40B4-BE49-F238E27FC236}">
                        <a16:creationId xmlns:a16="http://schemas.microsoft.com/office/drawing/2014/main" id="{6E2485E4-EF1E-F39A-809A-3A1DFC2A353A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3425885" y="3069331"/>
                    <a:ext cx="0" cy="27114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" name="Прямая со стрелкой 64">
                    <a:extLst>
                      <a:ext uri="{FF2B5EF4-FFF2-40B4-BE49-F238E27FC236}">
                        <a16:creationId xmlns:a16="http://schemas.microsoft.com/office/drawing/2014/main" id="{9CF0FEC6-6F70-78AD-A9F7-BC0819DEE292}"/>
                      </a:ext>
                    </a:extLst>
                  </p:cNvPr>
                  <p:cNvCxnSpPr>
                    <a:cxnSpLocks noChangeAspect="1"/>
                    <a:stCxn id="27" idx="2"/>
                    <a:endCxn id="9" idx="6"/>
                  </p:cNvCxnSpPr>
                  <p:nvPr/>
                </p:nvCxnSpPr>
                <p:spPr>
                  <a:xfrm flipH="1" flipV="1">
                    <a:off x="2925132" y="3742357"/>
                    <a:ext cx="823592" cy="26365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Прямая соединительная линия 70">
                    <a:extLst>
                      <a:ext uri="{FF2B5EF4-FFF2-40B4-BE49-F238E27FC236}">
                        <a16:creationId xmlns:a16="http://schemas.microsoft.com/office/drawing/2014/main" id="{98FEB8AC-4CE5-F434-EB30-8D381D208384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4448235" y="3054632"/>
                    <a:ext cx="0" cy="27114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Прямая со стрелкой 72">
                    <a:extLst>
                      <a:ext uri="{FF2B5EF4-FFF2-40B4-BE49-F238E27FC236}">
                        <a16:creationId xmlns:a16="http://schemas.microsoft.com/office/drawing/2014/main" id="{077E4DAD-4733-EDFC-3A7A-E16C3D8143E1}"/>
                      </a:ext>
                    </a:extLst>
                  </p:cNvPr>
                  <p:cNvCxnSpPr>
                    <a:cxnSpLocks noChangeAspect="1"/>
                    <a:stCxn id="16" idx="2"/>
                    <a:endCxn id="15" idx="6"/>
                  </p:cNvCxnSpPr>
                  <p:nvPr/>
                </p:nvCxnSpPr>
                <p:spPr>
                  <a:xfrm flipH="1" flipV="1">
                    <a:off x="3981632" y="3213897"/>
                    <a:ext cx="910592" cy="41285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Прямая со стрелкой 74">
                    <a:extLst>
                      <a:ext uri="{FF2B5EF4-FFF2-40B4-BE49-F238E27FC236}">
                        <a16:creationId xmlns:a16="http://schemas.microsoft.com/office/drawing/2014/main" id="{81315996-EE89-2D32-DD1F-8DF3234337AA}"/>
                      </a:ext>
                    </a:extLst>
                  </p:cNvPr>
                  <p:cNvCxnSpPr>
                    <a:cxnSpLocks noChangeAspect="1"/>
                    <a:stCxn id="16" idx="3"/>
                    <a:endCxn id="27" idx="7"/>
                  </p:cNvCxnSpPr>
                  <p:nvPr/>
                </p:nvCxnSpPr>
                <p:spPr>
                  <a:xfrm flipH="1">
                    <a:off x="3918873" y="3325660"/>
                    <a:ext cx="1002544" cy="372584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7" name="Прямая со стрелкой 76">
                    <a:extLst>
                      <a:ext uri="{FF2B5EF4-FFF2-40B4-BE49-F238E27FC236}">
                        <a16:creationId xmlns:a16="http://schemas.microsoft.com/office/drawing/2014/main" id="{25DB8CBF-BB1A-52F8-FD44-390E68D429CF}"/>
                      </a:ext>
                    </a:extLst>
                  </p:cNvPr>
                  <p:cNvCxnSpPr>
                    <a:cxnSpLocks noChangeAspect="1"/>
                    <a:stCxn id="17" idx="1"/>
                    <a:endCxn id="15" idx="5"/>
                  </p:cNvCxnSpPr>
                  <p:nvPr/>
                </p:nvCxnSpPr>
                <p:spPr>
                  <a:xfrm flipH="1" flipV="1">
                    <a:off x="3952439" y="3284375"/>
                    <a:ext cx="1042164" cy="575517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" name="Прямая со стрелкой 78">
                    <a:extLst>
                      <a:ext uri="{FF2B5EF4-FFF2-40B4-BE49-F238E27FC236}">
                        <a16:creationId xmlns:a16="http://schemas.microsoft.com/office/drawing/2014/main" id="{99906B7E-4C5E-AF9E-3473-BC5929012DED}"/>
                      </a:ext>
                    </a:extLst>
                  </p:cNvPr>
                  <p:cNvCxnSpPr>
                    <a:cxnSpLocks noChangeAspect="1"/>
                    <a:stCxn id="17" idx="2"/>
                    <a:endCxn id="28" idx="7"/>
                  </p:cNvCxnSpPr>
                  <p:nvPr/>
                </p:nvCxnSpPr>
                <p:spPr>
                  <a:xfrm flipH="1">
                    <a:off x="4026646" y="3930370"/>
                    <a:ext cx="938764" cy="405117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" name="Прямая со стрелкой 80">
                    <a:extLst>
                      <a:ext uri="{FF2B5EF4-FFF2-40B4-BE49-F238E27FC236}">
                        <a16:creationId xmlns:a16="http://schemas.microsoft.com/office/drawing/2014/main" id="{71FE8574-066C-BDC9-F82B-390BDD203B89}"/>
                      </a:ext>
                    </a:extLst>
                  </p:cNvPr>
                  <p:cNvCxnSpPr>
                    <a:cxnSpLocks noChangeAspect="1"/>
                    <a:stCxn id="19" idx="2"/>
                    <a:endCxn id="27" idx="6"/>
                  </p:cNvCxnSpPr>
                  <p:nvPr/>
                </p:nvCxnSpPr>
                <p:spPr>
                  <a:xfrm flipH="1" flipV="1">
                    <a:off x="3948066" y="3768722"/>
                    <a:ext cx="1160024" cy="770073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Прямая со стрелкой 82">
                    <a:extLst>
                      <a:ext uri="{FF2B5EF4-FFF2-40B4-BE49-F238E27FC236}">
                        <a16:creationId xmlns:a16="http://schemas.microsoft.com/office/drawing/2014/main" id="{E17C35B1-BE77-4974-69F9-8F3BBAE207B6}"/>
                      </a:ext>
                    </a:extLst>
                  </p:cNvPr>
                  <p:cNvCxnSpPr>
                    <a:cxnSpLocks noChangeAspect="1"/>
                    <a:stCxn id="19" idx="3"/>
                    <a:endCxn id="28" idx="6"/>
                  </p:cNvCxnSpPr>
                  <p:nvPr/>
                </p:nvCxnSpPr>
                <p:spPr>
                  <a:xfrm flipH="1" flipV="1">
                    <a:off x="4055839" y="4405965"/>
                    <a:ext cx="1081444" cy="20330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" name="Прямая со стрелкой 84">
                    <a:extLst>
                      <a:ext uri="{FF2B5EF4-FFF2-40B4-BE49-F238E27FC236}">
                        <a16:creationId xmlns:a16="http://schemas.microsoft.com/office/drawing/2014/main" id="{FCA72804-861E-6DF9-DDF1-D763CD89E01D}"/>
                      </a:ext>
                    </a:extLst>
                  </p:cNvPr>
                  <p:cNvCxnSpPr>
                    <a:cxnSpLocks noChangeAspect="1"/>
                    <a:stCxn id="18" idx="1"/>
                    <a:endCxn id="28" idx="5"/>
                  </p:cNvCxnSpPr>
                  <p:nvPr/>
                </p:nvCxnSpPr>
                <p:spPr>
                  <a:xfrm flipH="1" flipV="1">
                    <a:off x="4026646" y="4476443"/>
                    <a:ext cx="709186" cy="977933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6" name="Прямая соединительная линия 85">
                    <a:extLst>
                      <a:ext uri="{FF2B5EF4-FFF2-40B4-BE49-F238E27FC236}">
                        <a16:creationId xmlns:a16="http://schemas.microsoft.com/office/drawing/2014/main" id="{02DC59C0-2E40-22A7-D49F-60929F45650B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5419785" y="2979809"/>
                    <a:ext cx="0" cy="27114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Прямая со стрелкой 135">
                    <a:extLst>
                      <a:ext uri="{FF2B5EF4-FFF2-40B4-BE49-F238E27FC236}">
                        <a16:creationId xmlns:a16="http://schemas.microsoft.com/office/drawing/2014/main" id="{CB655037-A6ED-FE10-3D03-C0AC2B4F6B83}"/>
                      </a:ext>
                    </a:extLst>
                  </p:cNvPr>
                  <p:cNvCxnSpPr>
                    <a:cxnSpLocks noChangeAspect="1"/>
                    <a:stCxn id="20" idx="2"/>
                    <a:endCxn id="16" idx="6"/>
                  </p:cNvCxnSpPr>
                  <p:nvPr/>
                </p:nvCxnSpPr>
                <p:spPr>
                  <a:xfrm flipH="1" flipV="1">
                    <a:off x="5091566" y="3255182"/>
                    <a:ext cx="727099" cy="208731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" name="Прямая со стрелкой 137">
                    <a:extLst>
                      <a:ext uri="{FF2B5EF4-FFF2-40B4-BE49-F238E27FC236}">
                        <a16:creationId xmlns:a16="http://schemas.microsoft.com/office/drawing/2014/main" id="{B16A5427-6B25-E028-C786-0A3BDAC9CB6F}"/>
                      </a:ext>
                    </a:extLst>
                  </p:cNvPr>
                  <p:cNvCxnSpPr>
                    <a:cxnSpLocks noChangeAspect="1"/>
                    <a:stCxn id="20" idx="3"/>
                    <a:endCxn id="17" idx="6"/>
                  </p:cNvCxnSpPr>
                  <p:nvPr/>
                </p:nvCxnSpPr>
                <p:spPr>
                  <a:xfrm flipH="1">
                    <a:off x="5164752" y="3534391"/>
                    <a:ext cx="683106" cy="39597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1" name="Овал 140">
                    <a:extLst>
                      <a:ext uri="{FF2B5EF4-FFF2-40B4-BE49-F238E27FC236}">
                        <a16:creationId xmlns:a16="http://schemas.microsoft.com/office/drawing/2014/main" id="{84B9186E-169B-D602-9D62-9A0CB2C0A0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5818665" y="4435285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cxnSp>
                <p:nvCxnSpPr>
                  <p:cNvPr id="143" name="Прямая со стрелкой 142">
                    <a:extLst>
                      <a:ext uri="{FF2B5EF4-FFF2-40B4-BE49-F238E27FC236}">
                        <a16:creationId xmlns:a16="http://schemas.microsoft.com/office/drawing/2014/main" id="{B86C0ABE-136C-7774-0C58-87C061DD0220}"/>
                      </a:ext>
                    </a:extLst>
                  </p:cNvPr>
                  <p:cNvCxnSpPr>
                    <a:cxnSpLocks noChangeAspect="1"/>
                    <a:stCxn id="141" idx="2"/>
                    <a:endCxn id="19" idx="6"/>
                  </p:cNvCxnSpPr>
                  <p:nvPr/>
                </p:nvCxnSpPr>
                <p:spPr>
                  <a:xfrm flipH="1">
                    <a:off x="5307432" y="4534956"/>
                    <a:ext cx="511233" cy="383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Прямая со стрелкой 144">
                    <a:extLst>
                      <a:ext uri="{FF2B5EF4-FFF2-40B4-BE49-F238E27FC236}">
                        <a16:creationId xmlns:a16="http://schemas.microsoft.com/office/drawing/2014/main" id="{5BC8DE36-4153-0CC2-836D-7DBDC844DD9B}"/>
                      </a:ext>
                    </a:extLst>
                  </p:cNvPr>
                  <p:cNvCxnSpPr>
                    <a:cxnSpLocks noChangeAspect="1"/>
                    <a:stCxn id="141" idx="3"/>
                    <a:endCxn id="18" idx="6"/>
                  </p:cNvCxnSpPr>
                  <p:nvPr/>
                </p:nvCxnSpPr>
                <p:spPr>
                  <a:xfrm flipH="1">
                    <a:off x="4905981" y="4605434"/>
                    <a:ext cx="941877" cy="91942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7" name="Прямоугольник 186">
                    <a:extLst>
                      <a:ext uri="{FF2B5EF4-FFF2-40B4-BE49-F238E27FC236}">
                        <a16:creationId xmlns:a16="http://schemas.microsoft.com/office/drawing/2014/main" id="{C7F18F6C-013E-DCCD-4DB7-F5C089ECC1D3}"/>
                      </a:ext>
                    </a:extLst>
                  </p:cNvPr>
                  <p:cNvSpPr/>
                  <p:nvPr/>
                </p:nvSpPr>
                <p:spPr>
                  <a:xfrm>
                    <a:off x="6353175" y="2059626"/>
                    <a:ext cx="349250" cy="349250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cxnSp>
                <p:nvCxnSpPr>
                  <p:cNvPr id="191" name="Соединитель: изогнутый 190">
                    <a:extLst>
                      <a:ext uri="{FF2B5EF4-FFF2-40B4-BE49-F238E27FC236}">
                        <a16:creationId xmlns:a16="http://schemas.microsoft.com/office/drawing/2014/main" id="{939999F0-0716-9AAB-F27F-2FE9830DC2B1}"/>
                      </a:ext>
                    </a:extLst>
                  </p:cNvPr>
                  <p:cNvCxnSpPr>
                    <a:cxnSpLocks/>
                    <a:stCxn id="187" idx="2"/>
                    <a:endCxn id="20" idx="6"/>
                  </p:cNvCxnSpPr>
                  <p:nvPr/>
                </p:nvCxnSpPr>
                <p:spPr>
                  <a:xfrm rot="5400000">
                    <a:off x="5745386" y="2681498"/>
                    <a:ext cx="1055037" cy="509793"/>
                  </a:xfrm>
                  <a:prstGeom prst="curvedConnector2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Соединитель: изогнутый 192">
                    <a:extLst>
                      <a:ext uri="{FF2B5EF4-FFF2-40B4-BE49-F238E27FC236}">
                        <a16:creationId xmlns:a16="http://schemas.microsoft.com/office/drawing/2014/main" id="{B1BA8CE8-98DA-D48C-4176-D86E9601ED85}"/>
                      </a:ext>
                    </a:extLst>
                  </p:cNvPr>
                  <p:cNvCxnSpPr>
                    <a:cxnSpLocks/>
                    <a:stCxn id="187" idx="2"/>
                    <a:endCxn id="141" idx="6"/>
                  </p:cNvCxnSpPr>
                  <p:nvPr/>
                </p:nvCxnSpPr>
                <p:spPr>
                  <a:xfrm rot="5400000">
                    <a:off x="5209864" y="3217020"/>
                    <a:ext cx="2126080" cy="509793"/>
                  </a:xfrm>
                  <a:prstGeom prst="curvedConnector2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616D30AD-0308-A1AC-4DEF-B9A5CB0BBC31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1446746" y="4529160"/>
                    <a:ext cx="883969" cy="5724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Генезис состояние</a:t>
                    </a:r>
                  </a:p>
                </p:txBody>
              </p:sp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B997DCD6-254B-89E4-480B-13A18D342ED3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3554235" y="2763842"/>
                    <a:ext cx="684891" cy="230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Слот 1</a:t>
                    </a:r>
                  </a:p>
                </p:txBody>
              </p:sp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D555623E-7CC3-C621-160D-3138B0337D8C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4649268" y="2751250"/>
                    <a:ext cx="684891" cy="230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Слот 2</a:t>
                    </a:r>
                  </a:p>
                </p:txBody>
              </p:sp>
              <p:sp>
                <p:nvSpPr>
                  <p:cNvPr id="201" name="TextBox 200">
                    <a:extLst>
                      <a:ext uri="{FF2B5EF4-FFF2-40B4-BE49-F238E27FC236}">
                        <a16:creationId xmlns:a16="http://schemas.microsoft.com/office/drawing/2014/main" id="{BED62B7C-BAF5-314A-9762-C1DCDD3924C5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5563048" y="2751250"/>
                    <a:ext cx="684891" cy="230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Слот 3</a:t>
                    </a:r>
                  </a:p>
                </p:txBody>
              </p:sp>
              <p:cxnSp>
                <p:nvCxnSpPr>
                  <p:cNvPr id="202" name="Прямая соединительная линия 201">
                    <a:extLst>
                      <a:ext uri="{FF2B5EF4-FFF2-40B4-BE49-F238E27FC236}">
                        <a16:creationId xmlns:a16="http://schemas.microsoft.com/office/drawing/2014/main" id="{37C56F7C-1FA3-5EB7-6436-303A919A7335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6247939" y="2979809"/>
                    <a:ext cx="0" cy="27114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8" name="Прямая соединительная линия 207">
                    <a:extLst>
                      <a:ext uri="{FF2B5EF4-FFF2-40B4-BE49-F238E27FC236}">
                        <a16:creationId xmlns:a16="http://schemas.microsoft.com/office/drawing/2014/main" id="{03B7E4DE-C366-B899-47B7-703C18A821D2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7057329" y="2979809"/>
                    <a:ext cx="0" cy="27114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9" name="Прямая соединительная линия 208">
                    <a:extLst>
                      <a:ext uri="{FF2B5EF4-FFF2-40B4-BE49-F238E27FC236}">
                        <a16:creationId xmlns:a16="http://schemas.microsoft.com/office/drawing/2014/main" id="{6ABA8DDF-29B4-331E-5AB7-09775B79E3E4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7874354" y="2979809"/>
                    <a:ext cx="0" cy="27114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90AEDD93-115B-8645-F4F4-81D45F1846F1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6938429" y="2667213"/>
                    <a:ext cx="1095878" cy="5724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Финальный слот</a:t>
                    </a:r>
                  </a:p>
                </p:txBody>
              </p:sp>
              <p:sp>
                <p:nvSpPr>
                  <p:cNvPr id="222" name="TextBox 221">
                    <a:extLst>
                      <a:ext uri="{FF2B5EF4-FFF2-40B4-BE49-F238E27FC236}">
                        <a16:creationId xmlns:a16="http://schemas.microsoft.com/office/drawing/2014/main" id="{509DFBF7-C7D7-B0CD-3C70-FCCB7C70239A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2625895" y="2763842"/>
                    <a:ext cx="684891" cy="3577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Слот 0</a:t>
                    </a:r>
                  </a:p>
                </p:txBody>
              </p:sp>
              <p:sp>
                <p:nvSpPr>
                  <p:cNvPr id="225" name="Овал 224">
                    <a:extLst>
                      <a:ext uri="{FF2B5EF4-FFF2-40B4-BE49-F238E27FC236}">
                        <a16:creationId xmlns:a16="http://schemas.microsoft.com/office/drawing/2014/main" id="{830EE46E-3621-9FA6-E8BF-4A7B5E7BE76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0762" y="6146754"/>
                    <a:ext cx="199342" cy="199341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232" name="Овал 231">
                    <a:extLst>
                      <a:ext uri="{FF2B5EF4-FFF2-40B4-BE49-F238E27FC236}">
                        <a16:creationId xmlns:a16="http://schemas.microsoft.com/office/drawing/2014/main" id="{3D55B43C-05DF-5E75-A179-6494DACC3ED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881960" y="6146756"/>
                    <a:ext cx="199342" cy="199341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</p:grpSp>
            <p:sp>
              <p:nvSpPr>
                <p:cNvPr id="203" name="TextBox 202">
                  <a:extLst>
                    <a:ext uri="{FF2B5EF4-FFF2-40B4-BE49-F238E27FC236}">
                      <a16:creationId xmlns:a16="http://schemas.microsoft.com/office/drawing/2014/main" id="{4422ECA1-BC9E-8246-A77E-021C27D68C52}"/>
                    </a:ext>
                  </a:extLst>
                </p:cNvPr>
                <p:cNvSpPr txBox="1"/>
                <p:nvPr/>
              </p:nvSpPr>
              <p:spPr>
                <a:xfrm>
                  <a:off x="3916002" y="1396335"/>
                  <a:ext cx="1877849" cy="40549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Блок подтверждения</a:t>
                  </a:r>
                </a:p>
              </p:txBody>
            </p:sp>
          </p:grpSp>
          <p:sp>
            <p:nvSpPr>
              <p:cNvPr id="210" name="Овал 209">
                <a:extLst>
                  <a:ext uri="{FF2B5EF4-FFF2-40B4-BE49-F238E27FC236}">
                    <a16:creationId xmlns:a16="http://schemas.microsoft.com/office/drawing/2014/main" id="{58063199-5CA1-B3BB-A7D6-E994166ED6D9}"/>
                  </a:ext>
                </a:extLst>
              </p:cNvPr>
              <p:cNvSpPr/>
              <p:nvPr/>
            </p:nvSpPr>
            <p:spPr>
              <a:xfrm>
                <a:off x="4203513" y="2777986"/>
                <a:ext cx="45720" cy="45720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2" name="Овал 211">
                <a:extLst>
                  <a:ext uri="{FF2B5EF4-FFF2-40B4-BE49-F238E27FC236}">
                    <a16:creationId xmlns:a16="http://schemas.microsoft.com/office/drawing/2014/main" id="{AD00C0CE-06C2-4765-77F9-C27604B0A509}"/>
                  </a:ext>
                </a:extLst>
              </p:cNvPr>
              <p:cNvSpPr/>
              <p:nvPr/>
            </p:nvSpPr>
            <p:spPr>
              <a:xfrm>
                <a:off x="4549800" y="2777071"/>
                <a:ext cx="45720" cy="45720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3" name="Овал 212">
                <a:extLst>
                  <a:ext uri="{FF2B5EF4-FFF2-40B4-BE49-F238E27FC236}">
                    <a16:creationId xmlns:a16="http://schemas.microsoft.com/office/drawing/2014/main" id="{588EAEA8-CBF3-87B9-DFA2-BA0E586DA9FE}"/>
                  </a:ext>
                </a:extLst>
              </p:cNvPr>
              <p:cNvSpPr/>
              <p:nvPr/>
            </p:nvSpPr>
            <p:spPr>
              <a:xfrm>
                <a:off x="4386129" y="2777986"/>
                <a:ext cx="45720" cy="45720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4" name="TextBox 233">
            <a:extLst>
              <a:ext uri="{FF2B5EF4-FFF2-40B4-BE49-F238E27FC236}">
                <a16:creationId xmlns:a16="http://schemas.microsoft.com/office/drawing/2014/main" id="{76D630C6-288B-79B7-8D76-ECC50C1FB472}"/>
              </a:ext>
            </a:extLst>
          </p:cNvPr>
          <p:cNvSpPr txBox="1"/>
          <p:nvPr/>
        </p:nvSpPr>
        <p:spPr>
          <a:xfrm>
            <a:off x="1426541" y="3826403"/>
            <a:ext cx="14510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транзакция принята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EB70E003-0B26-59D4-A84A-CF2E148B9B45}"/>
              </a:ext>
            </a:extLst>
          </p:cNvPr>
          <p:cNvSpPr txBox="1"/>
          <p:nvPr/>
        </p:nvSpPr>
        <p:spPr>
          <a:xfrm>
            <a:off x="3258920" y="3829438"/>
            <a:ext cx="16209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транзакция отвергнута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45CCF563-430D-04E0-25FB-5E65E45863B1}"/>
              </a:ext>
            </a:extLst>
          </p:cNvPr>
          <p:cNvSpPr txBox="1"/>
          <p:nvPr/>
        </p:nvSpPr>
        <p:spPr>
          <a:xfrm>
            <a:off x="823272" y="1055328"/>
            <a:ext cx="4619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DAG</a:t>
            </a:r>
            <a:endParaRPr lang="ru-RU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5061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30D540-672D-9A70-A4F1-550AF1A5890A}"/>
              </a:ext>
            </a:extLst>
          </p:cNvPr>
          <p:cNvSpPr txBox="1"/>
          <p:nvPr/>
        </p:nvSpPr>
        <p:spPr>
          <a:xfrm>
            <a:off x="1005504" y="4231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solidFill>
                  <a:srgbClr val="000000"/>
                </a:solidFill>
                <a:latin typeface="Arial"/>
                <a:cs typeface="Arial"/>
              </a:rPr>
              <a:t>Архитектура эмулятора модели </a:t>
            </a:r>
            <a:r>
              <a:rPr lang="en-US" sz="1800" b="1" dirty="0">
                <a:solidFill>
                  <a:srgbClr val="000000"/>
                </a:solidFill>
                <a:latin typeface="Arial"/>
                <a:cs typeface="Arial"/>
              </a:rPr>
              <a:t>DAG-</a:t>
            </a:r>
            <a:r>
              <a:rPr lang="ru-RU" sz="1800" b="1" dirty="0">
                <a:solidFill>
                  <a:srgbClr val="000000"/>
                </a:solidFill>
                <a:latin typeface="Arial"/>
                <a:cs typeface="Arial"/>
              </a:rPr>
              <a:t>реестра</a:t>
            </a:r>
            <a:endParaRPr lang="ru-RU" sz="1800" dirty="0"/>
          </a:p>
        </p:txBody>
      </p:sp>
      <p:grpSp>
        <p:nvGrpSpPr>
          <p:cNvPr id="63" name="Группа 62">
            <a:extLst>
              <a:ext uri="{FF2B5EF4-FFF2-40B4-BE49-F238E27FC236}">
                <a16:creationId xmlns:a16="http://schemas.microsoft.com/office/drawing/2014/main" id="{ADB90DAA-C08C-0C51-AEE1-CD3A5B495B9A}"/>
              </a:ext>
            </a:extLst>
          </p:cNvPr>
          <p:cNvGrpSpPr/>
          <p:nvPr/>
        </p:nvGrpSpPr>
        <p:grpSpPr>
          <a:xfrm>
            <a:off x="1479331" y="1055753"/>
            <a:ext cx="8507869" cy="4859452"/>
            <a:chOff x="1447526" y="1127315"/>
            <a:chExt cx="8507869" cy="4859452"/>
          </a:xfrm>
        </p:grpSpPr>
        <p:grpSp>
          <p:nvGrpSpPr>
            <p:cNvPr id="14" name="Группа 13">
              <a:extLst>
                <a:ext uri="{FF2B5EF4-FFF2-40B4-BE49-F238E27FC236}">
                  <a16:creationId xmlns:a16="http://schemas.microsoft.com/office/drawing/2014/main" id="{95A91599-A6E3-82B3-4692-B94D858526F3}"/>
                </a:ext>
              </a:extLst>
            </p:cNvPr>
            <p:cNvGrpSpPr/>
            <p:nvPr/>
          </p:nvGrpSpPr>
          <p:grpSpPr>
            <a:xfrm>
              <a:off x="4405615" y="2838642"/>
              <a:ext cx="2499798" cy="1376534"/>
              <a:chOff x="4464823" y="2052466"/>
              <a:chExt cx="2499798" cy="1376534"/>
            </a:xfrm>
          </p:grpSpPr>
          <p:sp>
            <p:nvSpPr>
              <p:cNvPr id="5" name="Прямоугольник: скругленные углы 4">
                <a:extLst>
                  <a:ext uri="{FF2B5EF4-FFF2-40B4-BE49-F238E27FC236}">
                    <a16:creationId xmlns:a16="http://schemas.microsoft.com/office/drawing/2014/main" id="{A85958C7-EAA5-A579-C502-9B4826F61D70}"/>
                  </a:ext>
                </a:extLst>
              </p:cNvPr>
              <p:cNvSpPr/>
              <p:nvPr/>
            </p:nvSpPr>
            <p:spPr>
              <a:xfrm>
                <a:off x="4464823" y="2052466"/>
                <a:ext cx="2499798" cy="1376534"/>
              </a:xfrm>
              <a:prstGeom prst="round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grpSp>
            <p:nvGrpSpPr>
              <p:cNvPr id="13" name="Группа 12">
                <a:extLst>
                  <a:ext uri="{FF2B5EF4-FFF2-40B4-BE49-F238E27FC236}">
                    <a16:creationId xmlns:a16="http://schemas.microsoft.com/office/drawing/2014/main" id="{6C09FFAC-FC01-6F4B-504C-B8B5529D6D2C}"/>
                  </a:ext>
                </a:extLst>
              </p:cNvPr>
              <p:cNvGrpSpPr/>
              <p:nvPr/>
            </p:nvGrpSpPr>
            <p:grpSpPr>
              <a:xfrm>
                <a:off x="4529238" y="2052466"/>
                <a:ext cx="2370968" cy="1256596"/>
                <a:chOff x="4529238" y="2052466"/>
                <a:chExt cx="2370968" cy="1256596"/>
              </a:xfrm>
            </p:grpSpPr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7721455-F2F9-B1C6-DC43-62515DF14E50}"/>
                    </a:ext>
                  </a:extLst>
                </p:cNvPr>
                <p:cNvSpPr txBox="1"/>
                <p:nvPr/>
              </p:nvSpPr>
              <p:spPr>
                <a:xfrm>
                  <a:off x="5070314" y="2052466"/>
                  <a:ext cx="135389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Модуль ядра</a:t>
                  </a:r>
                </a:p>
              </p:txBody>
            </p:sp>
            <p:grpSp>
              <p:nvGrpSpPr>
                <p:cNvPr id="12" name="Группа 11">
                  <a:extLst>
                    <a:ext uri="{FF2B5EF4-FFF2-40B4-BE49-F238E27FC236}">
                      <a16:creationId xmlns:a16="http://schemas.microsoft.com/office/drawing/2014/main" id="{26684A7A-89B4-0C98-109B-BCD77D69EA1E}"/>
                    </a:ext>
                  </a:extLst>
                </p:cNvPr>
                <p:cNvGrpSpPr/>
                <p:nvPr/>
              </p:nvGrpSpPr>
              <p:grpSpPr>
                <a:xfrm>
                  <a:off x="4529238" y="2360243"/>
                  <a:ext cx="2370968" cy="948819"/>
                  <a:chOff x="4529238" y="2360243"/>
                  <a:chExt cx="2370968" cy="948819"/>
                </a:xfrm>
              </p:grpSpPr>
              <p:sp>
                <p:nvSpPr>
                  <p:cNvPr id="7" name="Прямоугольник: скругленные углы 6">
                    <a:extLst>
                      <a:ext uri="{FF2B5EF4-FFF2-40B4-BE49-F238E27FC236}">
                        <a16:creationId xmlns:a16="http://schemas.microsoft.com/office/drawing/2014/main" id="{0C26C769-7AF8-0B92-734E-113380DDC17D}"/>
                      </a:ext>
                    </a:extLst>
                  </p:cNvPr>
                  <p:cNvSpPr/>
                  <p:nvPr/>
                </p:nvSpPr>
                <p:spPr>
                  <a:xfrm>
                    <a:off x="4529238" y="2412870"/>
                    <a:ext cx="1111753" cy="388127"/>
                  </a:xfrm>
                  <a:prstGeom prst="roundRect">
                    <a:avLst/>
                  </a:prstGeom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DAG-</a:t>
                    </a:r>
                    <a:r>
                      <a:rPr lang="ru-RU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граф</a:t>
                    </a:r>
                  </a:p>
                </p:txBody>
              </p:sp>
              <p:grpSp>
                <p:nvGrpSpPr>
                  <p:cNvPr id="11" name="Группа 10">
                    <a:extLst>
                      <a:ext uri="{FF2B5EF4-FFF2-40B4-BE49-F238E27FC236}">
                        <a16:creationId xmlns:a16="http://schemas.microsoft.com/office/drawing/2014/main" id="{C87F54B7-14F6-1A5A-B12A-E248E02664B4}"/>
                      </a:ext>
                    </a:extLst>
                  </p:cNvPr>
                  <p:cNvGrpSpPr/>
                  <p:nvPr/>
                </p:nvGrpSpPr>
                <p:grpSpPr>
                  <a:xfrm>
                    <a:off x="5120613" y="2360243"/>
                    <a:ext cx="1779593" cy="948819"/>
                    <a:chOff x="5120613" y="2360243"/>
                    <a:chExt cx="1779593" cy="948819"/>
                  </a:xfrm>
                </p:grpSpPr>
                <p:sp>
                  <p:nvSpPr>
                    <p:cNvPr id="8" name="Прямоугольник: скругленные углы 7">
                      <a:extLst>
                        <a:ext uri="{FF2B5EF4-FFF2-40B4-BE49-F238E27FC236}">
                          <a16:creationId xmlns:a16="http://schemas.microsoft.com/office/drawing/2014/main" id="{307500E1-98DC-0745-D0A0-8D400F8BD6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63173" y="2360243"/>
                      <a:ext cx="1137033" cy="498553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6"/>
                    </a:lnRef>
                    <a:fillRef idx="1">
                      <a:schemeClr val="lt1"/>
                    </a:fillRef>
                    <a:effectRef idx="0">
                      <a:schemeClr val="accent6"/>
                    </a:effectRef>
                    <a:fontRef idx="minor">
                      <a:schemeClr val="dk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ru-RU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Частота создания транзакций</a:t>
                      </a:r>
                    </a:p>
                  </p:txBody>
                </p:sp>
                <p:sp>
                  <p:nvSpPr>
                    <p:cNvPr id="10" name="Прямоугольник: скругленные углы 9">
                      <a:extLst>
                        <a:ext uri="{FF2B5EF4-FFF2-40B4-BE49-F238E27FC236}">
                          <a16:creationId xmlns:a16="http://schemas.microsoft.com/office/drawing/2014/main" id="{395F1D26-338A-B33C-5EA1-0FE3D6D370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120613" y="2920935"/>
                      <a:ext cx="1111753" cy="388127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6"/>
                    </a:lnRef>
                    <a:fillRef idx="1">
                      <a:schemeClr val="lt1"/>
                    </a:fillRef>
                    <a:effectRef idx="0">
                      <a:schemeClr val="accent6"/>
                    </a:effectRef>
                    <a:fontRef idx="minor">
                      <a:schemeClr val="dk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ru-RU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Длительность слота</a:t>
                      </a:r>
                    </a:p>
                  </p:txBody>
                </p:sp>
              </p:grpSp>
            </p:grpSp>
          </p:grpSp>
        </p:grpSp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77BF1500-B152-451E-D8E8-BAA9E63C1010}"/>
                </a:ext>
              </a:extLst>
            </p:cNvPr>
            <p:cNvGrpSpPr/>
            <p:nvPr/>
          </p:nvGrpSpPr>
          <p:grpSpPr>
            <a:xfrm>
              <a:off x="4438155" y="1127315"/>
              <a:ext cx="2499798" cy="1376534"/>
              <a:chOff x="4464823" y="2052466"/>
              <a:chExt cx="2499798" cy="1376534"/>
            </a:xfrm>
          </p:grpSpPr>
          <p:sp>
            <p:nvSpPr>
              <p:cNvPr id="16" name="Прямоугольник: скругленные углы 15">
                <a:extLst>
                  <a:ext uri="{FF2B5EF4-FFF2-40B4-BE49-F238E27FC236}">
                    <a16:creationId xmlns:a16="http://schemas.microsoft.com/office/drawing/2014/main" id="{637AEBC2-812D-51D3-26B1-2ADBD1847FA6}"/>
                  </a:ext>
                </a:extLst>
              </p:cNvPr>
              <p:cNvSpPr/>
              <p:nvPr/>
            </p:nvSpPr>
            <p:spPr>
              <a:xfrm>
                <a:off x="4464823" y="2052466"/>
                <a:ext cx="2499798" cy="1376534"/>
              </a:xfrm>
              <a:prstGeom prst="round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grpSp>
            <p:nvGrpSpPr>
              <p:cNvPr id="17" name="Группа 16">
                <a:extLst>
                  <a:ext uri="{FF2B5EF4-FFF2-40B4-BE49-F238E27FC236}">
                    <a16:creationId xmlns:a16="http://schemas.microsoft.com/office/drawing/2014/main" id="{A3446B14-4227-D656-9421-05F30B4F6A55}"/>
                  </a:ext>
                </a:extLst>
              </p:cNvPr>
              <p:cNvGrpSpPr/>
              <p:nvPr/>
            </p:nvGrpSpPr>
            <p:grpSpPr>
              <a:xfrm>
                <a:off x="4529238" y="2078780"/>
                <a:ext cx="2322184" cy="1269752"/>
                <a:chOff x="4529238" y="2078780"/>
                <a:chExt cx="2322184" cy="1269752"/>
              </a:xfrm>
            </p:grpSpPr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0F42EE1-C870-062C-825C-7CC313A77D6B}"/>
                    </a:ext>
                  </a:extLst>
                </p:cNvPr>
                <p:cNvSpPr txBox="1"/>
                <p:nvPr/>
              </p:nvSpPr>
              <p:spPr>
                <a:xfrm>
                  <a:off x="4860257" y="2078780"/>
                  <a:ext cx="170892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Модуль </a:t>
                  </a:r>
                  <a:r>
                    <a:rPr lang="en-US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P2P </a:t>
                  </a:r>
                  <a:r>
                    <a:rPr lang="ru-RU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сети</a:t>
                  </a:r>
                </a:p>
              </p:txBody>
            </p:sp>
            <p:grpSp>
              <p:nvGrpSpPr>
                <p:cNvPr id="19" name="Группа 18">
                  <a:extLst>
                    <a:ext uri="{FF2B5EF4-FFF2-40B4-BE49-F238E27FC236}">
                      <a16:creationId xmlns:a16="http://schemas.microsoft.com/office/drawing/2014/main" id="{88D743FC-B9B9-8537-1002-4B66403E8A7C}"/>
                    </a:ext>
                  </a:extLst>
                </p:cNvPr>
                <p:cNvGrpSpPr/>
                <p:nvPr/>
              </p:nvGrpSpPr>
              <p:grpSpPr>
                <a:xfrm>
                  <a:off x="4529238" y="2412870"/>
                  <a:ext cx="2322184" cy="935662"/>
                  <a:chOff x="4529238" y="2412870"/>
                  <a:chExt cx="2322184" cy="935662"/>
                </a:xfrm>
              </p:grpSpPr>
              <p:sp>
                <p:nvSpPr>
                  <p:cNvPr id="20" name="Прямоугольник: скругленные углы 19">
                    <a:extLst>
                      <a:ext uri="{FF2B5EF4-FFF2-40B4-BE49-F238E27FC236}">
                        <a16:creationId xmlns:a16="http://schemas.microsoft.com/office/drawing/2014/main" id="{5CF23C40-58B2-3130-4687-90D2221A3E15}"/>
                      </a:ext>
                    </a:extLst>
                  </p:cNvPr>
                  <p:cNvSpPr/>
                  <p:nvPr/>
                </p:nvSpPr>
                <p:spPr>
                  <a:xfrm>
                    <a:off x="4529238" y="2412870"/>
                    <a:ext cx="1111753" cy="388127"/>
                  </a:xfrm>
                  <a:prstGeom prst="roundRect">
                    <a:avLst/>
                  </a:prstGeom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ru-RU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Число узлов</a:t>
                    </a:r>
                  </a:p>
                </p:txBody>
              </p:sp>
              <p:grpSp>
                <p:nvGrpSpPr>
                  <p:cNvPr id="21" name="Группа 20">
                    <a:extLst>
                      <a:ext uri="{FF2B5EF4-FFF2-40B4-BE49-F238E27FC236}">
                        <a16:creationId xmlns:a16="http://schemas.microsoft.com/office/drawing/2014/main" id="{5E0D7EB2-C9A6-9A11-8759-6CF5D8CE765D}"/>
                      </a:ext>
                    </a:extLst>
                  </p:cNvPr>
                  <p:cNvGrpSpPr/>
                  <p:nvPr/>
                </p:nvGrpSpPr>
                <p:grpSpPr>
                  <a:xfrm>
                    <a:off x="5049616" y="2412870"/>
                    <a:ext cx="1801806" cy="935662"/>
                    <a:chOff x="5049616" y="2412870"/>
                    <a:chExt cx="1801806" cy="935662"/>
                  </a:xfrm>
                </p:grpSpPr>
                <p:sp>
                  <p:nvSpPr>
                    <p:cNvPr id="22" name="Прямоугольник: скругленные углы 21">
                      <a:extLst>
                        <a:ext uri="{FF2B5EF4-FFF2-40B4-BE49-F238E27FC236}">
                          <a16:creationId xmlns:a16="http://schemas.microsoft.com/office/drawing/2014/main" id="{D1591D6E-4C8D-EC0F-ACAD-9A0F104EBC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89007" y="2412870"/>
                      <a:ext cx="1062415" cy="388127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6"/>
                    </a:lnRef>
                    <a:fillRef idx="1">
                      <a:schemeClr val="lt1"/>
                    </a:fillRef>
                    <a:effectRef idx="0">
                      <a:schemeClr val="accent6"/>
                    </a:effectRef>
                    <a:fontRef idx="minor">
                      <a:schemeClr val="dk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ru-RU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Сетевые задержки </a:t>
                      </a:r>
                    </a:p>
                  </p:txBody>
                </p:sp>
                <p:sp>
                  <p:nvSpPr>
                    <p:cNvPr id="23" name="Прямоугольник: скругленные углы 22">
                      <a:extLst>
                        <a:ext uri="{FF2B5EF4-FFF2-40B4-BE49-F238E27FC236}">
                          <a16:creationId xmlns:a16="http://schemas.microsoft.com/office/drawing/2014/main" id="{90F882C7-7115-8B1E-233A-296287BB9E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049616" y="2907778"/>
                      <a:ext cx="1182749" cy="440754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6"/>
                    </a:lnRef>
                    <a:fillRef idx="1">
                      <a:schemeClr val="lt1"/>
                    </a:fillRef>
                    <a:effectRef idx="0">
                      <a:schemeClr val="accent6"/>
                    </a:effectRef>
                    <a:fontRef idx="minor">
                      <a:schemeClr val="dk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ru-RU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Пропускная способность канала</a:t>
                      </a:r>
                    </a:p>
                  </p:txBody>
                </p:sp>
              </p:grpSp>
            </p:grpSp>
          </p:grpSp>
        </p:grpSp>
        <p:grpSp>
          <p:nvGrpSpPr>
            <p:cNvPr id="24" name="Группа 23">
              <a:extLst>
                <a:ext uri="{FF2B5EF4-FFF2-40B4-BE49-F238E27FC236}">
                  <a16:creationId xmlns:a16="http://schemas.microsoft.com/office/drawing/2014/main" id="{EB8C358F-BAE9-AFAD-9D8D-0591E817995D}"/>
                </a:ext>
              </a:extLst>
            </p:cNvPr>
            <p:cNvGrpSpPr/>
            <p:nvPr/>
          </p:nvGrpSpPr>
          <p:grpSpPr>
            <a:xfrm>
              <a:off x="1447526" y="2838642"/>
              <a:ext cx="2499798" cy="1376534"/>
              <a:chOff x="4464823" y="2052466"/>
              <a:chExt cx="2499798" cy="1376534"/>
            </a:xfrm>
          </p:grpSpPr>
          <p:sp>
            <p:nvSpPr>
              <p:cNvPr id="25" name="Прямоугольник: скругленные углы 24">
                <a:extLst>
                  <a:ext uri="{FF2B5EF4-FFF2-40B4-BE49-F238E27FC236}">
                    <a16:creationId xmlns:a16="http://schemas.microsoft.com/office/drawing/2014/main" id="{F0FCAFCC-BAE9-DD81-15E5-385EEFC8441A}"/>
                  </a:ext>
                </a:extLst>
              </p:cNvPr>
              <p:cNvSpPr/>
              <p:nvPr/>
            </p:nvSpPr>
            <p:spPr>
              <a:xfrm>
                <a:off x="4464823" y="2052466"/>
                <a:ext cx="2499798" cy="1376534"/>
              </a:xfrm>
              <a:prstGeom prst="round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grpSp>
            <p:nvGrpSpPr>
              <p:cNvPr id="26" name="Группа 25">
                <a:extLst>
                  <a:ext uri="{FF2B5EF4-FFF2-40B4-BE49-F238E27FC236}">
                    <a16:creationId xmlns:a16="http://schemas.microsoft.com/office/drawing/2014/main" id="{DF311E24-54B4-EF93-C7E6-D74D66EFDB92}"/>
                  </a:ext>
                </a:extLst>
              </p:cNvPr>
              <p:cNvGrpSpPr/>
              <p:nvPr/>
            </p:nvGrpSpPr>
            <p:grpSpPr>
              <a:xfrm>
                <a:off x="4969850" y="2061804"/>
                <a:ext cx="1382931" cy="1336596"/>
                <a:chOff x="4969850" y="2061804"/>
                <a:chExt cx="1382931" cy="1336596"/>
              </a:xfrm>
            </p:grpSpPr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90A835C4-EFCC-160C-4463-8D1E43E16123}"/>
                    </a:ext>
                  </a:extLst>
                </p:cNvPr>
                <p:cNvSpPr txBox="1"/>
                <p:nvPr/>
              </p:nvSpPr>
              <p:spPr>
                <a:xfrm>
                  <a:off x="5048578" y="2061804"/>
                  <a:ext cx="130420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Модуль атак</a:t>
                  </a:r>
                </a:p>
              </p:txBody>
            </p:sp>
            <p:grpSp>
              <p:nvGrpSpPr>
                <p:cNvPr id="28" name="Группа 27">
                  <a:extLst>
                    <a:ext uri="{FF2B5EF4-FFF2-40B4-BE49-F238E27FC236}">
                      <a16:creationId xmlns:a16="http://schemas.microsoft.com/office/drawing/2014/main" id="{921CAB2B-6E48-0C4D-3C24-3D77F303F865}"/>
                    </a:ext>
                  </a:extLst>
                </p:cNvPr>
                <p:cNvGrpSpPr/>
                <p:nvPr/>
              </p:nvGrpSpPr>
              <p:grpSpPr>
                <a:xfrm>
                  <a:off x="4969850" y="2386556"/>
                  <a:ext cx="1342279" cy="1011844"/>
                  <a:chOff x="4969850" y="2386556"/>
                  <a:chExt cx="1342279" cy="1011844"/>
                </a:xfrm>
              </p:grpSpPr>
              <p:sp>
                <p:nvSpPr>
                  <p:cNvPr id="29" name="Прямоугольник: скругленные углы 28">
                    <a:extLst>
                      <a:ext uri="{FF2B5EF4-FFF2-40B4-BE49-F238E27FC236}">
                        <a16:creationId xmlns:a16="http://schemas.microsoft.com/office/drawing/2014/main" id="{65E744A9-A6C2-5D95-65E0-BE10A2030A1A}"/>
                      </a:ext>
                    </a:extLst>
                  </p:cNvPr>
                  <p:cNvSpPr/>
                  <p:nvPr/>
                </p:nvSpPr>
                <p:spPr>
                  <a:xfrm>
                    <a:off x="4969850" y="2386556"/>
                    <a:ext cx="1342279" cy="440754"/>
                  </a:xfrm>
                  <a:prstGeom prst="roundRect">
                    <a:avLst/>
                  </a:prstGeom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ru-RU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Число злоумышленников</a:t>
                    </a:r>
                  </a:p>
                </p:txBody>
              </p:sp>
              <p:sp>
                <p:nvSpPr>
                  <p:cNvPr id="32" name="Прямоугольник: скругленные углы 31">
                    <a:extLst>
                      <a:ext uri="{FF2B5EF4-FFF2-40B4-BE49-F238E27FC236}">
                        <a16:creationId xmlns:a16="http://schemas.microsoft.com/office/drawing/2014/main" id="{AB974295-3E6F-05B3-AB94-BC08FE2185AA}"/>
                      </a:ext>
                    </a:extLst>
                  </p:cNvPr>
                  <p:cNvSpPr/>
                  <p:nvPr/>
                </p:nvSpPr>
                <p:spPr>
                  <a:xfrm>
                    <a:off x="5009732" y="2907778"/>
                    <a:ext cx="1262513" cy="490622"/>
                  </a:xfrm>
                  <a:prstGeom prst="roundRect">
                    <a:avLst/>
                  </a:prstGeom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ru-RU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Количество конфликтов за слот</a:t>
                    </a:r>
                  </a:p>
                </p:txBody>
              </p:sp>
            </p:grpSp>
          </p:grpSp>
        </p:grpSp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5422DAA9-A9B7-8638-CBB1-134AC8A063E6}"/>
                </a:ext>
              </a:extLst>
            </p:cNvPr>
            <p:cNvGrpSpPr/>
            <p:nvPr/>
          </p:nvGrpSpPr>
          <p:grpSpPr>
            <a:xfrm>
              <a:off x="7455597" y="2806898"/>
              <a:ext cx="2499798" cy="1408278"/>
              <a:chOff x="4464823" y="2020722"/>
              <a:chExt cx="2499798" cy="1408278"/>
            </a:xfrm>
          </p:grpSpPr>
          <p:sp>
            <p:nvSpPr>
              <p:cNvPr id="34" name="Прямоугольник: скругленные углы 33">
                <a:extLst>
                  <a:ext uri="{FF2B5EF4-FFF2-40B4-BE49-F238E27FC236}">
                    <a16:creationId xmlns:a16="http://schemas.microsoft.com/office/drawing/2014/main" id="{DB0AFAA3-641A-56B0-AA4E-CEC21B080D69}"/>
                  </a:ext>
                </a:extLst>
              </p:cNvPr>
              <p:cNvSpPr/>
              <p:nvPr/>
            </p:nvSpPr>
            <p:spPr>
              <a:xfrm>
                <a:off x="4464823" y="2052466"/>
                <a:ext cx="2499798" cy="1376534"/>
              </a:xfrm>
              <a:prstGeom prst="round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grpSp>
            <p:nvGrpSpPr>
              <p:cNvPr id="35" name="Группа 34">
                <a:extLst>
                  <a:ext uri="{FF2B5EF4-FFF2-40B4-BE49-F238E27FC236}">
                    <a16:creationId xmlns:a16="http://schemas.microsoft.com/office/drawing/2014/main" id="{EF412356-E191-5E00-78D1-3F0158EC2AD4}"/>
                  </a:ext>
                </a:extLst>
              </p:cNvPr>
              <p:cNvGrpSpPr/>
              <p:nvPr/>
            </p:nvGrpSpPr>
            <p:grpSpPr>
              <a:xfrm>
                <a:off x="4529238" y="2020722"/>
                <a:ext cx="2371521" cy="1369927"/>
                <a:chOff x="4529238" y="2020722"/>
                <a:chExt cx="2371521" cy="1369927"/>
              </a:xfrm>
            </p:grpSpPr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9A9F783B-E194-C60D-85F1-53B26C4539DB}"/>
                    </a:ext>
                  </a:extLst>
                </p:cNvPr>
                <p:cNvSpPr txBox="1"/>
                <p:nvPr/>
              </p:nvSpPr>
              <p:spPr>
                <a:xfrm>
                  <a:off x="4746764" y="2020722"/>
                  <a:ext cx="1935915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Модуль консенсуса</a:t>
                  </a:r>
                </a:p>
              </p:txBody>
            </p:sp>
            <p:grpSp>
              <p:nvGrpSpPr>
                <p:cNvPr id="37" name="Группа 36">
                  <a:extLst>
                    <a:ext uri="{FF2B5EF4-FFF2-40B4-BE49-F238E27FC236}">
                      <a16:creationId xmlns:a16="http://schemas.microsoft.com/office/drawing/2014/main" id="{53531092-764C-2CF4-695D-6CA44BDDA2AA}"/>
                    </a:ext>
                  </a:extLst>
                </p:cNvPr>
                <p:cNvGrpSpPr/>
                <p:nvPr/>
              </p:nvGrpSpPr>
              <p:grpSpPr>
                <a:xfrm>
                  <a:off x="4529238" y="2360243"/>
                  <a:ext cx="2371521" cy="1030406"/>
                  <a:chOff x="4529238" y="2360243"/>
                  <a:chExt cx="2371521" cy="1030406"/>
                </a:xfrm>
              </p:grpSpPr>
              <p:sp>
                <p:nvSpPr>
                  <p:cNvPr id="38" name="Прямоугольник: скругленные углы 37">
                    <a:extLst>
                      <a:ext uri="{FF2B5EF4-FFF2-40B4-BE49-F238E27FC236}">
                        <a16:creationId xmlns:a16="http://schemas.microsoft.com/office/drawing/2014/main" id="{AA7DCE9A-AEB2-4B17-D74B-C35A3415DC83}"/>
                      </a:ext>
                    </a:extLst>
                  </p:cNvPr>
                  <p:cNvSpPr/>
                  <p:nvPr/>
                </p:nvSpPr>
                <p:spPr>
                  <a:xfrm>
                    <a:off x="4529238" y="2360243"/>
                    <a:ext cx="1195906" cy="497204"/>
                  </a:xfrm>
                  <a:prstGeom prst="roundRect">
                    <a:avLst/>
                  </a:prstGeom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ru-RU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Количество валидаторов</a:t>
                    </a:r>
                  </a:p>
                </p:txBody>
              </p:sp>
              <p:grpSp>
                <p:nvGrpSpPr>
                  <p:cNvPr id="39" name="Группа 38">
                    <a:extLst>
                      <a:ext uri="{FF2B5EF4-FFF2-40B4-BE49-F238E27FC236}">
                        <a16:creationId xmlns:a16="http://schemas.microsoft.com/office/drawing/2014/main" id="{67E7AC84-C32C-0C6E-00D0-4D280214C0F8}"/>
                      </a:ext>
                    </a:extLst>
                  </p:cNvPr>
                  <p:cNvGrpSpPr/>
                  <p:nvPr/>
                </p:nvGrpSpPr>
                <p:grpSpPr>
                  <a:xfrm>
                    <a:off x="4981162" y="2360243"/>
                    <a:ext cx="1919597" cy="1030406"/>
                    <a:chOff x="4981162" y="2360243"/>
                    <a:chExt cx="1919597" cy="1030406"/>
                  </a:xfrm>
                </p:grpSpPr>
                <p:sp>
                  <p:nvSpPr>
                    <p:cNvPr id="40" name="Прямоугольник: скругленные углы 39">
                      <a:extLst>
                        <a:ext uri="{FF2B5EF4-FFF2-40B4-BE49-F238E27FC236}">
                          <a16:creationId xmlns:a16="http://schemas.microsoft.com/office/drawing/2014/main" id="{3F8A0CC1-9E89-1F62-4751-9CF0439892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89006" y="2360243"/>
                      <a:ext cx="1111753" cy="497204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6"/>
                    </a:lnRef>
                    <a:fillRef idx="1">
                      <a:schemeClr val="lt1"/>
                    </a:fillRef>
                    <a:effectRef idx="0">
                      <a:schemeClr val="accent6"/>
                    </a:effectRef>
                    <a:fontRef idx="minor">
                      <a:schemeClr val="dk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ru-RU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Количество слотов для финализации </a:t>
                      </a:r>
                    </a:p>
                  </p:txBody>
                </p:sp>
                <p:sp>
                  <p:nvSpPr>
                    <p:cNvPr id="41" name="Прямоугольник: скругленные углы 40">
                      <a:extLst>
                        <a:ext uri="{FF2B5EF4-FFF2-40B4-BE49-F238E27FC236}">
                          <a16:creationId xmlns:a16="http://schemas.microsoft.com/office/drawing/2014/main" id="{14A532CC-9155-DBFB-A3BF-F676CF7357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1162" y="2907190"/>
                      <a:ext cx="1615688" cy="483459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6"/>
                    </a:lnRef>
                    <a:fillRef idx="1">
                      <a:schemeClr val="lt1"/>
                    </a:fillRef>
                    <a:effectRef idx="0">
                      <a:schemeClr val="accent6"/>
                    </a:effectRef>
                    <a:fontRef idx="minor">
                      <a:schemeClr val="dk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ru-RU" sz="1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Набор параметров для валидаторных блоков</a:t>
                      </a:r>
                    </a:p>
                  </p:txBody>
                </p:sp>
              </p:grpSp>
            </p:grpSp>
          </p:grpSp>
        </p:grpSp>
        <p:cxnSp>
          <p:nvCxnSpPr>
            <p:cNvPr id="45" name="Прямая со стрелкой 44">
              <a:extLst>
                <a:ext uri="{FF2B5EF4-FFF2-40B4-BE49-F238E27FC236}">
                  <a16:creationId xmlns:a16="http://schemas.microsoft.com/office/drawing/2014/main" id="{00E76FC0-9E80-1F7F-7A4E-67A6F5453560}"/>
                </a:ext>
              </a:extLst>
            </p:cNvPr>
            <p:cNvCxnSpPr>
              <a:stCxn id="25" idx="3"/>
              <a:endCxn id="5" idx="1"/>
            </p:cNvCxnSpPr>
            <p:nvPr/>
          </p:nvCxnSpPr>
          <p:spPr>
            <a:xfrm>
              <a:off x="3947324" y="3526909"/>
              <a:ext cx="45829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Прямая со стрелкой 46">
              <a:extLst>
                <a:ext uri="{FF2B5EF4-FFF2-40B4-BE49-F238E27FC236}">
                  <a16:creationId xmlns:a16="http://schemas.microsoft.com/office/drawing/2014/main" id="{64D1DAD8-61DE-75E5-34F0-89332CD71137}"/>
                </a:ext>
              </a:extLst>
            </p:cNvPr>
            <p:cNvCxnSpPr>
              <a:cxnSpLocks/>
              <a:stCxn id="6" idx="0"/>
              <a:endCxn id="16" idx="2"/>
            </p:cNvCxnSpPr>
            <p:nvPr/>
          </p:nvCxnSpPr>
          <p:spPr>
            <a:xfrm flipH="1" flipV="1">
              <a:off x="5688054" y="2503849"/>
              <a:ext cx="1" cy="33479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Прямая со стрелкой 50">
              <a:extLst>
                <a:ext uri="{FF2B5EF4-FFF2-40B4-BE49-F238E27FC236}">
                  <a16:creationId xmlns:a16="http://schemas.microsoft.com/office/drawing/2014/main" id="{2676D7C3-E8D3-B75E-58B4-BB4F91F38944}"/>
                </a:ext>
              </a:extLst>
            </p:cNvPr>
            <p:cNvCxnSpPr>
              <a:stCxn id="5" idx="3"/>
              <a:endCxn id="34" idx="1"/>
            </p:cNvCxnSpPr>
            <p:nvPr/>
          </p:nvCxnSpPr>
          <p:spPr>
            <a:xfrm>
              <a:off x="6905413" y="3526909"/>
              <a:ext cx="550184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Группа 51">
              <a:extLst>
                <a:ext uri="{FF2B5EF4-FFF2-40B4-BE49-F238E27FC236}">
                  <a16:creationId xmlns:a16="http://schemas.microsoft.com/office/drawing/2014/main" id="{DDDBB41C-D78A-6C1C-83C2-1C542C4EE437}"/>
                </a:ext>
              </a:extLst>
            </p:cNvPr>
            <p:cNvGrpSpPr/>
            <p:nvPr/>
          </p:nvGrpSpPr>
          <p:grpSpPr>
            <a:xfrm>
              <a:off x="4405615" y="4610233"/>
              <a:ext cx="2499798" cy="1376534"/>
              <a:chOff x="4464823" y="2007178"/>
              <a:chExt cx="2499798" cy="1376534"/>
            </a:xfrm>
          </p:grpSpPr>
          <p:sp>
            <p:nvSpPr>
              <p:cNvPr id="53" name="Прямоугольник: скругленные углы 52">
                <a:extLst>
                  <a:ext uri="{FF2B5EF4-FFF2-40B4-BE49-F238E27FC236}">
                    <a16:creationId xmlns:a16="http://schemas.microsoft.com/office/drawing/2014/main" id="{410806A1-B63B-8731-106C-EA1BDC0CE2B5}"/>
                  </a:ext>
                </a:extLst>
              </p:cNvPr>
              <p:cNvSpPr/>
              <p:nvPr/>
            </p:nvSpPr>
            <p:spPr>
              <a:xfrm>
                <a:off x="4464823" y="2007178"/>
                <a:ext cx="2499798" cy="1376534"/>
              </a:xfrm>
              <a:prstGeom prst="round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grpSp>
            <p:nvGrpSpPr>
              <p:cNvPr id="54" name="Группа 53">
                <a:extLst>
                  <a:ext uri="{FF2B5EF4-FFF2-40B4-BE49-F238E27FC236}">
                    <a16:creationId xmlns:a16="http://schemas.microsoft.com/office/drawing/2014/main" id="{8697927A-DAE6-B162-5441-8D81722554D2}"/>
                  </a:ext>
                </a:extLst>
              </p:cNvPr>
              <p:cNvGrpSpPr/>
              <p:nvPr/>
            </p:nvGrpSpPr>
            <p:grpSpPr>
              <a:xfrm>
                <a:off x="4561778" y="2064212"/>
                <a:ext cx="2300268" cy="889738"/>
                <a:chOff x="4561778" y="2064212"/>
                <a:chExt cx="2300268" cy="889738"/>
              </a:xfrm>
            </p:grpSpPr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7A9A3C1C-1B4C-1805-893B-4AAD11CDE998}"/>
                    </a:ext>
                  </a:extLst>
                </p:cNvPr>
                <p:cNvSpPr txBox="1"/>
                <p:nvPr/>
              </p:nvSpPr>
              <p:spPr>
                <a:xfrm>
                  <a:off x="4937231" y="2064212"/>
                  <a:ext cx="162005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Модуль вывода</a:t>
                  </a:r>
                </a:p>
              </p:txBody>
            </p:sp>
            <p:grpSp>
              <p:nvGrpSpPr>
                <p:cNvPr id="56" name="Группа 55">
                  <a:extLst>
                    <a:ext uri="{FF2B5EF4-FFF2-40B4-BE49-F238E27FC236}">
                      <a16:creationId xmlns:a16="http://schemas.microsoft.com/office/drawing/2014/main" id="{339EA82B-5139-168E-6103-CAC051F7736F}"/>
                    </a:ext>
                  </a:extLst>
                </p:cNvPr>
                <p:cNvGrpSpPr/>
                <p:nvPr/>
              </p:nvGrpSpPr>
              <p:grpSpPr>
                <a:xfrm>
                  <a:off x="4561778" y="2565822"/>
                  <a:ext cx="2300268" cy="388128"/>
                  <a:chOff x="4561778" y="2565822"/>
                  <a:chExt cx="2300268" cy="388128"/>
                </a:xfrm>
              </p:grpSpPr>
              <p:sp>
                <p:nvSpPr>
                  <p:cNvPr id="57" name="Прямоугольник: скругленные углы 56">
                    <a:extLst>
                      <a:ext uri="{FF2B5EF4-FFF2-40B4-BE49-F238E27FC236}">
                        <a16:creationId xmlns:a16="http://schemas.microsoft.com/office/drawing/2014/main" id="{8BF4045D-A8C5-3C82-E51A-7F9E685E6E51}"/>
                      </a:ext>
                    </a:extLst>
                  </p:cNvPr>
                  <p:cNvSpPr/>
                  <p:nvPr/>
                </p:nvSpPr>
                <p:spPr>
                  <a:xfrm>
                    <a:off x="4561778" y="2565823"/>
                    <a:ext cx="1111753" cy="388127"/>
                  </a:xfrm>
                  <a:prstGeom prst="roundRect">
                    <a:avLst/>
                  </a:prstGeom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ru-RU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Визуализация</a:t>
                    </a:r>
                    <a:r>
                      <a: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DAG</a:t>
                    </a:r>
                    <a:endParaRPr lang="ru-RU" sz="10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9" name="Прямоугольник: скругленные углы 58">
                    <a:extLst>
                      <a:ext uri="{FF2B5EF4-FFF2-40B4-BE49-F238E27FC236}">
                        <a16:creationId xmlns:a16="http://schemas.microsoft.com/office/drawing/2014/main" id="{91313D08-A131-729E-AFA6-84CC29545DD3}"/>
                      </a:ext>
                    </a:extLst>
                  </p:cNvPr>
                  <p:cNvSpPr/>
                  <p:nvPr/>
                </p:nvSpPr>
                <p:spPr>
                  <a:xfrm>
                    <a:off x="5799631" y="2565822"/>
                    <a:ext cx="1062415" cy="388127"/>
                  </a:xfrm>
                  <a:prstGeom prst="roundRect">
                    <a:avLst/>
                  </a:prstGeom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ru-RU" sz="1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Графики</a:t>
                    </a:r>
                  </a:p>
                </p:txBody>
              </p:sp>
            </p:grpSp>
          </p:grpSp>
        </p:grpSp>
        <p:cxnSp>
          <p:nvCxnSpPr>
            <p:cNvPr id="62" name="Прямая со стрелкой 61">
              <a:extLst>
                <a:ext uri="{FF2B5EF4-FFF2-40B4-BE49-F238E27FC236}">
                  <a16:creationId xmlns:a16="http://schemas.microsoft.com/office/drawing/2014/main" id="{DDDBC5E4-625A-B29C-7274-6AB740730A5C}"/>
                </a:ext>
              </a:extLst>
            </p:cNvPr>
            <p:cNvCxnSpPr>
              <a:stCxn id="5" idx="2"/>
              <a:endCxn id="53" idx="0"/>
            </p:cNvCxnSpPr>
            <p:nvPr/>
          </p:nvCxnSpPr>
          <p:spPr>
            <a:xfrm>
              <a:off x="5655514" y="4215176"/>
              <a:ext cx="0" cy="395057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65686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5CB8A-48BA-0469-4FFD-A1D9ADDE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Рисунок 80">
            <a:extLst>
              <a:ext uri="{FF2B5EF4-FFF2-40B4-BE49-F238E27FC236}">
                <a16:creationId xmlns:a16="http://schemas.microsoft.com/office/drawing/2014/main" id="{D38E9BD8-7B88-24EA-A338-5347E2ED5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550" y="507623"/>
            <a:ext cx="6536790" cy="36057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2F44561-1F1D-959A-180F-5CA9CFFC10FA}"/>
              </a:ext>
            </a:extLst>
          </p:cNvPr>
          <p:cNvSpPr txBox="1"/>
          <p:nvPr/>
        </p:nvSpPr>
        <p:spPr>
          <a:xfrm>
            <a:off x="2949340" y="1099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solidFill>
                  <a:srgbClr val="000000"/>
                </a:solidFill>
                <a:latin typeface="Arial"/>
                <a:cs typeface="Arial"/>
              </a:rPr>
              <a:t>Архитектура эмулятора модели </a:t>
            </a:r>
            <a:r>
              <a:rPr lang="en-US" sz="1800" b="1" dirty="0">
                <a:solidFill>
                  <a:srgbClr val="000000"/>
                </a:solidFill>
                <a:latin typeface="Arial"/>
                <a:cs typeface="Arial"/>
              </a:rPr>
              <a:t>DAG-</a:t>
            </a:r>
            <a:r>
              <a:rPr lang="ru-RU" sz="1800" b="1" dirty="0">
                <a:solidFill>
                  <a:srgbClr val="000000"/>
                </a:solidFill>
                <a:latin typeface="Arial"/>
                <a:cs typeface="Arial"/>
              </a:rPr>
              <a:t>реестра</a:t>
            </a:r>
            <a:endParaRPr lang="ru-RU" sz="1800" dirty="0"/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527D2DEB-1609-6416-1D11-A22FB8A40C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136" y="4310612"/>
            <a:ext cx="3246516" cy="23873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D65B2084-6497-131B-5104-47A792F88B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1232" y="4362432"/>
            <a:ext cx="3877632" cy="2165046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60" name="Соединитель: уступ 59">
            <a:extLst>
              <a:ext uri="{FF2B5EF4-FFF2-40B4-BE49-F238E27FC236}">
                <a16:creationId xmlns:a16="http://schemas.microsoft.com/office/drawing/2014/main" id="{854E6B0A-EFF8-7BC9-D901-2DA23614C1A4}"/>
              </a:ext>
            </a:extLst>
          </p:cNvPr>
          <p:cNvCxnSpPr>
            <a:cxnSpLocks/>
            <a:endCxn id="30" idx="0"/>
          </p:cNvCxnSpPr>
          <p:nvPr/>
        </p:nvCxnSpPr>
        <p:spPr>
          <a:xfrm rot="10800000" flipV="1">
            <a:off x="1886395" y="3429000"/>
            <a:ext cx="2860535" cy="881612"/>
          </a:xfrm>
          <a:prstGeom prst="bentConnector2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Прямая со стрелкой 68">
            <a:extLst>
              <a:ext uri="{FF2B5EF4-FFF2-40B4-BE49-F238E27FC236}">
                <a16:creationId xmlns:a16="http://schemas.microsoft.com/office/drawing/2014/main" id="{59351A4A-BC9B-19E6-2378-0D7BD495CE58}"/>
              </a:ext>
            </a:extLst>
          </p:cNvPr>
          <p:cNvCxnSpPr>
            <a:cxnSpLocks/>
          </p:cNvCxnSpPr>
          <p:nvPr/>
        </p:nvCxnSpPr>
        <p:spPr>
          <a:xfrm>
            <a:off x="5682442" y="3864334"/>
            <a:ext cx="0" cy="498098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Соединитель: уступ 71">
            <a:extLst>
              <a:ext uri="{FF2B5EF4-FFF2-40B4-BE49-F238E27FC236}">
                <a16:creationId xmlns:a16="http://schemas.microsoft.com/office/drawing/2014/main" id="{0CA6FADD-6DC4-28AD-C6F3-188BCA704525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6509559" y="3429000"/>
            <a:ext cx="3480489" cy="933432"/>
          </a:xfrm>
          <a:prstGeom prst="bentConnector2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C76E76CD-4C95-FADD-552D-B22476DB17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3827" y="4367207"/>
            <a:ext cx="3773230" cy="22741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6138793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1008</TotalTime>
  <Words>1099</Words>
  <Application>Microsoft Office PowerPoint</Application>
  <PresentationFormat>Широкоэкранный</PresentationFormat>
  <Paragraphs>185</Paragraphs>
  <Slides>15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Результаты работы</vt:lpstr>
      <vt:lpstr>Результаты работы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Роман Гартвиг</dc:creator>
  <cp:lastModifiedBy>Роман Гартвиг</cp:lastModifiedBy>
  <cp:revision>12</cp:revision>
  <dcterms:created xsi:type="dcterms:W3CDTF">2026-06-12T12:45:06Z</dcterms:created>
  <dcterms:modified xsi:type="dcterms:W3CDTF">2026-06-16T19:58:37Z</dcterms:modified>
</cp:coreProperties>
</file>