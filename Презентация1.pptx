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13" r:id="rId2"/>
    <p:sldId id="304" r:id="rId3"/>
    <p:sldId id="314" r:id="rId4"/>
    <p:sldId id="259" r:id="rId5"/>
    <p:sldId id="308" r:id="rId6"/>
    <p:sldId id="315" r:id="rId7"/>
    <p:sldId id="316" r:id="rId8"/>
    <p:sldId id="317" r:id="rId9"/>
    <p:sldId id="318" r:id="rId10"/>
    <p:sldId id="319" r:id="rId11"/>
    <p:sldId id="320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474"/>
    <a:srgbClr val="FF5353"/>
    <a:srgbClr val="FB5F5B"/>
    <a:srgbClr val="FFB3B3"/>
    <a:srgbClr val="FF6D6D"/>
    <a:srgbClr val="960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9" autoAdjust="0"/>
    <p:restoredTop sz="85100" autoAdjust="0"/>
  </p:normalViewPr>
  <p:slideViewPr>
    <p:cSldViewPr snapToGrid="0">
      <p:cViewPr varScale="1">
        <p:scale>
          <a:sx n="97" d="100"/>
          <a:sy n="97" d="100"/>
        </p:scale>
        <p:origin x="2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6T19:45:38.44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8958 951 24315,'18'72'0,"-7"1"0,-7 2 0,-7 2 0,-6 1 0,-8 2 0,-6 0 0,-8 2 0,-6 0 0,-6 2 0,-8 0 0,-6 1 0,-7 0 0,-6 0 0,-6 0 0,-7 1 0,-5 0 0,-7-1 0,-5 0 0,-6-1 0,-5 0 0,-6-1 0,-5-1 0,-5-1 0,-4-1 0,-5-1 0,-4-2 0,-5-1 0,-3-2 0,-4-1 0,-3-3 0,-4-1 0,-2-2 0,-3-3 0,-3-2 0,-1-2 0,-3-2 0,-1-3 0,-2-3 0,0-3 0,-2-2 0,0-3 0,-1-3 0,1-3 0,0-3 0,0-3 0,1-3 0,1-3 0,1-4 0,3-3 0,0-3 0,3-3 0,3-4 0,2-3 0,3-4 0,3-3 0,3-3 0,4-4 0,4-3 0,3-3 0,5-3 0,5-4 0,4-3 0,5-3 0,6-4 0,4-2 0,6-4 0,5-3 0,7-2 0,5-4 0,6-2 0,6-3 0,7-3 0,6-2 0,6-3 0,7-2 0,7-2 0,6-3 0,7-1 0,8-3 0,5-2 0,8-1 0,7-2 0,7-2 0,6-1 0,8-1 0,6-2 0,8-1 0,6 0 0,7-2 0,6 0 0,7 0 0,7-1 0,6-1 0,6 1 0,7-1 0,5 1 0,7-1 0,5 2 0,6-1 0,6 1 0,4 1 0,6 1 0,5 1 0,4 1 0,5 2 0,4 0 0,5 2 0,3 2 0,4 2 0,3 1 0,4 2 0,2 3 0,3 1 0,3 3 0,1 2 0,3 3 0,1 2 0,2 2 0,1 4 0,0 2 0,1 3 0,1 3 0,-1 3 0,1 3 0,-2 3 0,0 3 0,-1 3 0,-1 4 0,-2 3 0,-2 3 0,-2 4 0,-3 2 0,-2 5 0,-2 2 0,-4 4 0,-4 3 0,-3 4 0,-3 3 0,-5 3 0,-4 3 0,-5 4 0,-4 3 0,-5 4 0,-5 2 0,-6 4 0,-5 2 0,-5 4 0,-6 2 0,-6 4 0,-7 2 0,-5 3 0,-6 3 0,-7 2 0,-7 3 0,-6 2 0,-7 2 0,-6 3 0,-7 2 0,-7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6T19:45:38.4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11788 2382 24329,'-5'93'0,"-8"1"0,-10-1 0,-9-1 0,-8 0 0,-10 0 0,-8-2 0,-9 0 0,-9-2 0,-9-1 0,-7-1 0,-9-2 0,-8-2 0,-8-1 0,-8-2 0,-8-2 0,-6-3 0,-8-2 0,-7-2 0,-6-2 0,-7-4 0,-6-1 0,-6-4 0,-5-3 0,-6-2 0,-5-4 0,-5-2 0,-4-4 0,-4-4 0,-4-2 0,-4-4 0,-2-3 0,-4-4 0,-2-4 0,-2-3 0,-1-3 0,-3-4 0,0-4 0,-1-4 0,0-3 0,-1-4 0,1-3 0,1-4 0,1-4 0,1-4 0,2-3 0,2-3 0,2-4 0,4-4 0,2-3 0,4-4 0,4-2 0,4-4 0,4-4 0,5-2 0,5-4 0,6-2 0,5-3 0,6-4 0,6-1 0,7-4 0,6-2 0,7-2 0,8-2 0,6-3 0,9-2 0,7-2 0,7-1 0,9-2 0,9-2 0,7-1 0,10-1 0,7-2 0,10 0 0,8-2 0,10 0 0,8 0 0,9-1 0,10-1 0,8 1 0,10-1 0,8 1 0,10 0 0,9 0 0,8 1 0,10 1 0,8 0 0,10 2 0,7 1 0,10 1 0,7 1 0,9 2 0,9 1 0,7 3 0,7 1 0,9 2 0,6 3 0,8 1 0,7 3 0,6 3 0,7 2 0,6 3 0,6 3 0,5 2 0,6 4 0,5 2 0,5 4 0,4 3 0,4 3 0,4 4 0,4 3 0,2 3 0,4 4 0,2 3 0,2 4 0,2 4 0,1 3 0,1 4 0,1 3 0,1 5 0,-1 2 0,0 5 0,-1 3 0,0 4 0,-3 3 0,-1 4 0,-2 4 0,-2 3 0,-4 4 0,-2 3 0,-4 3 0,-4 4 0,-4 3 0,-4 3 0,-5 4 0,-5 2 0,-6 4 0,-5 2 0,-6 3 0,-6 3 0,-7 2 0,-6 3 0,-7 3 0,-8 1 0,-6 3 0,-8 2 0,-8 1 0,-8 3 0,-8 1 0,-9 2 0,-7 1 0,-9 1 0,-9 1 0,-9 2 0,-8 0 0,-10 1 0,-8 1 0,-9 0 0,-10 0 0,-8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BE0503-281F-4035-949A-0ABFD561AF35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812574-09FD-4842-9431-C003EACE96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306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3852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сравнения использовались важные критерии для инфраструктуры умного города</a:t>
            </a:r>
            <a:r>
              <a:rPr lang="en-US" dirty="0"/>
              <a:t>:</a:t>
            </a:r>
            <a:r>
              <a:rPr lang="ru-RU" dirty="0"/>
              <a:t> скорость подтверждения, требования к памяти, справедливость, масштабируемость, способ финализации и устойчивость к конфликтным атакам. По совокупности этих показателей наиболее подходящей основой стала IOTA 2.0. Среди рассмотренных решений только она сочетает высокую масштабируемость с быстрым подтверждением и справедливым выбором транзакций.</a:t>
            </a:r>
          </a:p>
          <a:p>
            <a:r>
              <a:rPr lang="ru-RU" dirty="0"/>
              <a:t>При этом у IOTA сохраняются две проблемы: вероятностная финализация и постоянный рост истории. Поэтому в разрабатываемой модели механизм консенсуса дополнен детерминированной BFT-финализацией, что позволит безопасно оптимизировать память реестра.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12574-09FD-4842-9431-C003EACE965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020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9742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2A76B0B0-8E1A-D396-3FEE-7A6CDF45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>
            <a:extLst>
              <a:ext uri="{FF2B5EF4-FFF2-40B4-BE49-F238E27FC236}">
                <a16:creationId xmlns:a16="http://schemas.microsoft.com/office/drawing/2014/main" id="{371F1774-AC76-E373-795E-E4EE0874E0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>
            <a:extLst>
              <a:ext uri="{FF2B5EF4-FFF2-40B4-BE49-F238E27FC236}">
                <a16:creationId xmlns:a16="http://schemas.microsoft.com/office/drawing/2014/main" id="{D0DCFD4D-319B-8AC7-6577-511EC63E6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670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001E672C-6AE6-9D8C-74E9-38F22721D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>
            <a:extLst>
              <a:ext uri="{FF2B5EF4-FFF2-40B4-BE49-F238E27FC236}">
                <a16:creationId xmlns:a16="http://schemas.microsoft.com/office/drawing/2014/main" id="{B3E0B03A-A768-6B59-88FE-CEF9FE7786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>
            <a:extLst>
              <a:ext uri="{FF2B5EF4-FFF2-40B4-BE49-F238E27FC236}">
                <a16:creationId xmlns:a16="http://schemas.microsoft.com/office/drawing/2014/main" id="{1FC798EF-26FB-4DD7-06E4-7017253E29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1658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722F7005-C8BE-A270-E6C2-E2347A07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>
            <a:extLst>
              <a:ext uri="{FF2B5EF4-FFF2-40B4-BE49-F238E27FC236}">
                <a16:creationId xmlns:a16="http://schemas.microsoft.com/office/drawing/2014/main" id="{5EF13164-5B41-9C1C-F290-2966537D8C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>
            <a:extLst>
              <a:ext uri="{FF2B5EF4-FFF2-40B4-BE49-F238E27FC236}">
                <a16:creationId xmlns:a16="http://schemas.microsoft.com/office/drawing/2014/main" id="{C8831466-F57E-0CC9-8FC5-7E7710CB1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7541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81FFF1BF-4F47-14E2-8AB0-5DEF58313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>
            <a:extLst>
              <a:ext uri="{FF2B5EF4-FFF2-40B4-BE49-F238E27FC236}">
                <a16:creationId xmlns:a16="http://schemas.microsoft.com/office/drawing/2014/main" id="{5F1C94CB-E75B-845C-91B8-F0F9BE8EC5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>
            <a:extLst>
              <a:ext uri="{FF2B5EF4-FFF2-40B4-BE49-F238E27FC236}">
                <a16:creationId xmlns:a16="http://schemas.microsoft.com/office/drawing/2014/main" id="{0B9A915F-A4FB-99A8-4541-2C618C3C17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4235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79D5D26D-B86D-653E-28A5-E49D11891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>
            <a:extLst>
              <a:ext uri="{FF2B5EF4-FFF2-40B4-BE49-F238E27FC236}">
                <a16:creationId xmlns:a16="http://schemas.microsoft.com/office/drawing/2014/main" id="{7A12C43D-3DE3-5426-CBE8-5FB1ACA2B6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>
            <a:extLst>
              <a:ext uri="{FF2B5EF4-FFF2-40B4-BE49-F238E27FC236}">
                <a16:creationId xmlns:a16="http://schemas.microsoft.com/office/drawing/2014/main" id="{4BF3438A-E255-2760-F215-7B3DD40F64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7838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403E0100-7EB6-255A-E5A2-65C25BD2D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>
            <a:extLst>
              <a:ext uri="{FF2B5EF4-FFF2-40B4-BE49-F238E27FC236}">
                <a16:creationId xmlns:a16="http://schemas.microsoft.com/office/drawing/2014/main" id="{03B48A8A-53A7-EF08-D6A6-BEAFAEDAD7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>
            <a:extLst>
              <a:ext uri="{FF2B5EF4-FFF2-40B4-BE49-F238E27FC236}">
                <a16:creationId xmlns:a16="http://schemas.microsoft.com/office/drawing/2014/main" id="{BA1F7EA1-D9D4-A044-44AD-7E40ED63BA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4310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7D76DF-C813-61ED-1297-7E3E7A204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1C45E0-FA8C-063D-0C18-7259E6AE6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8BE20F-B0A0-2740-149B-97D5062C3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403B19-1CCF-280F-3187-3D953DE6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3B9ECB-5EC1-F4A8-BDD9-31D86496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085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7CC923-3A65-5E8C-F89E-C728336F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D77477-7495-C903-2BFA-F8F35CBFB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3174FB-1A5F-5438-FFDD-95FD35772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F3D1EC-A6B7-E35F-153B-85E620E53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37D97E-A382-F868-EA8F-B89F9CD3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97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B97129-D9BE-A168-71C8-1C6015AA0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BDB7F5-7FD7-DB2D-741A-96B1FCB96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D815B0-8F0C-B40C-2B3D-197D49639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D6C741-4A20-29B1-FB7A-CE30DEB7D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82185D-9800-F83A-D9B6-301EA2A3D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503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15EA51-7D3A-B0E9-FFB9-21A0BA90E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42C6BA-963D-8D5F-1F53-3BD6B9EFA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7D1FD4-0F09-01EF-5A55-433468949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7AB2E70-D4A3-AC27-4C1D-8EA5023E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07D66EE-FC1B-9AC2-9CB2-073825CF1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BBE6B4-4433-9D48-5CAA-EFCF31E5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2687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354F5B-A1E2-0446-4875-89112C98E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C41774-E389-B4C8-3440-7ADDB8C5E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2EBF6E-D6CB-7002-3762-6D5438337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A140B58-5B33-49D0-3067-8BAE774A05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9B8BCE0-5E4B-04AC-B86B-6B6DA8F6D8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23B1E4A-D866-D96B-EBEF-E3D25E0B3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99E02B3-E61E-D2CF-AD8B-AB00A557B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19030E2-1BAB-46C9-C46A-FBF53EEC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6471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87BAE6-6B52-020F-B637-44C09214C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99C2F18-7C39-ABA2-ED41-D68859E58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5698202-E7A7-E0B7-9CAC-B74ECDD3D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DC53EB-13AE-4DEA-365A-FDCAB8C4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768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67FD3A-4CA2-4F6C-BE28-460472533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A58AED8-7A02-DC26-A4A1-589211F67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94CDF4-1C85-DFAE-F841-C7336A88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896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F992EC-91F1-7DFE-C8B7-2C21003E3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E50E69-BFB8-A98D-3B68-59372EE39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CE4655-0F9F-C6C4-30C1-2F3037948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681654-60A8-5C68-0817-CBF90EEB4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785581-8F13-C543-BBAB-857337233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8A2745-D25C-2F42-BEF2-35B853B2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58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DC0FC3-0E78-CF21-969C-F944F55B9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6151A78-B63B-8886-D484-0022A22D9C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470F5C-F758-8764-0FD2-0098AAC8C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6A0DFD-55F5-075B-1D3F-A6B873C27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84DDC3-1252-C558-F9C1-660367AB3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2E8B97-8E00-F0B8-B56A-B974E9B0D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135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C9C9D-9CA3-49F5-3470-3AFEDD99E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B513B8-807F-61C4-192E-9BB660987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4DE710-9EEC-A8B6-0173-2631B5370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E616F9-90D4-B35F-9F66-BD5ECE4AA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7DAFE3-390B-A650-DFA8-D363ECD7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630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CF736E8-7F6C-2C8F-8777-70D90D3906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31AF1ED-1998-1295-07AA-E87DD7F57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7D4EF9-1626-50D2-C96C-74317C694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4C134A-BB80-D574-642A-2552D497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5F8F8F-F20B-1EDC-23C7-D54F87FDD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990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431257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BDA5B-4CCB-8C28-167E-6A2459444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47A36C-2E51-CCEA-3946-3ECF7AF9D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B87C3F-9C2F-3F44-3DAA-0D515E73F0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041D-AFA0-4167-A823-8015A2C8AEB3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D3CB0B-C538-54A7-B17B-DF42FAAB1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E6886E-55B4-D01B-B097-38EE660D1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EFD02-A190-420C-9259-B0FE4B75D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967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5" Type="http://schemas.openxmlformats.org/officeDocument/2006/relationships/image" Target="../media/image50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9;p15">
            <a:extLst>
              <a:ext uri="{FF2B5EF4-FFF2-40B4-BE49-F238E27FC236}">
                <a16:creationId xmlns:a16="http://schemas.microsoft.com/office/drawing/2014/main" id="{A42C6F69-B8DE-41E7-9B60-ADD87BBF939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82333" b="71437"/>
          <a:stretch/>
        </p:blipFill>
        <p:spPr>
          <a:xfrm>
            <a:off x="10036613" y="1"/>
            <a:ext cx="2153920" cy="19588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CAF816B5-970A-4BE8-B678-283DF194DD99}"/>
              </a:ext>
            </a:extLst>
          </p:cNvPr>
          <p:cNvSpPr txBox="1">
            <a:spLocks/>
          </p:cNvSpPr>
          <p:nvPr/>
        </p:nvSpPr>
        <p:spPr>
          <a:xfrm>
            <a:off x="35198" y="212215"/>
            <a:ext cx="11695847" cy="1013988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Министерство науки и высшего образования Российской Федерации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Санкт-Петербургский политехнический университет Петра Великого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Институт компьютерных наук и кибербезопасности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Высшая школа кибербезопасности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26A98E-AA32-4CB7-A520-A4602A4266FA}"/>
              </a:ext>
            </a:extLst>
          </p:cNvPr>
          <p:cNvSpPr txBox="1"/>
          <p:nvPr/>
        </p:nvSpPr>
        <p:spPr>
          <a:xfrm>
            <a:off x="4205212" y="6217045"/>
            <a:ext cx="3355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Санкт-Петербург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ru-RU" sz="2400" dirty="0"/>
              <a:t>2026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8F66C265-ADAD-3D5F-FEA0-ACBB4BB469A3}"/>
              </a:ext>
            </a:extLst>
          </p:cNvPr>
          <p:cNvSpPr txBox="1">
            <a:spLocks/>
          </p:cNvSpPr>
          <p:nvPr/>
        </p:nvSpPr>
        <p:spPr>
          <a:xfrm>
            <a:off x="280643" y="1438416"/>
            <a:ext cx="11362267" cy="18069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20" tIns="60960" rIns="121920" bIns="6096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ru-RU" sz="2800" b="1" dirty="0"/>
              <a:t>Разработка модели DAG-реестра с ограниченным ростом потребления памяти с сохранением безопасной финализацией записей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6563127-9149-B8BD-CA1D-97EFB8F937F2}"/>
              </a:ext>
            </a:extLst>
          </p:cNvPr>
          <p:cNvSpPr txBox="1">
            <a:spLocks/>
          </p:cNvSpPr>
          <p:nvPr/>
        </p:nvSpPr>
        <p:spPr>
          <a:xfrm>
            <a:off x="2385051" y="3704862"/>
            <a:ext cx="8203480" cy="20526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Выполнил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студент группы 5151001/20202				Р.А. Гартвиг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Профессор ВШК ИКНК, 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д.т.н., профессор					М.О. Калинин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endParaRPr lang="ru-RU" sz="12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436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4D480884-56A4-710F-52B8-D2B0ED47F5F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00272" y="6003986"/>
            <a:ext cx="1227939" cy="738437"/>
          </a:xfrm>
        </p:spPr>
        <p:txBody>
          <a:bodyPr>
            <a:normAutofit lnSpcReduction="10000"/>
          </a:bodyPr>
          <a:lstStyle/>
          <a:p>
            <a:fld id="{00000000-1234-1234-1234-123412341234}" type="slidenum">
              <a:rPr lang="ru" sz="3733" b="1"/>
              <a:pPr/>
              <a:t>2</a:t>
            </a:fld>
            <a:endParaRPr lang="ru" sz="3733" b="1" dirty="0"/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B36081DD-8653-BB6D-A3B8-A91B6E1D1597}"/>
              </a:ext>
            </a:extLst>
          </p:cNvPr>
          <p:cNvSpPr txBox="1">
            <a:spLocks/>
          </p:cNvSpPr>
          <p:nvPr/>
        </p:nvSpPr>
        <p:spPr>
          <a:xfrm>
            <a:off x="1442296" y="168007"/>
            <a:ext cx="9113945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733" dirty="0"/>
              <a:t>Актуальность</a:t>
            </a:r>
            <a:endParaRPr lang="en-US" sz="3733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C5DE2AB-D774-B471-C206-965F2F4A9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836" y="1186692"/>
            <a:ext cx="5056338" cy="18339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C4CE62-01AD-5688-7762-5919A7067B51}"/>
              </a:ext>
            </a:extLst>
          </p:cNvPr>
          <p:cNvSpPr txBox="1"/>
          <p:nvPr/>
        </p:nvSpPr>
        <p:spPr>
          <a:xfrm>
            <a:off x="5716701" y="1451686"/>
            <a:ext cx="60973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/>
              <a:t>Технология Блокчейн ограничена пропускной способностью записей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/>
              <a:t>Справедливость (порядок записей) определяют майнеры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EC516B-6466-08DE-BC25-B654796EC45F}"/>
              </a:ext>
            </a:extLst>
          </p:cNvPr>
          <p:cNvSpPr txBox="1"/>
          <p:nvPr/>
        </p:nvSpPr>
        <p:spPr>
          <a:xfrm>
            <a:off x="2246389" y="2671176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Блокчейн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6DA439-8A9A-8741-D6A3-33AEECE66C2B}"/>
              </a:ext>
            </a:extLst>
          </p:cNvPr>
          <p:cNvSpPr txBox="1"/>
          <p:nvPr/>
        </p:nvSpPr>
        <p:spPr>
          <a:xfrm>
            <a:off x="6176282" y="3480338"/>
            <a:ext cx="60973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/>
              <a:t>Неконтролируемый рост реестра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/>
              <a:t>Отсутствия линейного порядка записей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/>
              <a:t>Уязвимость к атакам конфликтующими записями, при которой теряется часть честных записей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6E31836-C8EB-273C-F18C-58FB28B4B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836" y="3376067"/>
            <a:ext cx="5733884" cy="17354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690014-3268-15BA-1DA7-6846B4B61ABC}"/>
              </a:ext>
            </a:extLst>
          </p:cNvPr>
          <p:cNvSpPr txBox="1"/>
          <p:nvPr/>
        </p:nvSpPr>
        <p:spPr>
          <a:xfrm>
            <a:off x="2848183" y="4742222"/>
            <a:ext cx="601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3143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8C3201F-69A0-F0AB-99FD-3A1A5D324A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00272" y="6003986"/>
            <a:ext cx="1227939" cy="738437"/>
          </a:xfrm>
        </p:spPr>
        <p:txBody>
          <a:bodyPr>
            <a:normAutofit lnSpcReduction="10000"/>
          </a:bodyPr>
          <a:lstStyle/>
          <a:p>
            <a:fld id="{00000000-1234-1234-1234-123412341234}" type="slidenum">
              <a:rPr lang="ru" sz="3733" b="1"/>
              <a:pPr/>
              <a:t>3</a:t>
            </a:fld>
            <a:endParaRPr lang="ru" sz="3733" b="1" dirty="0"/>
          </a:p>
        </p:txBody>
      </p:sp>
      <p:sp>
        <p:nvSpPr>
          <p:cNvPr id="8" name="Заголовок 3">
            <a:extLst>
              <a:ext uri="{FF2B5EF4-FFF2-40B4-BE49-F238E27FC236}">
                <a16:creationId xmlns:a16="http://schemas.microsoft.com/office/drawing/2014/main" id="{B831C427-677A-F25E-F281-0E4281F9720C}"/>
              </a:ext>
            </a:extLst>
          </p:cNvPr>
          <p:cNvSpPr txBox="1">
            <a:spLocks/>
          </p:cNvSpPr>
          <p:nvPr/>
        </p:nvSpPr>
        <p:spPr>
          <a:xfrm>
            <a:off x="1442296" y="168007"/>
            <a:ext cx="9113945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733" dirty="0"/>
              <a:t>Цель и задачи</a:t>
            </a:r>
            <a:endParaRPr lang="en-US" sz="3733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C973CB-FAF0-0BCC-4F9F-7B15C2CBA846}"/>
              </a:ext>
            </a:extLst>
          </p:cNvPr>
          <p:cNvSpPr txBox="1"/>
          <p:nvPr/>
        </p:nvSpPr>
        <p:spPr>
          <a:xfrm>
            <a:off x="459452" y="1024814"/>
            <a:ext cx="90540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Цель – уменьшить объем расходуемой памяти в модели DAG-реестра с сохранением безопасной финализацией записей в условиях атаки конфликтной нагрузки.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20AED2-B1DA-5888-2E81-EFFDBB58D7A4}"/>
              </a:ext>
            </a:extLst>
          </p:cNvPr>
          <p:cNvSpPr txBox="1"/>
          <p:nvPr/>
        </p:nvSpPr>
        <p:spPr>
          <a:xfrm>
            <a:off x="459452" y="2191872"/>
            <a:ext cx="1139599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Задачи: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Провести сравнительный анализ существующих моделей DAG-реестр и выбрать наиболее подходящую основу для дальнейшей разработки, а также определить ограничения выбранной модели, необходимо которые устранить для выполнения целей работы.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Разработать модель DAG-реестра со сверткой генезис-состояния с сохранением безопасной финализацией записей.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Реализовать эмулятор разработанной модели DAG-реестра и провести экспериментальную оценку разработанной модели при различных режимах атак конфликтными записями.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389BF2-75A2-E52A-317F-9F28CA74EBB2}"/>
              </a:ext>
            </a:extLst>
          </p:cNvPr>
          <p:cNvSpPr txBox="1"/>
          <p:nvPr/>
        </p:nvSpPr>
        <p:spPr>
          <a:xfrm>
            <a:off x="1763035" y="115577"/>
            <a:ext cx="109737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  <a:latin typeface="Arial"/>
                <a:cs typeface="Arial"/>
              </a:rPr>
              <a:t>Сравнительный анализ моделей </a:t>
            </a:r>
            <a:r>
              <a:rPr lang="en-US" sz="2800" dirty="0">
                <a:solidFill>
                  <a:srgbClr val="000000"/>
                </a:solidFill>
                <a:latin typeface="Arial"/>
                <a:cs typeface="Arial"/>
              </a:rPr>
              <a:t>DAG-</a:t>
            </a:r>
            <a:r>
              <a:rPr lang="ru-RU" sz="2800" dirty="0">
                <a:solidFill>
                  <a:srgbClr val="000000"/>
                </a:solidFill>
                <a:latin typeface="Arial"/>
                <a:cs typeface="Arial"/>
              </a:rPr>
              <a:t>реестров</a:t>
            </a:r>
            <a:endParaRPr lang="ru-RU" sz="2800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305F5D6-62E6-CDC7-3843-9FD06979C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443251"/>
              </p:ext>
            </p:extLst>
          </p:nvPr>
        </p:nvGraphicFramePr>
        <p:xfrm>
          <a:off x="323850" y="756623"/>
          <a:ext cx="11252199" cy="37798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1325">
                  <a:extLst>
                    <a:ext uri="{9D8B030D-6E8A-4147-A177-3AD203B41FA5}">
                      <a16:colId xmlns:a16="http://schemas.microsoft.com/office/drawing/2014/main" val="742047641"/>
                    </a:ext>
                  </a:extLst>
                </a:gridCol>
                <a:gridCol w="1329109">
                  <a:extLst>
                    <a:ext uri="{9D8B030D-6E8A-4147-A177-3AD203B41FA5}">
                      <a16:colId xmlns:a16="http://schemas.microsoft.com/office/drawing/2014/main" val="3473091614"/>
                    </a:ext>
                  </a:extLst>
                </a:gridCol>
                <a:gridCol w="1301276">
                  <a:extLst>
                    <a:ext uri="{9D8B030D-6E8A-4147-A177-3AD203B41FA5}">
                      <a16:colId xmlns:a16="http://schemas.microsoft.com/office/drawing/2014/main" val="1264935123"/>
                    </a:ext>
                  </a:extLst>
                </a:gridCol>
                <a:gridCol w="1551788">
                  <a:extLst>
                    <a:ext uri="{9D8B030D-6E8A-4147-A177-3AD203B41FA5}">
                      <a16:colId xmlns:a16="http://schemas.microsoft.com/office/drawing/2014/main" val="626882272"/>
                    </a:ext>
                  </a:extLst>
                </a:gridCol>
                <a:gridCol w="1537870">
                  <a:extLst>
                    <a:ext uri="{9D8B030D-6E8A-4147-A177-3AD203B41FA5}">
                      <a16:colId xmlns:a16="http://schemas.microsoft.com/office/drawing/2014/main" val="602310863"/>
                    </a:ext>
                  </a:extLst>
                </a:gridCol>
                <a:gridCol w="1349788">
                  <a:extLst>
                    <a:ext uri="{9D8B030D-6E8A-4147-A177-3AD203B41FA5}">
                      <a16:colId xmlns:a16="http://schemas.microsoft.com/office/drawing/2014/main" val="967050573"/>
                    </a:ext>
                  </a:extLst>
                </a:gridCol>
                <a:gridCol w="1211008">
                  <a:extLst>
                    <a:ext uri="{9D8B030D-6E8A-4147-A177-3AD203B41FA5}">
                      <a16:colId xmlns:a16="http://schemas.microsoft.com/office/drawing/2014/main" val="2026323202"/>
                    </a:ext>
                  </a:extLst>
                </a:gridCol>
                <a:gridCol w="1510035">
                  <a:extLst>
                    <a:ext uri="{9D8B030D-6E8A-4147-A177-3AD203B41FA5}">
                      <a16:colId xmlns:a16="http://schemas.microsoft.com/office/drawing/2014/main" val="928738771"/>
                    </a:ext>
                  </a:extLst>
                </a:gridCol>
              </a:tblGrid>
              <a:tr h="132243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Модель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Скорость подтверждения записей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Требование к памяти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Справедливость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Масштабируемость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Консенсус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Можно ли безопасно удалять историю?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Защита от атаки спам конфликтами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337036"/>
                  </a:ext>
                </a:extLst>
              </a:tr>
              <a:tr h="6143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IOTA 2.0</a:t>
                      </a:r>
                      <a:endParaRPr lang="ru-RU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Высокие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5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Голосование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5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Средняя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04812"/>
                  </a:ext>
                </a:extLst>
              </a:tr>
              <a:tr h="6143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100" b="1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Hashgraph</a:t>
                      </a:r>
                      <a:endParaRPr lang="ru-RU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Высокие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5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Низкая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5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BFT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Да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Высокая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59429"/>
                  </a:ext>
                </a:extLst>
              </a:tr>
              <a:tr h="6143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100" b="1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BlockDAG</a:t>
                      </a:r>
                      <a:endParaRPr lang="ru-RU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Высокие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5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Низкая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5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Голосование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5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Средняя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484264"/>
                  </a:ext>
                </a:extLst>
              </a:tr>
              <a:tr h="6143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Avalanche</a:t>
                      </a:r>
                      <a:endParaRPr lang="ru-RU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Высокие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5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Низкая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5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Голосование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Нет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5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Средняя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746072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2811BB6-11B4-BFAF-1C70-794AF70393EA}"/>
              </a:ext>
            </a:extLst>
          </p:cNvPr>
          <p:cNvSpPr/>
          <p:nvPr/>
        </p:nvSpPr>
        <p:spPr>
          <a:xfrm>
            <a:off x="126999" y="2103106"/>
            <a:ext cx="11645900" cy="62230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F444AB-B0B6-45CB-070A-6C74C2286C30}"/>
              </a:ext>
            </a:extLst>
          </p:cNvPr>
          <p:cNvSpPr txBox="1"/>
          <p:nvPr/>
        </p:nvSpPr>
        <p:spPr>
          <a:xfrm>
            <a:off x="323849" y="4564875"/>
            <a:ext cx="11645899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Голосование — это способ, при котором валидаторы обмениваются мнениями и вместе решают, считать запись правильной или нет.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BFT — это способ, позволяющий реестру прийти к общему решению без прямого голосования, даже если часть валидаторов ошибается или действует нечестно.</a:t>
            </a:r>
            <a:endParaRPr lang="ru-RU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7EE36948-DB0C-B8E9-FA09-040CFCEBE6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00272" y="6003986"/>
            <a:ext cx="1227939" cy="738437"/>
          </a:xfrm>
        </p:spPr>
        <p:txBody>
          <a:bodyPr>
            <a:normAutofit/>
          </a:bodyPr>
          <a:lstStyle/>
          <a:p>
            <a:fld id="{00000000-1234-1234-1234-123412341234}" type="slidenum">
              <a:rPr lang="ru" sz="3733" b="1"/>
              <a:pPr/>
              <a:t>4</a:t>
            </a:fld>
            <a:endParaRPr lang="ru" sz="3733" b="1" dirty="0"/>
          </a:p>
        </p:txBody>
      </p:sp>
    </p:spTree>
    <p:extLst>
      <p:ext uri="{BB962C8B-B14F-4D97-AF65-F5344CB8AC3E}">
        <p14:creationId xmlns:p14="http://schemas.microsoft.com/office/powerpoint/2010/main" val="1624106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4D480884-56A4-710F-52B8-D2B0ED47F5F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00272" y="6003986"/>
            <a:ext cx="1227939" cy="738437"/>
          </a:xfrm>
        </p:spPr>
        <p:txBody>
          <a:bodyPr>
            <a:normAutofit lnSpcReduction="10000"/>
          </a:bodyPr>
          <a:lstStyle/>
          <a:p>
            <a:fld id="{00000000-1234-1234-1234-123412341234}" type="slidenum">
              <a:rPr lang="ru" sz="3733" b="1"/>
              <a:pPr/>
              <a:t>5</a:t>
            </a:fld>
            <a:endParaRPr lang="ru" sz="3733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640AB4-04FB-B577-7528-733E11BE2640}"/>
              </a:ext>
            </a:extLst>
          </p:cNvPr>
          <p:cNvSpPr txBox="1"/>
          <p:nvPr/>
        </p:nvSpPr>
        <p:spPr>
          <a:xfrm>
            <a:off x="1169277" y="356671"/>
            <a:ext cx="98534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  <a:latin typeface="Arial"/>
                <a:cs typeface="Arial"/>
              </a:rPr>
              <a:t>Вывод сравнительного анализа моделей </a:t>
            </a:r>
            <a:r>
              <a:rPr lang="en-US" sz="2800" dirty="0">
                <a:solidFill>
                  <a:srgbClr val="000000"/>
                </a:solidFill>
                <a:latin typeface="Arial"/>
                <a:cs typeface="Arial"/>
              </a:rPr>
              <a:t>DAG-</a:t>
            </a:r>
            <a:r>
              <a:rPr lang="ru-RU" sz="2800" dirty="0">
                <a:solidFill>
                  <a:srgbClr val="000000"/>
                </a:solidFill>
                <a:latin typeface="Arial"/>
                <a:cs typeface="Arial"/>
              </a:rPr>
              <a:t>реестров</a:t>
            </a:r>
            <a:endParaRPr lang="ru-RU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2949F-A5F6-7F4F-5E01-D6C23E5CF998}"/>
              </a:ext>
            </a:extLst>
          </p:cNvPr>
          <p:cNvSpPr txBox="1"/>
          <p:nvPr/>
        </p:nvSpPr>
        <p:spPr>
          <a:xfrm>
            <a:off x="422704" y="1876363"/>
            <a:ext cx="11144249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2400" dirty="0"/>
              <a:t>Вывод</a:t>
            </a:r>
            <a:r>
              <a:rPr lang="en-US" sz="2400" dirty="0"/>
              <a:t>: </a:t>
            </a:r>
            <a:r>
              <a:rPr lang="ru-RU" sz="2400" dirty="0"/>
              <a:t>в качестве прототипа была выбрана IOTA-подобная модель DAG-реестра, так как данная модель обладает высокой </a:t>
            </a:r>
            <a:r>
              <a:rPr lang="ru-RU" sz="2400" b="1" u="sng" dirty="0"/>
              <a:t>масштабируемостью</a:t>
            </a:r>
            <a:r>
              <a:rPr lang="ru-RU" sz="2400" dirty="0"/>
              <a:t>, </a:t>
            </a:r>
            <a:r>
              <a:rPr lang="ru-RU" sz="2400" b="1" u="sng" dirty="0"/>
              <a:t>скоростью</a:t>
            </a:r>
            <a:r>
              <a:rPr lang="ru-RU" sz="2400" dirty="0"/>
              <a:t> подтверждения записей и </a:t>
            </a:r>
            <a:r>
              <a:rPr lang="ru-RU" sz="2400" b="1" u="sng" dirty="0"/>
              <a:t>справедливостью</a:t>
            </a:r>
            <a:r>
              <a:rPr lang="ru-RU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D9587-4AB1-1ED1-1BD5-E0C816A0430B}"/>
              </a:ext>
            </a:extLst>
          </p:cNvPr>
          <p:cNvSpPr txBox="1"/>
          <p:nvPr/>
        </p:nvSpPr>
        <p:spPr>
          <a:xfrm>
            <a:off x="422704" y="3301708"/>
            <a:ext cx="11144249" cy="1569660"/>
          </a:xfrm>
          <a:prstGeom prst="rect">
            <a:avLst/>
          </a:prstGeom>
          <a:solidFill>
            <a:srgbClr val="FF747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2400" dirty="0"/>
              <a:t>Недостатки прототипа </a:t>
            </a:r>
            <a:r>
              <a:rPr lang="en-US" sz="2400" dirty="0"/>
              <a:t>IOTA 2.0</a:t>
            </a:r>
            <a:r>
              <a:rPr lang="ru-RU" sz="2400" dirty="0"/>
              <a:t>, необходимо которые устранить</a:t>
            </a:r>
            <a:r>
              <a:rPr lang="en-US" sz="24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Большая потеря транзакций при атаке конфликтными записями.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Долгая финализация записей.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DAG</a:t>
            </a:r>
            <a:r>
              <a:rPr lang="ru-RU" sz="2400" dirty="0"/>
              <a:t>-реестр растет быстро из-за чего быстро растет потребление памяти.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2A921B-295E-19E8-8EA6-94E8E2C4D170}"/>
              </a:ext>
            </a:extLst>
          </p:cNvPr>
          <p:cNvSpPr txBox="1"/>
          <p:nvPr/>
        </p:nvSpPr>
        <p:spPr>
          <a:xfrm>
            <a:off x="422704" y="5023687"/>
            <a:ext cx="11144249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2400" dirty="0"/>
              <a:t>Предлагаемые решения недостатков прототипа</a:t>
            </a:r>
            <a:r>
              <a:rPr lang="en-US" sz="2400" dirty="0"/>
              <a:t>:</a:t>
            </a:r>
            <a:r>
              <a:rPr lang="ru-RU" sz="2400" dirty="0"/>
              <a:t> использование в финализации </a:t>
            </a:r>
            <a:r>
              <a:rPr lang="en-US" sz="2400" dirty="0" err="1"/>
              <a:t>PoS</a:t>
            </a:r>
            <a:r>
              <a:rPr lang="en-US" sz="2400" dirty="0"/>
              <a:t>-BFT-</a:t>
            </a:r>
            <a:r>
              <a:rPr lang="ru-RU" sz="2400" dirty="0"/>
              <a:t>Голосование</a:t>
            </a:r>
          </a:p>
        </p:txBody>
      </p:sp>
    </p:spTree>
    <p:extLst>
      <p:ext uri="{BB962C8B-B14F-4D97-AF65-F5344CB8AC3E}">
        <p14:creationId xmlns:p14="http://schemas.microsoft.com/office/powerpoint/2010/main" val="93052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25AE6B55-5EA6-FFF3-75F2-2CB793195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683808B3-97C7-1EC7-2B81-B01C3C7F4B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00272" y="6003986"/>
            <a:ext cx="1227939" cy="738437"/>
          </a:xfrm>
        </p:spPr>
        <p:txBody>
          <a:bodyPr>
            <a:normAutofit lnSpcReduction="10000"/>
          </a:bodyPr>
          <a:lstStyle/>
          <a:p>
            <a:fld id="{00000000-1234-1234-1234-123412341234}" type="slidenum">
              <a:rPr lang="ru" sz="3733" b="1"/>
              <a:pPr/>
              <a:t>6</a:t>
            </a:fld>
            <a:endParaRPr lang="ru" sz="3733" b="1" dirty="0"/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CD2E8FBA-82E2-2624-91B3-56E6267C4699}"/>
              </a:ext>
            </a:extLst>
          </p:cNvPr>
          <p:cNvSpPr txBox="1">
            <a:spLocks/>
          </p:cNvSpPr>
          <p:nvPr/>
        </p:nvSpPr>
        <p:spPr>
          <a:xfrm>
            <a:off x="2603841" y="91564"/>
            <a:ext cx="10003955" cy="98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dirty="0">
                <a:solidFill>
                  <a:srgbClr val="000000"/>
                </a:solidFill>
              </a:rPr>
              <a:t>Разработанная модель </a:t>
            </a:r>
            <a:r>
              <a:rPr lang="en-US" dirty="0">
                <a:solidFill>
                  <a:srgbClr val="000000"/>
                </a:solidFill>
              </a:rPr>
              <a:t>DAG</a:t>
            </a:r>
            <a:r>
              <a:rPr lang="ru-RU" dirty="0">
                <a:solidFill>
                  <a:srgbClr val="000000"/>
                </a:solidFill>
              </a:rPr>
              <a:t>-реестра</a:t>
            </a:r>
            <a:endParaRPr lang="ru-RU" dirty="0"/>
          </a:p>
        </p:txBody>
      </p:sp>
      <p:sp>
        <p:nvSpPr>
          <p:cNvPr id="2" name="Стрелка: вправо 1">
            <a:extLst>
              <a:ext uri="{FF2B5EF4-FFF2-40B4-BE49-F238E27FC236}">
                <a16:creationId xmlns:a16="http://schemas.microsoft.com/office/drawing/2014/main" id="{5A4189D3-3C2E-723A-56FF-4C725BB9007D}"/>
              </a:ext>
            </a:extLst>
          </p:cNvPr>
          <p:cNvSpPr/>
          <p:nvPr/>
        </p:nvSpPr>
        <p:spPr>
          <a:xfrm>
            <a:off x="5076279" y="2755900"/>
            <a:ext cx="821159" cy="463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671F20BA-E620-870C-37A3-887FFA1F6C32}"/>
              </a:ext>
            </a:extLst>
          </p:cNvPr>
          <p:cNvGrpSpPr/>
          <p:nvPr/>
        </p:nvGrpSpPr>
        <p:grpSpPr>
          <a:xfrm>
            <a:off x="6036180" y="1873851"/>
            <a:ext cx="6095999" cy="2396000"/>
            <a:chOff x="5928888" y="1238050"/>
            <a:chExt cx="5959979" cy="2286200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A2857D82-EFC4-4674-2E79-FB11414C7D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28888" y="1238050"/>
              <a:ext cx="5959979" cy="22862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CF69445-DB2E-5FCA-43FA-F247AC9739C6}"/>
                </a:ext>
              </a:extLst>
            </p:cNvPr>
            <p:cNvSpPr/>
            <p:nvPr/>
          </p:nvSpPr>
          <p:spPr>
            <a:xfrm>
              <a:off x="6113038" y="2895499"/>
              <a:ext cx="1041553" cy="51435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Генезис состояние</a:t>
              </a: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2FC369BD-FE50-74BB-EF79-757E017FA93A}"/>
                </a:ext>
              </a:extLst>
            </p:cNvPr>
            <p:cNvSpPr/>
            <p:nvPr/>
          </p:nvSpPr>
          <p:spPr>
            <a:xfrm>
              <a:off x="6113038" y="1282700"/>
              <a:ext cx="1016000" cy="304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Эпоха 0</a:t>
              </a: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9B27745B-19CA-25DF-054F-2894BF365B1E}"/>
                </a:ext>
              </a:extLst>
            </p:cNvPr>
            <p:cNvSpPr/>
            <p:nvPr/>
          </p:nvSpPr>
          <p:spPr>
            <a:xfrm>
              <a:off x="7598938" y="1282700"/>
              <a:ext cx="1016000" cy="304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Эпоха 1</a:t>
              </a: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F00D99E2-EF33-8C04-0C58-5B23844A8A65}"/>
                </a:ext>
              </a:extLst>
            </p:cNvPr>
            <p:cNvSpPr/>
            <p:nvPr/>
          </p:nvSpPr>
          <p:spPr>
            <a:xfrm>
              <a:off x="9021338" y="1282700"/>
              <a:ext cx="1016000" cy="304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Эпоха 2</a:t>
              </a: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3CA2A8E3-1775-EC8A-6936-7E091836F0E0}"/>
                </a:ext>
              </a:extLst>
            </p:cNvPr>
            <p:cNvSpPr/>
            <p:nvPr/>
          </p:nvSpPr>
          <p:spPr>
            <a:xfrm>
              <a:off x="10568067" y="1282700"/>
              <a:ext cx="1016000" cy="304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Эпоха 3</a:t>
              </a:r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CBCAFAC6-9D13-06BC-2303-6E62656D117E}"/>
                </a:ext>
              </a:extLst>
            </p:cNvPr>
            <p:cNvSpPr/>
            <p:nvPr/>
          </p:nvSpPr>
          <p:spPr>
            <a:xfrm>
              <a:off x="7573383" y="2895499"/>
              <a:ext cx="1041553" cy="51435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Генезис состояние</a:t>
              </a: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712A4237-7672-EA67-40AF-FC82BEA3FF55}"/>
                </a:ext>
              </a:extLst>
            </p:cNvPr>
            <p:cNvSpPr/>
            <p:nvPr/>
          </p:nvSpPr>
          <p:spPr>
            <a:xfrm>
              <a:off x="9021338" y="2895499"/>
              <a:ext cx="1041553" cy="51435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Генезис состояние</a:t>
              </a: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303D3F4B-64BF-3E73-A2BE-2EED707AB885}"/>
                </a:ext>
              </a:extLst>
            </p:cNvPr>
            <p:cNvSpPr/>
            <p:nvPr/>
          </p:nvSpPr>
          <p:spPr>
            <a:xfrm>
              <a:off x="10568067" y="2895499"/>
              <a:ext cx="1041553" cy="51435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Генезис состояние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CF56BCA-3195-8982-27FC-65AD16A7D9CC}"/>
              </a:ext>
            </a:extLst>
          </p:cNvPr>
          <p:cNvSpPr txBox="1"/>
          <p:nvPr/>
        </p:nvSpPr>
        <p:spPr>
          <a:xfrm>
            <a:off x="79918" y="4307606"/>
            <a:ext cx="570597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dirty="0"/>
              <a:t>Запись считается подтвержденной, когда на нее сослалось </a:t>
            </a:r>
            <a:r>
              <a:rPr lang="en-US" dirty="0"/>
              <a:t>&gt;</a:t>
            </a:r>
            <a:r>
              <a:rPr lang="ru-RU" dirty="0"/>
              <a:t> </a:t>
            </a:r>
            <a:r>
              <a:rPr lang="en-US" dirty="0"/>
              <a:t>2/3 </a:t>
            </a:r>
            <a:r>
              <a:rPr lang="ru-RU" dirty="0"/>
              <a:t>блоков подтверждения</a:t>
            </a:r>
            <a:br>
              <a:rPr lang="ru-RU" dirty="0"/>
            </a:br>
            <a:endParaRPr lang="ru-RU" dirty="0"/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dirty="0"/>
              <a:t>После финализации запись может  быть либо в статусе </a:t>
            </a:r>
            <a:r>
              <a:rPr lang="en-US" dirty="0"/>
              <a:t>“</a:t>
            </a:r>
            <a:r>
              <a:rPr lang="ru-RU" dirty="0"/>
              <a:t>принята</a:t>
            </a:r>
            <a:r>
              <a:rPr lang="en-US" dirty="0"/>
              <a:t>” </a:t>
            </a:r>
            <a:r>
              <a:rPr lang="ru-RU" dirty="0"/>
              <a:t>либо в статусе </a:t>
            </a:r>
            <a:r>
              <a:rPr lang="en-US" dirty="0"/>
              <a:t>“</a:t>
            </a:r>
            <a:r>
              <a:rPr lang="ru-RU" dirty="0"/>
              <a:t>отвергнута</a:t>
            </a:r>
            <a:r>
              <a:rPr lang="en-US" dirty="0"/>
              <a:t>”</a:t>
            </a:r>
            <a:br>
              <a:rPr lang="ru-RU" dirty="0"/>
            </a:br>
            <a:endParaRPr lang="ru-RU" dirty="0"/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dirty="0"/>
              <a:t>В случае, если в одному слоту две записи используют одни и те же средства, конфликт решается через </a:t>
            </a:r>
            <a:r>
              <a:rPr lang="en-US" dirty="0"/>
              <a:t>BFT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BA21D8-D291-6B7A-0864-4BD54CA8519F}"/>
              </a:ext>
            </a:extLst>
          </p:cNvPr>
          <p:cNvSpPr txBox="1"/>
          <p:nvPr/>
        </p:nvSpPr>
        <p:spPr>
          <a:xfrm>
            <a:off x="5930541" y="4440342"/>
            <a:ext cx="5705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"/>
            </a:pPr>
            <a:r>
              <a:rPr lang="en-US" dirty="0"/>
              <a:t>DAG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привязанный к старому генезис-состоянию, можно удалить после перехода на новый генезис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4001E834-646B-724E-1975-D3E32DE360C3}"/>
              </a:ext>
            </a:extLst>
          </p:cNvPr>
          <p:cNvSpPr/>
          <p:nvPr/>
        </p:nvSpPr>
        <p:spPr>
          <a:xfrm>
            <a:off x="4192894" y="1012064"/>
            <a:ext cx="2514838" cy="82333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Сворачивания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DAG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-реестра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с помощью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14752FC-5A47-07A7-352B-174DC66E0A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775" y="1873851"/>
            <a:ext cx="4806133" cy="23762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72503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E3CA4F50-AD52-6C62-B9FC-4DC56E5B4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DD2CE01A-EEA7-CA22-9888-63B38F7BCE0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00272" y="6003986"/>
            <a:ext cx="1227939" cy="738437"/>
          </a:xfrm>
        </p:spPr>
        <p:txBody>
          <a:bodyPr>
            <a:normAutofit lnSpcReduction="10000"/>
          </a:bodyPr>
          <a:lstStyle/>
          <a:p>
            <a:fld id="{00000000-1234-1234-1234-123412341234}" type="slidenum">
              <a:rPr lang="ru" sz="3733" b="1"/>
              <a:pPr/>
              <a:t>7</a:t>
            </a:fld>
            <a:endParaRPr lang="ru" sz="3733" b="1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3946C28-3FB3-4EC6-3395-051B6B548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418" y="780813"/>
            <a:ext cx="7073835" cy="390199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BD1E5FC-7328-BD65-1C20-68C1DE945E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97" y="4585650"/>
            <a:ext cx="2539667" cy="1867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581C34-8C8E-41EE-2EA1-9E1EBC396C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4567" y="4077650"/>
            <a:ext cx="3048831" cy="170229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" name="Соединитель: уступ 5">
            <a:extLst>
              <a:ext uri="{FF2B5EF4-FFF2-40B4-BE49-F238E27FC236}">
                <a16:creationId xmlns:a16="http://schemas.microsoft.com/office/drawing/2014/main" id="{C9FC7ABC-EB39-9117-2829-D3179B8406CA}"/>
              </a:ext>
            </a:extLst>
          </p:cNvPr>
          <p:cNvCxnSpPr>
            <a:cxnSpLocks/>
            <a:endCxn id="4" idx="0"/>
          </p:cNvCxnSpPr>
          <p:nvPr/>
        </p:nvCxnSpPr>
        <p:spPr>
          <a:xfrm rot="10800000" flipV="1">
            <a:off x="2275532" y="3777054"/>
            <a:ext cx="2687461" cy="808595"/>
          </a:xfrm>
          <a:prstGeom prst="bentConnector2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EAE73C66-2658-85B6-2C5A-D899CD116EE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830249" y="4436828"/>
            <a:ext cx="0" cy="245984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Соединитель: уступ 7">
            <a:extLst>
              <a:ext uri="{FF2B5EF4-FFF2-40B4-BE49-F238E27FC236}">
                <a16:creationId xmlns:a16="http://schemas.microsoft.com/office/drawing/2014/main" id="{0A4EE36E-FB9E-1E5C-76E9-35CE93A0BD8B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6860306" y="3805689"/>
            <a:ext cx="2858677" cy="271961"/>
          </a:xfrm>
          <a:prstGeom prst="bentConnector2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38ECE6A-D7DC-76FF-5CFB-F0EF6CE8CA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5104" y="4682812"/>
            <a:ext cx="3330290" cy="20071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D58EE449-CD5D-B2F8-333F-AFA0762D1B14}"/>
              </a:ext>
            </a:extLst>
          </p:cNvPr>
          <p:cNvSpPr txBox="1">
            <a:spLocks/>
          </p:cNvSpPr>
          <p:nvPr/>
        </p:nvSpPr>
        <p:spPr>
          <a:xfrm>
            <a:off x="677416" y="89388"/>
            <a:ext cx="10003955" cy="98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dirty="0">
                <a:solidFill>
                  <a:srgbClr val="000000"/>
                </a:solidFill>
              </a:rPr>
              <a:t>Архитектура эмулятора модели </a:t>
            </a:r>
            <a:r>
              <a:rPr lang="en-US" dirty="0">
                <a:solidFill>
                  <a:srgbClr val="000000"/>
                </a:solidFill>
              </a:rPr>
              <a:t>DAG-</a:t>
            </a:r>
            <a:r>
              <a:rPr lang="ru-RU" dirty="0">
                <a:solidFill>
                  <a:srgbClr val="000000"/>
                </a:solidFill>
              </a:rPr>
              <a:t>реестра</a:t>
            </a:r>
            <a:endParaRPr lang="ru-RU" dirty="0"/>
          </a:p>
          <a:p>
            <a:pPr algn="ctr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26656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413B9FD4-7821-6DBD-94A7-20B9B0CF1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A7DD6039-A063-1D37-BDC1-7B2421B0F2E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00272" y="6003986"/>
            <a:ext cx="1227939" cy="738437"/>
          </a:xfrm>
        </p:spPr>
        <p:txBody>
          <a:bodyPr>
            <a:normAutofit lnSpcReduction="10000"/>
          </a:bodyPr>
          <a:lstStyle/>
          <a:p>
            <a:fld id="{00000000-1234-1234-1234-123412341234}" type="slidenum">
              <a:rPr lang="ru" sz="3733" b="1"/>
              <a:pPr/>
              <a:t>8</a:t>
            </a:fld>
            <a:endParaRPr lang="ru" sz="3733" b="1" dirty="0"/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CD6D23C2-F4B4-0314-E257-A2D7DE0B0812}"/>
              </a:ext>
            </a:extLst>
          </p:cNvPr>
          <p:cNvSpPr txBox="1">
            <a:spLocks/>
          </p:cNvSpPr>
          <p:nvPr/>
        </p:nvSpPr>
        <p:spPr>
          <a:xfrm>
            <a:off x="552287" y="168006"/>
            <a:ext cx="10003955" cy="98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36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D43943E-AAEF-B177-3342-65C8A1EBB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103" y="1156677"/>
            <a:ext cx="7797549" cy="46897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F04A0151-F288-97AB-FF21-6EE034A14F28}"/>
              </a:ext>
            </a:extLst>
          </p:cNvPr>
          <p:cNvSpPr txBox="1">
            <a:spLocks/>
          </p:cNvSpPr>
          <p:nvPr/>
        </p:nvSpPr>
        <p:spPr>
          <a:xfrm>
            <a:off x="677416" y="89388"/>
            <a:ext cx="10003955" cy="98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dirty="0">
                <a:solidFill>
                  <a:srgbClr val="000000"/>
                </a:solidFill>
              </a:rPr>
              <a:t>Сравнение роста памяти в разных распределенных реестрах</a:t>
            </a:r>
            <a:endParaRPr lang="ru-RU" dirty="0"/>
          </a:p>
          <a:p>
            <a:pPr algn="ctr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074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3E72831E-94A3-BFA9-3B45-D23BB911F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8A4C310E-ECEF-C317-C6B5-4F72A817F0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00272" y="6003986"/>
            <a:ext cx="1227939" cy="738437"/>
          </a:xfrm>
        </p:spPr>
        <p:txBody>
          <a:bodyPr>
            <a:normAutofit lnSpcReduction="10000"/>
          </a:bodyPr>
          <a:lstStyle/>
          <a:p>
            <a:fld id="{00000000-1234-1234-1234-123412341234}" type="slidenum">
              <a:rPr lang="ru" sz="3733" b="1"/>
              <a:pPr/>
              <a:t>9</a:t>
            </a:fld>
            <a:endParaRPr lang="ru" sz="3733" b="1" dirty="0"/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CC7F0E63-BF86-6DE7-934F-45787C7834A0}"/>
              </a:ext>
            </a:extLst>
          </p:cNvPr>
          <p:cNvSpPr txBox="1">
            <a:spLocks/>
          </p:cNvSpPr>
          <p:nvPr/>
        </p:nvSpPr>
        <p:spPr>
          <a:xfrm>
            <a:off x="1187554" y="115577"/>
            <a:ext cx="10003955" cy="98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600" dirty="0">
                <a:solidFill>
                  <a:srgbClr val="000000"/>
                </a:solidFill>
              </a:rPr>
              <a:t>Атака конфликтующими транзакциями</a:t>
            </a:r>
            <a:endParaRPr lang="ru-RU" sz="3600" dirty="0"/>
          </a:p>
          <a:p>
            <a:pPr algn="ctr"/>
            <a:endParaRPr lang="en-US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F196FA-30A3-CFFA-40FA-24A357E81325}"/>
              </a:ext>
            </a:extLst>
          </p:cNvPr>
          <p:cNvSpPr txBox="1"/>
          <p:nvPr/>
        </p:nvSpPr>
        <p:spPr>
          <a:xfrm>
            <a:off x="1898018" y="5100452"/>
            <a:ext cx="71930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/>
              <a:t>В реализованной модели конфликты разрешаются через </a:t>
            </a:r>
            <a:r>
              <a:rPr lang="en-US" sz="2000" dirty="0"/>
              <a:t>BFT</a:t>
            </a:r>
            <a:br>
              <a:rPr lang="ru-RU" sz="2000" dirty="0"/>
            </a:br>
            <a:endParaRPr lang="en-US" sz="2000" dirty="0"/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/>
              <a:t>Конфликты упорядочиваются по следующему порядку</a:t>
            </a:r>
            <a:r>
              <a:rPr lang="en-US" sz="2000" dirty="0"/>
              <a:t>: </a:t>
            </a:r>
            <a:r>
              <a:rPr lang="ru-RU" sz="2000" i="1" dirty="0"/>
              <a:t>слот, поддержка и хэш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7DAF215A-1C76-E15F-A84F-79ECAF467C8E}"/>
              </a:ext>
            </a:extLst>
          </p:cNvPr>
          <p:cNvGrpSpPr/>
          <p:nvPr/>
        </p:nvGrpSpPr>
        <p:grpSpPr>
          <a:xfrm>
            <a:off x="1900457" y="994194"/>
            <a:ext cx="7763123" cy="4014229"/>
            <a:chOff x="167393" y="939433"/>
            <a:chExt cx="7267492" cy="4238045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CA2D5EA3-121B-DC4D-0C41-69802ED7CDA2}"/>
                </a:ext>
              </a:extLst>
            </p:cNvPr>
            <p:cNvGrpSpPr/>
            <p:nvPr/>
          </p:nvGrpSpPr>
          <p:grpSpPr>
            <a:xfrm>
              <a:off x="167393" y="939433"/>
              <a:ext cx="7267492" cy="4238045"/>
              <a:chOff x="143539" y="1082557"/>
              <a:chExt cx="7267492" cy="4238045"/>
            </a:xfrm>
          </p:grpSpPr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FB309C2F-5538-C6BC-3C20-DC6B72247C35}"/>
                  </a:ext>
                </a:extLst>
              </p:cNvPr>
              <p:cNvSpPr/>
              <p:nvPr/>
            </p:nvSpPr>
            <p:spPr>
              <a:xfrm>
                <a:off x="143539" y="1082557"/>
                <a:ext cx="7267492" cy="423804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grpSp>
            <p:nvGrpSpPr>
              <p:cNvPr id="12" name="Группа 11">
                <a:extLst>
                  <a:ext uri="{FF2B5EF4-FFF2-40B4-BE49-F238E27FC236}">
                    <a16:creationId xmlns:a16="http://schemas.microsoft.com/office/drawing/2014/main" id="{77C046E7-7ADE-FFD9-A7B6-C67AEFF2D4E3}"/>
                  </a:ext>
                </a:extLst>
              </p:cNvPr>
              <p:cNvGrpSpPr/>
              <p:nvPr/>
            </p:nvGrpSpPr>
            <p:grpSpPr>
              <a:xfrm>
                <a:off x="553564" y="1277983"/>
                <a:ext cx="6096000" cy="3389432"/>
                <a:chOff x="720541" y="1635792"/>
                <a:chExt cx="8292977" cy="4298088"/>
              </a:xfrm>
            </p:grpSpPr>
            <p:sp>
              <p:nvSpPr>
                <p:cNvPr id="13" name="Овал 12">
                  <a:extLst>
                    <a:ext uri="{FF2B5EF4-FFF2-40B4-BE49-F238E27FC236}">
                      <a16:creationId xmlns:a16="http://schemas.microsoft.com/office/drawing/2014/main" id="{8A1A84DD-D8BB-FF09-3258-7302E7C9101A}"/>
                    </a:ext>
                  </a:extLst>
                </p:cNvPr>
                <p:cNvSpPr/>
                <p:nvPr/>
              </p:nvSpPr>
              <p:spPr>
                <a:xfrm>
                  <a:off x="720541" y="4156866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4" name="Овал 13">
                  <a:extLst>
                    <a:ext uri="{FF2B5EF4-FFF2-40B4-BE49-F238E27FC236}">
                      <a16:creationId xmlns:a16="http://schemas.microsoft.com/office/drawing/2014/main" id="{24BEEF07-3071-A46A-9EDC-09EB5827A4F7}"/>
                    </a:ext>
                  </a:extLst>
                </p:cNvPr>
                <p:cNvSpPr/>
                <p:nvPr/>
              </p:nvSpPr>
              <p:spPr>
                <a:xfrm>
                  <a:off x="1633964" y="3180021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5" name="Овал 14">
                  <a:extLst>
                    <a:ext uri="{FF2B5EF4-FFF2-40B4-BE49-F238E27FC236}">
                      <a16:creationId xmlns:a16="http://schemas.microsoft.com/office/drawing/2014/main" id="{AC456649-11FD-40BC-F2EA-CA7D3F4CB1BC}"/>
                    </a:ext>
                  </a:extLst>
                </p:cNvPr>
                <p:cNvSpPr/>
                <p:nvPr/>
              </p:nvSpPr>
              <p:spPr>
                <a:xfrm>
                  <a:off x="1787711" y="4041000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8" name="Овал 17">
                  <a:extLst>
                    <a:ext uri="{FF2B5EF4-FFF2-40B4-BE49-F238E27FC236}">
                      <a16:creationId xmlns:a16="http://schemas.microsoft.com/office/drawing/2014/main" id="{29216B9A-2EF9-F922-272C-28820E487F81}"/>
                    </a:ext>
                  </a:extLst>
                </p:cNvPr>
                <p:cNvSpPr/>
                <p:nvPr/>
              </p:nvSpPr>
              <p:spPr>
                <a:xfrm>
                  <a:off x="2598696" y="2936495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9" name="Овал 18">
                  <a:extLst>
                    <a:ext uri="{FF2B5EF4-FFF2-40B4-BE49-F238E27FC236}">
                      <a16:creationId xmlns:a16="http://schemas.microsoft.com/office/drawing/2014/main" id="{DAB2FE28-82DA-8758-CF1C-0205CF89EE11}"/>
                    </a:ext>
                  </a:extLst>
                </p:cNvPr>
                <p:cNvSpPr/>
                <p:nvPr/>
              </p:nvSpPr>
              <p:spPr>
                <a:xfrm>
                  <a:off x="1662636" y="5077158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0" name="Овал 19">
                  <a:extLst>
                    <a:ext uri="{FF2B5EF4-FFF2-40B4-BE49-F238E27FC236}">
                      <a16:creationId xmlns:a16="http://schemas.microsoft.com/office/drawing/2014/main" id="{EEBEDCA1-A9BA-52E9-ABF0-441FA026C9F4}"/>
                    </a:ext>
                  </a:extLst>
                </p:cNvPr>
                <p:cNvSpPr/>
                <p:nvPr/>
              </p:nvSpPr>
              <p:spPr>
                <a:xfrm>
                  <a:off x="2679702" y="3776027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cxnSp>
              <p:nvCxnSpPr>
                <p:cNvPr id="21" name="Прямая со стрелкой 20">
                  <a:extLst>
                    <a:ext uri="{FF2B5EF4-FFF2-40B4-BE49-F238E27FC236}">
                      <a16:creationId xmlns:a16="http://schemas.microsoft.com/office/drawing/2014/main" id="{791D8E0E-FC1D-7536-E054-DCEE6DEF36B0}"/>
                    </a:ext>
                  </a:extLst>
                </p:cNvPr>
                <p:cNvCxnSpPr>
                  <a:stCxn id="14" idx="2"/>
                  <a:endCxn id="13" idx="7"/>
                </p:cNvCxnSpPr>
                <p:nvPr/>
              </p:nvCxnSpPr>
              <p:spPr>
                <a:xfrm flipH="1">
                  <a:off x="1019590" y="3355200"/>
                  <a:ext cx="614374" cy="85297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Прямая со стрелкой 21">
                  <a:extLst>
                    <a:ext uri="{FF2B5EF4-FFF2-40B4-BE49-F238E27FC236}">
                      <a16:creationId xmlns:a16="http://schemas.microsoft.com/office/drawing/2014/main" id="{C5FD7FB2-D367-EDDB-2FCE-3ACF903D2B0B}"/>
                    </a:ext>
                  </a:extLst>
                </p:cNvPr>
                <p:cNvCxnSpPr>
                  <a:stCxn id="15" idx="3"/>
                  <a:endCxn id="13" idx="6"/>
                </p:cNvCxnSpPr>
                <p:nvPr/>
              </p:nvCxnSpPr>
              <p:spPr>
                <a:xfrm flipH="1" flipV="1">
                  <a:off x="1070899" y="4332045"/>
                  <a:ext cx="768121" cy="800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Прямая со стрелкой 22">
                  <a:extLst>
                    <a:ext uri="{FF2B5EF4-FFF2-40B4-BE49-F238E27FC236}">
                      <a16:creationId xmlns:a16="http://schemas.microsoft.com/office/drawing/2014/main" id="{909991DA-109A-F37D-FF90-643978DB582E}"/>
                    </a:ext>
                  </a:extLst>
                </p:cNvPr>
                <p:cNvCxnSpPr>
                  <a:stCxn id="19" idx="1"/>
                  <a:endCxn id="13" idx="5"/>
                </p:cNvCxnSpPr>
                <p:nvPr/>
              </p:nvCxnSpPr>
              <p:spPr>
                <a:xfrm flipH="1" flipV="1">
                  <a:off x="1019590" y="4455915"/>
                  <a:ext cx="694355" cy="67255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Прямая со стрелкой 23">
                  <a:extLst>
                    <a:ext uri="{FF2B5EF4-FFF2-40B4-BE49-F238E27FC236}">
                      <a16:creationId xmlns:a16="http://schemas.microsoft.com/office/drawing/2014/main" id="{E620F686-B6F8-6C91-F548-082D561C7785}"/>
                    </a:ext>
                  </a:extLst>
                </p:cNvPr>
                <p:cNvCxnSpPr>
                  <a:stCxn id="18" idx="2"/>
                  <a:endCxn id="14" idx="7"/>
                </p:cNvCxnSpPr>
                <p:nvPr/>
              </p:nvCxnSpPr>
              <p:spPr>
                <a:xfrm flipH="1">
                  <a:off x="1933013" y="3111674"/>
                  <a:ext cx="665683" cy="1196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Прямая со стрелкой 24">
                  <a:extLst>
                    <a:ext uri="{FF2B5EF4-FFF2-40B4-BE49-F238E27FC236}">
                      <a16:creationId xmlns:a16="http://schemas.microsoft.com/office/drawing/2014/main" id="{251E97C5-4A91-722E-5863-B08E219B0391}"/>
                    </a:ext>
                  </a:extLst>
                </p:cNvPr>
                <p:cNvCxnSpPr>
                  <a:stCxn id="20" idx="2"/>
                  <a:endCxn id="14" idx="5"/>
                </p:cNvCxnSpPr>
                <p:nvPr/>
              </p:nvCxnSpPr>
              <p:spPr>
                <a:xfrm flipH="1" flipV="1">
                  <a:off x="1933013" y="3479070"/>
                  <a:ext cx="746689" cy="47213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Прямая со стрелкой 25">
                  <a:extLst>
                    <a:ext uri="{FF2B5EF4-FFF2-40B4-BE49-F238E27FC236}">
                      <a16:creationId xmlns:a16="http://schemas.microsoft.com/office/drawing/2014/main" id="{8C7F2653-D5AA-973C-606C-8C95B06B5DAC}"/>
                    </a:ext>
                  </a:extLst>
                </p:cNvPr>
                <p:cNvCxnSpPr>
                  <a:stCxn id="20" idx="3"/>
                  <a:endCxn id="15" idx="6"/>
                </p:cNvCxnSpPr>
                <p:nvPr/>
              </p:nvCxnSpPr>
              <p:spPr>
                <a:xfrm flipH="1">
                  <a:off x="2138069" y="4075076"/>
                  <a:ext cx="592942" cy="14110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Прямая со стрелкой 26">
                  <a:extLst>
                    <a:ext uri="{FF2B5EF4-FFF2-40B4-BE49-F238E27FC236}">
                      <a16:creationId xmlns:a16="http://schemas.microsoft.com/office/drawing/2014/main" id="{E0B6B971-CA89-CB13-F33D-46FB28BE6A4D}"/>
                    </a:ext>
                  </a:extLst>
                </p:cNvPr>
                <p:cNvCxnSpPr>
                  <a:stCxn id="18" idx="4"/>
                  <a:endCxn id="15" idx="7"/>
                </p:cNvCxnSpPr>
                <p:nvPr/>
              </p:nvCxnSpPr>
              <p:spPr>
                <a:xfrm flipH="1">
                  <a:off x="2086760" y="3286853"/>
                  <a:ext cx="687115" cy="8054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Прямая со стрелкой 27">
                  <a:extLst>
                    <a:ext uri="{FF2B5EF4-FFF2-40B4-BE49-F238E27FC236}">
                      <a16:creationId xmlns:a16="http://schemas.microsoft.com/office/drawing/2014/main" id="{D7935EA0-4C43-9B95-6F5D-40B24D1EDC69}"/>
                    </a:ext>
                  </a:extLst>
                </p:cNvPr>
                <p:cNvCxnSpPr>
                  <a:stCxn id="20" idx="4"/>
                  <a:endCxn id="19" idx="7"/>
                </p:cNvCxnSpPr>
                <p:nvPr/>
              </p:nvCxnSpPr>
              <p:spPr>
                <a:xfrm flipH="1">
                  <a:off x="1961685" y="4126385"/>
                  <a:ext cx="893196" cy="100208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Овал 28">
                  <a:extLst>
                    <a:ext uri="{FF2B5EF4-FFF2-40B4-BE49-F238E27FC236}">
                      <a16:creationId xmlns:a16="http://schemas.microsoft.com/office/drawing/2014/main" id="{07B2ECC4-192C-8ADA-9581-C024B478B88E}"/>
                    </a:ext>
                  </a:extLst>
                </p:cNvPr>
                <p:cNvSpPr/>
                <p:nvPr/>
              </p:nvSpPr>
              <p:spPr>
                <a:xfrm>
                  <a:off x="4063969" y="3180021"/>
                  <a:ext cx="350358" cy="350358"/>
                </a:xfrm>
                <a:prstGeom prst="ellipse">
                  <a:avLst/>
                </a:prstGeom>
                <a:pattFill prst="ltUpDiag">
                  <a:fgClr>
                    <a:srgbClr val="9608C8"/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0" name="Овал 29">
                  <a:extLst>
                    <a:ext uri="{FF2B5EF4-FFF2-40B4-BE49-F238E27FC236}">
                      <a16:creationId xmlns:a16="http://schemas.microsoft.com/office/drawing/2014/main" id="{6E48AAF9-7871-5B0C-3AEA-345719D3F77E}"/>
                    </a:ext>
                  </a:extLst>
                </p:cNvPr>
                <p:cNvSpPr/>
                <p:nvPr/>
              </p:nvSpPr>
              <p:spPr>
                <a:xfrm>
                  <a:off x="3888790" y="4481153"/>
                  <a:ext cx="350358" cy="350358"/>
                </a:xfrm>
                <a:prstGeom prst="ellipse">
                  <a:avLst/>
                </a:prstGeom>
                <a:pattFill prst="ltUpDiag">
                  <a:fgClr>
                    <a:schemeClr val="accent1">
                      <a:lumMod val="7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cxnSp>
              <p:nvCxnSpPr>
                <p:cNvPr id="31" name="Прямая со стрелкой 30">
                  <a:extLst>
                    <a:ext uri="{FF2B5EF4-FFF2-40B4-BE49-F238E27FC236}">
                      <a16:creationId xmlns:a16="http://schemas.microsoft.com/office/drawing/2014/main" id="{DFBC3F97-0023-2AE3-5E37-1FFC964A149F}"/>
                    </a:ext>
                  </a:extLst>
                </p:cNvPr>
                <p:cNvCxnSpPr>
                  <a:stCxn id="29" idx="2"/>
                  <a:endCxn id="18" idx="6"/>
                </p:cNvCxnSpPr>
                <p:nvPr/>
              </p:nvCxnSpPr>
              <p:spPr>
                <a:xfrm flipH="1" flipV="1">
                  <a:off x="2949054" y="3111674"/>
                  <a:ext cx="1114915" cy="24352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Прямая со стрелкой 31">
                  <a:extLst>
                    <a:ext uri="{FF2B5EF4-FFF2-40B4-BE49-F238E27FC236}">
                      <a16:creationId xmlns:a16="http://schemas.microsoft.com/office/drawing/2014/main" id="{5A82273F-A60D-4E84-C10A-A79A8C7B4EA6}"/>
                    </a:ext>
                  </a:extLst>
                </p:cNvPr>
                <p:cNvCxnSpPr>
                  <a:stCxn id="29" idx="3"/>
                  <a:endCxn id="20" idx="6"/>
                </p:cNvCxnSpPr>
                <p:nvPr/>
              </p:nvCxnSpPr>
              <p:spPr>
                <a:xfrm flipH="1">
                  <a:off x="3030060" y="3479070"/>
                  <a:ext cx="1085218" cy="47213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Прямая со стрелкой 32">
                  <a:extLst>
                    <a:ext uri="{FF2B5EF4-FFF2-40B4-BE49-F238E27FC236}">
                      <a16:creationId xmlns:a16="http://schemas.microsoft.com/office/drawing/2014/main" id="{6AC3B499-0619-D447-2834-24F54873DDF4}"/>
                    </a:ext>
                  </a:extLst>
                </p:cNvPr>
                <p:cNvCxnSpPr>
                  <a:stCxn id="30" idx="1"/>
                  <a:endCxn id="20" idx="6"/>
                </p:cNvCxnSpPr>
                <p:nvPr/>
              </p:nvCxnSpPr>
              <p:spPr>
                <a:xfrm flipH="1" flipV="1">
                  <a:off x="3030060" y="3951206"/>
                  <a:ext cx="910039" cy="5812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Прямая со стрелкой 33">
                  <a:extLst>
                    <a:ext uri="{FF2B5EF4-FFF2-40B4-BE49-F238E27FC236}">
                      <a16:creationId xmlns:a16="http://schemas.microsoft.com/office/drawing/2014/main" id="{696D7D29-D8A7-DDA7-5DF3-205FD01ABCDD}"/>
                    </a:ext>
                  </a:extLst>
                </p:cNvPr>
                <p:cNvCxnSpPr>
                  <a:stCxn id="30" idx="2"/>
                  <a:endCxn id="19" idx="6"/>
                </p:cNvCxnSpPr>
                <p:nvPr/>
              </p:nvCxnSpPr>
              <p:spPr>
                <a:xfrm flipH="1">
                  <a:off x="2012994" y="4656332"/>
                  <a:ext cx="1875796" cy="59600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Овал 34">
                  <a:extLst>
                    <a:ext uri="{FF2B5EF4-FFF2-40B4-BE49-F238E27FC236}">
                      <a16:creationId xmlns:a16="http://schemas.microsoft.com/office/drawing/2014/main" id="{2BCAFFEF-0E6E-28C4-0B0E-638C9C991427}"/>
                    </a:ext>
                  </a:extLst>
                </p:cNvPr>
                <p:cNvSpPr/>
                <p:nvPr/>
              </p:nvSpPr>
              <p:spPr>
                <a:xfrm>
                  <a:off x="5040966" y="4264620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6" name="Овал 35">
                  <a:extLst>
                    <a:ext uri="{FF2B5EF4-FFF2-40B4-BE49-F238E27FC236}">
                      <a16:creationId xmlns:a16="http://schemas.microsoft.com/office/drawing/2014/main" id="{3779C702-AD22-3D62-69E5-1BAFC85AB95F}"/>
                    </a:ext>
                  </a:extLst>
                </p:cNvPr>
                <p:cNvSpPr/>
                <p:nvPr/>
              </p:nvSpPr>
              <p:spPr>
                <a:xfrm>
                  <a:off x="5966654" y="4495890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7" name="Овал 36">
                  <a:extLst>
                    <a:ext uri="{FF2B5EF4-FFF2-40B4-BE49-F238E27FC236}">
                      <a16:creationId xmlns:a16="http://schemas.microsoft.com/office/drawing/2014/main" id="{71A5E8DB-BBAE-7D13-C93D-83E683462499}"/>
                    </a:ext>
                  </a:extLst>
                </p:cNvPr>
                <p:cNvSpPr/>
                <p:nvPr/>
              </p:nvSpPr>
              <p:spPr>
                <a:xfrm>
                  <a:off x="4930901" y="5128467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cxnSp>
              <p:nvCxnSpPr>
                <p:cNvPr id="38" name="Прямая со стрелкой 37">
                  <a:extLst>
                    <a:ext uri="{FF2B5EF4-FFF2-40B4-BE49-F238E27FC236}">
                      <a16:creationId xmlns:a16="http://schemas.microsoft.com/office/drawing/2014/main" id="{A2261A37-B67C-83FB-FDB0-726491B32897}"/>
                    </a:ext>
                  </a:extLst>
                </p:cNvPr>
                <p:cNvCxnSpPr>
                  <a:stCxn id="37" idx="1"/>
                  <a:endCxn id="30" idx="6"/>
                </p:cNvCxnSpPr>
                <p:nvPr/>
              </p:nvCxnSpPr>
              <p:spPr>
                <a:xfrm flipH="1" flipV="1">
                  <a:off x="4239148" y="4656332"/>
                  <a:ext cx="743062" cy="52344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Прямая со стрелкой 38">
                  <a:extLst>
                    <a:ext uri="{FF2B5EF4-FFF2-40B4-BE49-F238E27FC236}">
                      <a16:creationId xmlns:a16="http://schemas.microsoft.com/office/drawing/2014/main" id="{E81662CC-0D06-EAC3-7743-D39779CF02F8}"/>
                    </a:ext>
                  </a:extLst>
                </p:cNvPr>
                <p:cNvCxnSpPr>
                  <a:stCxn id="37" idx="3"/>
                  <a:endCxn id="19" idx="5"/>
                </p:cNvCxnSpPr>
                <p:nvPr/>
              </p:nvCxnSpPr>
              <p:spPr>
                <a:xfrm flipH="1" flipV="1">
                  <a:off x="1961685" y="5376207"/>
                  <a:ext cx="3020525" cy="5130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Прямая со стрелкой 39">
                  <a:extLst>
                    <a:ext uri="{FF2B5EF4-FFF2-40B4-BE49-F238E27FC236}">
                      <a16:creationId xmlns:a16="http://schemas.microsoft.com/office/drawing/2014/main" id="{4568A35C-48AA-A657-6839-088D4700B5DC}"/>
                    </a:ext>
                  </a:extLst>
                </p:cNvPr>
                <p:cNvCxnSpPr>
                  <a:stCxn id="35" idx="2"/>
                  <a:endCxn id="30" idx="6"/>
                </p:cNvCxnSpPr>
                <p:nvPr/>
              </p:nvCxnSpPr>
              <p:spPr>
                <a:xfrm flipH="1">
                  <a:off x="4239148" y="4439799"/>
                  <a:ext cx="801818" cy="21653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Прямая со стрелкой 40">
                  <a:extLst>
                    <a:ext uri="{FF2B5EF4-FFF2-40B4-BE49-F238E27FC236}">
                      <a16:creationId xmlns:a16="http://schemas.microsoft.com/office/drawing/2014/main" id="{6A568358-8386-D705-AFE0-73E8DD5D677F}"/>
                    </a:ext>
                  </a:extLst>
                </p:cNvPr>
                <p:cNvCxnSpPr>
                  <a:cxnSpLocks/>
                  <a:stCxn id="36" idx="2"/>
                  <a:endCxn id="35" idx="6"/>
                </p:cNvCxnSpPr>
                <p:nvPr/>
              </p:nvCxnSpPr>
              <p:spPr>
                <a:xfrm flipH="1" flipV="1">
                  <a:off x="5391324" y="4439799"/>
                  <a:ext cx="575330" cy="23127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Прямая со стрелкой 41">
                  <a:extLst>
                    <a:ext uri="{FF2B5EF4-FFF2-40B4-BE49-F238E27FC236}">
                      <a16:creationId xmlns:a16="http://schemas.microsoft.com/office/drawing/2014/main" id="{9D9A580F-7708-8B31-2F76-66C55A80A184}"/>
                    </a:ext>
                  </a:extLst>
                </p:cNvPr>
                <p:cNvCxnSpPr>
                  <a:stCxn id="36" idx="3"/>
                  <a:endCxn id="37" idx="7"/>
                </p:cNvCxnSpPr>
                <p:nvPr/>
              </p:nvCxnSpPr>
              <p:spPr>
                <a:xfrm flipH="1">
                  <a:off x="5229950" y="4794939"/>
                  <a:ext cx="788013" cy="38483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Овал 42">
                  <a:extLst>
                    <a:ext uri="{FF2B5EF4-FFF2-40B4-BE49-F238E27FC236}">
                      <a16:creationId xmlns:a16="http://schemas.microsoft.com/office/drawing/2014/main" id="{968C67EF-E9FA-DB5F-A57F-2DCD07D3C2AE}"/>
                    </a:ext>
                  </a:extLst>
                </p:cNvPr>
                <p:cNvSpPr/>
                <p:nvPr/>
              </p:nvSpPr>
              <p:spPr>
                <a:xfrm>
                  <a:off x="7339793" y="4555434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4" name="Овал 43">
                  <a:extLst>
                    <a:ext uri="{FF2B5EF4-FFF2-40B4-BE49-F238E27FC236}">
                      <a16:creationId xmlns:a16="http://schemas.microsoft.com/office/drawing/2014/main" id="{EFA52C21-FA72-D617-4806-7876EDA967AC}"/>
                    </a:ext>
                  </a:extLst>
                </p:cNvPr>
                <p:cNvSpPr/>
                <p:nvPr/>
              </p:nvSpPr>
              <p:spPr>
                <a:xfrm>
                  <a:off x="6989435" y="3761289"/>
                  <a:ext cx="350358" cy="350358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cxnSp>
              <p:nvCxnSpPr>
                <p:cNvPr id="45" name="Прямая со стрелкой 44">
                  <a:extLst>
                    <a:ext uri="{FF2B5EF4-FFF2-40B4-BE49-F238E27FC236}">
                      <a16:creationId xmlns:a16="http://schemas.microsoft.com/office/drawing/2014/main" id="{4D11E64E-4E55-BDE4-B949-B1C50E4D3C48}"/>
                    </a:ext>
                  </a:extLst>
                </p:cNvPr>
                <p:cNvCxnSpPr>
                  <a:stCxn id="44" idx="2"/>
                  <a:endCxn id="35" idx="7"/>
                </p:cNvCxnSpPr>
                <p:nvPr/>
              </p:nvCxnSpPr>
              <p:spPr>
                <a:xfrm flipH="1">
                  <a:off x="5340015" y="3936468"/>
                  <a:ext cx="1649420" cy="3794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Прямая со стрелкой 45">
                  <a:extLst>
                    <a:ext uri="{FF2B5EF4-FFF2-40B4-BE49-F238E27FC236}">
                      <a16:creationId xmlns:a16="http://schemas.microsoft.com/office/drawing/2014/main" id="{6C4CF6D0-36EA-DE27-D2C5-8F1DBAE59ED6}"/>
                    </a:ext>
                  </a:extLst>
                </p:cNvPr>
                <p:cNvCxnSpPr>
                  <a:stCxn id="44" idx="4"/>
                  <a:endCxn id="36" idx="7"/>
                </p:cNvCxnSpPr>
                <p:nvPr/>
              </p:nvCxnSpPr>
              <p:spPr>
                <a:xfrm flipH="1">
                  <a:off x="6265703" y="4111647"/>
                  <a:ext cx="898911" cy="43555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Прямая со стрелкой 46">
                  <a:extLst>
                    <a:ext uri="{FF2B5EF4-FFF2-40B4-BE49-F238E27FC236}">
                      <a16:creationId xmlns:a16="http://schemas.microsoft.com/office/drawing/2014/main" id="{AB84906E-BA29-9AA6-6EE8-1FA340909567}"/>
                    </a:ext>
                  </a:extLst>
                </p:cNvPr>
                <p:cNvCxnSpPr>
                  <a:stCxn id="43" idx="4"/>
                  <a:endCxn id="37" idx="6"/>
                </p:cNvCxnSpPr>
                <p:nvPr/>
              </p:nvCxnSpPr>
              <p:spPr>
                <a:xfrm flipH="1">
                  <a:off x="5281259" y="4905792"/>
                  <a:ext cx="2233713" cy="39785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Прямая со стрелкой 47">
                  <a:extLst>
                    <a:ext uri="{FF2B5EF4-FFF2-40B4-BE49-F238E27FC236}">
                      <a16:creationId xmlns:a16="http://schemas.microsoft.com/office/drawing/2014/main" id="{029750E2-37A1-BBC2-5A54-48C830F2645B}"/>
                    </a:ext>
                  </a:extLst>
                </p:cNvPr>
                <p:cNvCxnSpPr>
                  <a:stCxn id="43" idx="2"/>
                  <a:endCxn id="36" idx="6"/>
                </p:cNvCxnSpPr>
                <p:nvPr/>
              </p:nvCxnSpPr>
              <p:spPr>
                <a:xfrm flipH="1" flipV="1">
                  <a:off x="6317012" y="4671069"/>
                  <a:ext cx="1022781" cy="5954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Овал 48">
                  <a:extLst>
                    <a:ext uri="{FF2B5EF4-FFF2-40B4-BE49-F238E27FC236}">
                      <a16:creationId xmlns:a16="http://schemas.microsoft.com/office/drawing/2014/main" id="{02C5ADB3-8A6A-1174-7C49-CB7DF0BC0E08}"/>
                    </a:ext>
                  </a:extLst>
                </p:cNvPr>
                <p:cNvSpPr/>
                <p:nvPr/>
              </p:nvSpPr>
              <p:spPr>
                <a:xfrm>
                  <a:off x="5702167" y="2512259"/>
                  <a:ext cx="350358" cy="350358"/>
                </a:xfrm>
                <a:prstGeom prst="ellipse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0" name="Овал 49">
                  <a:extLst>
                    <a:ext uri="{FF2B5EF4-FFF2-40B4-BE49-F238E27FC236}">
                      <a16:creationId xmlns:a16="http://schemas.microsoft.com/office/drawing/2014/main" id="{8C2DCAFA-C7A1-F328-00EE-A59E0AC57E09}"/>
                    </a:ext>
                  </a:extLst>
                </p:cNvPr>
                <p:cNvSpPr/>
                <p:nvPr/>
              </p:nvSpPr>
              <p:spPr>
                <a:xfrm>
                  <a:off x="6745195" y="2501874"/>
                  <a:ext cx="350358" cy="350358"/>
                </a:xfrm>
                <a:prstGeom prst="ellipse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1" name="Овал 50">
                  <a:extLst>
                    <a:ext uri="{FF2B5EF4-FFF2-40B4-BE49-F238E27FC236}">
                      <a16:creationId xmlns:a16="http://schemas.microsoft.com/office/drawing/2014/main" id="{C94967E8-B899-FAC9-828B-A74EA49B2634}"/>
                    </a:ext>
                  </a:extLst>
                </p:cNvPr>
                <p:cNvSpPr/>
                <p:nvPr/>
              </p:nvSpPr>
              <p:spPr>
                <a:xfrm>
                  <a:off x="6090524" y="1635792"/>
                  <a:ext cx="350358" cy="350358"/>
                </a:xfrm>
                <a:prstGeom prst="ellipse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2" name="Овал 51">
                  <a:extLst>
                    <a:ext uri="{FF2B5EF4-FFF2-40B4-BE49-F238E27FC236}">
                      <a16:creationId xmlns:a16="http://schemas.microsoft.com/office/drawing/2014/main" id="{FE70D82B-5CA9-1A1F-BC92-FDEC02AB138B}"/>
                    </a:ext>
                  </a:extLst>
                </p:cNvPr>
                <p:cNvSpPr/>
                <p:nvPr/>
              </p:nvSpPr>
              <p:spPr>
                <a:xfrm>
                  <a:off x="5229950" y="3145594"/>
                  <a:ext cx="350358" cy="350358"/>
                </a:xfrm>
                <a:prstGeom prst="ellipse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3" name="Овал 52">
                  <a:extLst>
                    <a:ext uri="{FF2B5EF4-FFF2-40B4-BE49-F238E27FC236}">
                      <a16:creationId xmlns:a16="http://schemas.microsoft.com/office/drawing/2014/main" id="{0AFC68DE-6C1B-FA3E-B130-B6AA61B72C89}"/>
                    </a:ext>
                  </a:extLst>
                </p:cNvPr>
                <p:cNvSpPr/>
                <p:nvPr/>
              </p:nvSpPr>
              <p:spPr>
                <a:xfrm>
                  <a:off x="4631852" y="2320137"/>
                  <a:ext cx="350358" cy="350358"/>
                </a:xfrm>
                <a:prstGeom prst="ellipse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cxnSp>
              <p:nvCxnSpPr>
                <p:cNvPr id="54" name="Прямая со стрелкой 53">
                  <a:extLst>
                    <a:ext uri="{FF2B5EF4-FFF2-40B4-BE49-F238E27FC236}">
                      <a16:creationId xmlns:a16="http://schemas.microsoft.com/office/drawing/2014/main" id="{AC23734B-B1B8-0134-0778-AC62D952FABC}"/>
                    </a:ext>
                  </a:extLst>
                </p:cNvPr>
                <p:cNvCxnSpPr>
                  <a:stCxn id="53" idx="2"/>
                  <a:endCxn id="18" idx="7"/>
                </p:cNvCxnSpPr>
                <p:nvPr/>
              </p:nvCxnSpPr>
              <p:spPr>
                <a:xfrm flipH="1">
                  <a:off x="2897745" y="2495316"/>
                  <a:ext cx="1734107" cy="49248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Прямая со стрелкой 54">
                  <a:extLst>
                    <a:ext uri="{FF2B5EF4-FFF2-40B4-BE49-F238E27FC236}">
                      <a16:creationId xmlns:a16="http://schemas.microsoft.com/office/drawing/2014/main" id="{0806269B-81E8-F1A9-EDEE-CF232AFB66B7}"/>
                    </a:ext>
                  </a:extLst>
                </p:cNvPr>
                <p:cNvCxnSpPr>
                  <a:stCxn id="53" idx="4"/>
                  <a:endCxn id="29" idx="7"/>
                </p:cNvCxnSpPr>
                <p:nvPr/>
              </p:nvCxnSpPr>
              <p:spPr>
                <a:xfrm flipH="1">
                  <a:off x="4363018" y="2670495"/>
                  <a:ext cx="444013" cy="56083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Прямая со стрелкой 55">
                  <a:extLst>
                    <a:ext uri="{FF2B5EF4-FFF2-40B4-BE49-F238E27FC236}">
                      <a16:creationId xmlns:a16="http://schemas.microsoft.com/office/drawing/2014/main" id="{FB106D91-BBA3-058B-7A0F-1C59D5843B68}"/>
                    </a:ext>
                  </a:extLst>
                </p:cNvPr>
                <p:cNvCxnSpPr>
                  <a:stCxn id="52" idx="2"/>
                  <a:endCxn id="29" idx="6"/>
                </p:cNvCxnSpPr>
                <p:nvPr/>
              </p:nvCxnSpPr>
              <p:spPr>
                <a:xfrm flipH="1">
                  <a:off x="4414327" y="3320773"/>
                  <a:ext cx="815623" cy="3442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Прямая со стрелкой 56">
                  <a:extLst>
                    <a:ext uri="{FF2B5EF4-FFF2-40B4-BE49-F238E27FC236}">
                      <a16:creationId xmlns:a16="http://schemas.microsoft.com/office/drawing/2014/main" id="{6C53B6A5-7BCF-EF9C-8873-4FF8B718EDFD}"/>
                    </a:ext>
                  </a:extLst>
                </p:cNvPr>
                <p:cNvCxnSpPr>
                  <a:stCxn id="49" idx="2"/>
                  <a:endCxn id="53" idx="6"/>
                </p:cNvCxnSpPr>
                <p:nvPr/>
              </p:nvCxnSpPr>
              <p:spPr>
                <a:xfrm flipH="1" flipV="1">
                  <a:off x="4982210" y="2495316"/>
                  <a:ext cx="719957" cy="1921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Прямая со стрелкой 57">
                  <a:extLst>
                    <a:ext uri="{FF2B5EF4-FFF2-40B4-BE49-F238E27FC236}">
                      <a16:creationId xmlns:a16="http://schemas.microsoft.com/office/drawing/2014/main" id="{5CC8646F-42C3-BB55-F8BD-4ADCF8340008}"/>
                    </a:ext>
                  </a:extLst>
                </p:cNvPr>
                <p:cNvCxnSpPr>
                  <a:stCxn id="49" idx="5"/>
                  <a:endCxn id="52" idx="7"/>
                </p:cNvCxnSpPr>
                <p:nvPr/>
              </p:nvCxnSpPr>
              <p:spPr>
                <a:xfrm flipH="1">
                  <a:off x="5528999" y="2811308"/>
                  <a:ext cx="472217" cy="38559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Прямая со стрелкой 58">
                  <a:extLst>
                    <a:ext uri="{FF2B5EF4-FFF2-40B4-BE49-F238E27FC236}">
                      <a16:creationId xmlns:a16="http://schemas.microsoft.com/office/drawing/2014/main" id="{2C4B5118-24B7-03C4-A62C-B20ABE13F908}"/>
                    </a:ext>
                  </a:extLst>
                </p:cNvPr>
                <p:cNvCxnSpPr>
                  <a:stCxn id="51" idx="2"/>
                  <a:endCxn id="53" idx="6"/>
                </p:cNvCxnSpPr>
                <p:nvPr/>
              </p:nvCxnSpPr>
              <p:spPr>
                <a:xfrm flipH="1">
                  <a:off x="4982210" y="1810971"/>
                  <a:ext cx="1108314" cy="68434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Прямая со стрелкой 59">
                  <a:extLst>
                    <a:ext uri="{FF2B5EF4-FFF2-40B4-BE49-F238E27FC236}">
                      <a16:creationId xmlns:a16="http://schemas.microsoft.com/office/drawing/2014/main" id="{FBAE0AAB-0893-12D7-FA91-F3BC2EFCB239}"/>
                    </a:ext>
                  </a:extLst>
                </p:cNvPr>
                <p:cNvCxnSpPr>
                  <a:stCxn id="51" idx="4"/>
                  <a:endCxn id="49" idx="7"/>
                </p:cNvCxnSpPr>
                <p:nvPr/>
              </p:nvCxnSpPr>
              <p:spPr>
                <a:xfrm flipH="1">
                  <a:off x="6001216" y="1986150"/>
                  <a:ext cx="264487" cy="57741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Прямая со стрелкой 60">
                  <a:extLst>
                    <a:ext uri="{FF2B5EF4-FFF2-40B4-BE49-F238E27FC236}">
                      <a16:creationId xmlns:a16="http://schemas.microsoft.com/office/drawing/2014/main" id="{69B66A6D-0FC6-00D3-4297-1974D580B053}"/>
                    </a:ext>
                  </a:extLst>
                </p:cNvPr>
                <p:cNvCxnSpPr>
                  <a:stCxn id="50" idx="2"/>
                  <a:endCxn id="49" idx="6"/>
                </p:cNvCxnSpPr>
                <p:nvPr/>
              </p:nvCxnSpPr>
              <p:spPr>
                <a:xfrm flipH="1">
                  <a:off x="6052525" y="2677053"/>
                  <a:ext cx="692670" cy="1038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Прямая со стрелкой 61">
                  <a:extLst>
                    <a:ext uri="{FF2B5EF4-FFF2-40B4-BE49-F238E27FC236}">
                      <a16:creationId xmlns:a16="http://schemas.microsoft.com/office/drawing/2014/main" id="{4A8BC8A0-DB36-2648-136C-ECAF39B5AB8E}"/>
                    </a:ext>
                  </a:extLst>
                </p:cNvPr>
                <p:cNvCxnSpPr>
                  <a:stCxn id="50" idx="4"/>
                  <a:endCxn id="52" idx="6"/>
                </p:cNvCxnSpPr>
                <p:nvPr/>
              </p:nvCxnSpPr>
              <p:spPr>
                <a:xfrm flipH="1">
                  <a:off x="5580308" y="2852232"/>
                  <a:ext cx="1340066" cy="46854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p14="http://schemas.microsoft.com/office/powerpoint/2010/main">
              <mc:Choice Requires="p14">
                <p:contentPart p14:bwMode="auto" r:id="rId4">
                  <p14:nvContentPartPr>
                    <p14:cNvPr id="63" name="Рукописный ввод 62">
                      <a:extLst>
                        <a:ext uri="{FF2B5EF4-FFF2-40B4-BE49-F238E27FC236}">
                          <a16:creationId xmlns:a16="http://schemas.microsoft.com/office/drawing/2014/main" id="{7468A762-F660-5E25-0F4A-2318099FC0D0}"/>
                        </a:ext>
                      </a:extLst>
                    </p14:cNvPr>
                    <p14:cNvContentPartPr/>
                    <p14:nvPr/>
                  </p14:nvContentPartPr>
                  <p14:xfrm rot="-78944">
                    <a:off x="3322819" y="1674323"/>
                    <a:ext cx="4123558" cy="2101394"/>
                  </p14:xfrm>
                </p:contentPart>
              </mc:Choice>
              <mc:Fallback xmlns="">
                <p:pic>
                  <p:nvPicPr>
                    <p:cNvPr id="109" name="Рукописный ввод 108">
                      <a:extLst>
                        <a:ext uri="{FF2B5EF4-FFF2-40B4-BE49-F238E27FC236}">
                          <a16:creationId xmlns:a16="http://schemas.microsoft.com/office/drawing/2014/main" id="{14D6A5B6-3C68-9805-379E-8F190F811572}"/>
                        </a:ext>
                      </a:extLst>
                    </p:cNvPr>
                    <p:cNvPicPr/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 rot="-78944">
                      <a:off x="3315022" y="1666128"/>
                      <a:ext cx="4139151" cy="211778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">
                  <p14:nvContentPartPr>
                    <p14:cNvPr id="64" name="Рукописный ввод 63">
                      <a:extLst>
                        <a:ext uri="{FF2B5EF4-FFF2-40B4-BE49-F238E27FC236}">
                          <a16:creationId xmlns:a16="http://schemas.microsoft.com/office/drawing/2014/main" id="{F666A0F4-064B-2EED-FEFA-D72455EDFFF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609078" y="3638082"/>
                    <a:ext cx="5404440" cy="2295798"/>
                  </p14:xfrm>
                </p:contentPart>
              </mc:Choice>
              <mc:Fallback xmlns="">
                <p:pic>
                  <p:nvPicPr>
                    <p:cNvPr id="111" name="Рукописный ввод 110">
                      <a:extLst>
                        <a:ext uri="{FF2B5EF4-FFF2-40B4-BE49-F238E27FC236}">
                          <a16:creationId xmlns:a16="http://schemas.microsoft.com/office/drawing/2014/main" id="{3AAEE1C4-4E2A-4D5F-4E71-354529B23EC4}"/>
                        </a:ext>
                      </a:extLst>
                    </p:cNvPr>
                    <p:cNvPicPr/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3601284" y="3629890"/>
                      <a:ext cx="5420028" cy="2312183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FE06463C-8B19-F52A-15FB-9711A4B9D951}"/>
                </a:ext>
              </a:extLst>
            </p:cNvPr>
            <p:cNvSpPr/>
            <p:nvPr/>
          </p:nvSpPr>
          <p:spPr>
            <a:xfrm>
              <a:off x="464835" y="4719657"/>
              <a:ext cx="257541" cy="276289"/>
            </a:xfrm>
            <a:prstGeom prst="ellipse">
              <a:avLst/>
            </a:prstGeom>
            <a:pattFill prst="ltUpDiag">
              <a:fgClr>
                <a:srgbClr val="9608C8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3C3A6055-1D4C-68B9-30F8-1D442E089080}"/>
                </a:ext>
              </a:extLst>
            </p:cNvPr>
            <p:cNvSpPr/>
            <p:nvPr/>
          </p:nvSpPr>
          <p:spPr>
            <a:xfrm>
              <a:off x="1000581" y="4720367"/>
              <a:ext cx="257541" cy="276289"/>
            </a:xfrm>
            <a:prstGeom prst="ellipse">
              <a:avLst/>
            </a:prstGeom>
            <a:pattFill prst="ltUp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E338986-9B8C-FF30-746B-8B52E661A4A9}"/>
                </a:ext>
              </a:extLst>
            </p:cNvPr>
            <p:cNvSpPr txBox="1"/>
            <p:nvPr/>
          </p:nvSpPr>
          <p:spPr>
            <a:xfrm>
              <a:off x="1277360" y="4719657"/>
              <a:ext cx="4153588" cy="2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/>
                <a:t>- конфликтные транзакции использующие одни и те же средства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00B55B2-85AD-42CD-CAF6-9E0D56C2F693}"/>
                </a:ext>
              </a:extLst>
            </p:cNvPr>
            <p:cNvSpPr txBox="1"/>
            <p:nvPr/>
          </p:nvSpPr>
          <p:spPr>
            <a:xfrm>
              <a:off x="5440535" y="2227084"/>
              <a:ext cx="1800509" cy="27619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ru-RU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Конфликтующие ветви</a:t>
              </a:r>
            </a:p>
          </p:txBody>
        </p:sp>
        <p:cxnSp>
          <p:nvCxnSpPr>
            <p:cNvPr id="9" name="Прямая со стрелкой 8">
              <a:extLst>
                <a:ext uri="{FF2B5EF4-FFF2-40B4-BE49-F238E27FC236}">
                  <a16:creationId xmlns:a16="http://schemas.microsoft.com/office/drawing/2014/main" id="{25F89EDF-99EB-B188-0D62-D0F59A43F207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H="1" flipV="1">
              <a:off x="5440536" y="1826034"/>
              <a:ext cx="900254" cy="4010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 стрелкой 9">
              <a:extLst>
                <a:ext uri="{FF2B5EF4-FFF2-40B4-BE49-F238E27FC236}">
                  <a16:creationId xmlns:a16="http://schemas.microsoft.com/office/drawing/2014/main" id="{FB9FEB96-C9BB-3008-86DA-7FD8A7EE8363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5979380" y="2503281"/>
              <a:ext cx="361410" cy="3830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4399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09549FC0-4E35-EF13-F5B2-F5BB3D20A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328750F8-FC7F-3A35-5A64-40C5779E294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00272" y="6003986"/>
            <a:ext cx="1227939" cy="738437"/>
          </a:xfrm>
        </p:spPr>
        <p:txBody>
          <a:bodyPr>
            <a:normAutofit lnSpcReduction="10000"/>
          </a:bodyPr>
          <a:lstStyle/>
          <a:p>
            <a:fld id="{00000000-1234-1234-1234-123412341234}" type="slidenum">
              <a:rPr lang="ru" sz="3733" b="1"/>
              <a:pPr/>
              <a:t>10</a:t>
            </a:fld>
            <a:endParaRPr lang="ru" sz="3733" b="1" dirty="0"/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7EB3D151-316D-4A60-52A3-8C9F19BA493B}"/>
              </a:ext>
            </a:extLst>
          </p:cNvPr>
          <p:cNvSpPr txBox="1">
            <a:spLocks/>
          </p:cNvSpPr>
          <p:nvPr/>
        </p:nvSpPr>
        <p:spPr>
          <a:xfrm>
            <a:off x="689817" y="0"/>
            <a:ext cx="10003955" cy="98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2400" dirty="0"/>
              <a:t>Атака конфликтующими транзакциями</a:t>
            </a:r>
            <a:r>
              <a:rPr lang="en-US" sz="2400" dirty="0"/>
              <a:t>: </a:t>
            </a:r>
            <a:r>
              <a:rPr lang="ru-RU" sz="2400" dirty="0"/>
              <a:t>метрики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770D4534-2A76-6CE5-E6F7-67EF8DDE5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977264"/>
              </p:ext>
            </p:extLst>
          </p:nvPr>
        </p:nvGraphicFramePr>
        <p:xfrm>
          <a:off x="1748499" y="643054"/>
          <a:ext cx="8310102" cy="55761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8423">
                  <a:extLst>
                    <a:ext uri="{9D8B030D-6E8A-4147-A177-3AD203B41FA5}">
                      <a16:colId xmlns:a16="http://schemas.microsoft.com/office/drawing/2014/main" val="2880667787"/>
                    </a:ext>
                  </a:extLst>
                </a:gridCol>
                <a:gridCol w="1507515">
                  <a:extLst>
                    <a:ext uri="{9D8B030D-6E8A-4147-A177-3AD203B41FA5}">
                      <a16:colId xmlns:a16="http://schemas.microsoft.com/office/drawing/2014/main" val="4095022159"/>
                    </a:ext>
                  </a:extLst>
                </a:gridCol>
                <a:gridCol w="1391878">
                  <a:extLst>
                    <a:ext uri="{9D8B030D-6E8A-4147-A177-3AD203B41FA5}">
                      <a16:colId xmlns:a16="http://schemas.microsoft.com/office/drawing/2014/main" val="4076909439"/>
                    </a:ext>
                  </a:extLst>
                </a:gridCol>
                <a:gridCol w="1079276">
                  <a:extLst>
                    <a:ext uri="{9D8B030D-6E8A-4147-A177-3AD203B41FA5}">
                      <a16:colId xmlns:a16="http://schemas.microsoft.com/office/drawing/2014/main" val="2495310621"/>
                    </a:ext>
                  </a:extLst>
                </a:gridCol>
                <a:gridCol w="1287278">
                  <a:extLst>
                    <a:ext uri="{9D8B030D-6E8A-4147-A177-3AD203B41FA5}">
                      <a16:colId xmlns:a16="http://schemas.microsoft.com/office/drawing/2014/main" val="139992874"/>
                    </a:ext>
                  </a:extLst>
                </a:gridCol>
                <a:gridCol w="1275732">
                  <a:extLst>
                    <a:ext uri="{9D8B030D-6E8A-4147-A177-3AD203B41FA5}">
                      <a16:colId xmlns:a16="http://schemas.microsoft.com/office/drawing/2014/main" val="1567948442"/>
                    </a:ext>
                  </a:extLst>
                </a:gridCol>
              </a:tblGrid>
              <a:tr h="661216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Модели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DAG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-реестров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Атака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Метрики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Доля конфликтов в слоте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549937"/>
                  </a:ext>
                </a:extLst>
              </a:tr>
              <a:tr h="66121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/6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2/5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1/2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792455"/>
                  </a:ext>
                </a:extLst>
              </a:tr>
              <a:tr h="614360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Предлагаемая модель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Конфликтные транзакции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Количество отвергнутых честных записей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~10%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~17%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~25%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286305"/>
                  </a:ext>
                </a:extLst>
              </a:tr>
              <a:tr h="61436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endParaRPr lang="ru-RU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Количество принятых конфликтных записей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~5%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~4%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~3%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784795"/>
                  </a:ext>
                </a:extLst>
              </a:tr>
              <a:tr h="13716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endParaRPr lang="ru-RU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Количество отвергнутых честных записей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~50%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B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~50%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B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~50%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endParaRPr lang="ru-RU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521583"/>
                  </a:ext>
                </a:extLst>
              </a:tr>
              <a:tr h="1200595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IOTA 2.0</a:t>
                      </a:r>
                      <a:endParaRPr lang="ru-RU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093754"/>
                  </a:ext>
                </a:extLst>
              </a:tr>
              <a:tr h="61436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endParaRPr lang="ru-RU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Количество принятых конфликтных записей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071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328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80C2F870-DD81-95D5-82DF-5779BA820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03BDF17C-C6E3-A8C0-8F3A-05DF9DB4908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00272" y="6003986"/>
            <a:ext cx="1227939" cy="738437"/>
          </a:xfrm>
        </p:spPr>
        <p:txBody>
          <a:bodyPr>
            <a:normAutofit lnSpcReduction="10000"/>
          </a:bodyPr>
          <a:lstStyle/>
          <a:p>
            <a:fld id="{00000000-1234-1234-1234-123412341234}" type="slidenum">
              <a:rPr lang="ru" sz="3733" b="1"/>
              <a:pPr/>
              <a:t>11</a:t>
            </a:fld>
            <a:endParaRPr lang="ru" sz="3733" b="1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E4D4454-A225-86CE-480A-B83AE22B9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4315" y="349261"/>
            <a:ext cx="7600000" cy="560000"/>
          </a:xfrm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ru-RU" sz="2700" b="1" dirty="0">
                <a:latin typeface="Arial"/>
              </a:rPr>
              <a:t>Результаты работы</a:t>
            </a:r>
            <a:endParaRPr lang="ru-RU" sz="2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62C4C-5E21-167A-9440-859F6551C689}"/>
              </a:ext>
            </a:extLst>
          </p:cNvPr>
          <p:cNvSpPr txBox="1"/>
          <p:nvPr/>
        </p:nvSpPr>
        <p:spPr>
          <a:xfrm>
            <a:off x="340621" y="1372119"/>
            <a:ext cx="108851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Проведен сравнительный анализ существующих моделей DAG-реестров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в качестве прототипа была выбрана IOTA-подобная модель с BFT-финализацией.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Разработана модель DAG-реестра с разделением на слоты и эпохи, разрешением конфликтов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без утраты части честных записей и сворачиванием генезис-состояния.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Реализован эмулятор DAG-реестра с эмуляцией 100 узлов, сетевых задержек, финализацией записей и с модулем конфликтных атак.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Проведена экспериментальная оценка: разработанная модель DAG-реестра сохраняет до 10 раз больше честных записей, чем прототип модели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IOTA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а в диапазоне от 0 до 110 слотов использование механизма сворачивания истории позволяет сократить объём памяти, занимаемый реестром, примерно в 5 раз по сравнению с базовой IOTA-подобной реализацией.</a:t>
            </a:r>
          </a:p>
        </p:txBody>
      </p:sp>
    </p:spTree>
    <p:extLst>
      <p:ext uri="{BB962C8B-B14F-4D97-AF65-F5344CB8AC3E}">
        <p14:creationId xmlns:p14="http://schemas.microsoft.com/office/powerpoint/2010/main" val="35642804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1008</TotalTime>
  <Words>792</Words>
  <Application>Microsoft Office PowerPoint</Application>
  <PresentationFormat>Широкоэкранный</PresentationFormat>
  <Paragraphs>142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Результаты работы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Роман Гартвиг</dc:creator>
  <cp:lastModifiedBy>Роман Гартвиг</cp:lastModifiedBy>
  <cp:revision>13</cp:revision>
  <dcterms:created xsi:type="dcterms:W3CDTF">2026-06-12T12:45:06Z</dcterms:created>
  <dcterms:modified xsi:type="dcterms:W3CDTF">2026-06-20T13:17:20Z</dcterms:modified>
</cp:coreProperties>
</file>